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7.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9" r:id="rId2"/>
    <p:sldId id="261" r:id="rId3"/>
    <p:sldId id="262" r:id="rId4"/>
    <p:sldId id="264" r:id="rId5"/>
    <p:sldId id="266" r:id="rId6"/>
    <p:sldId id="267" r:id="rId7"/>
    <p:sldId id="269" r:id="rId8"/>
    <p:sldId id="270" r:id="rId9"/>
    <p:sldId id="271" r:id="rId10"/>
    <p:sldId id="272" r:id="rId11"/>
    <p:sldId id="273" r:id="rId12"/>
    <p:sldId id="275" r:id="rId13"/>
    <p:sldId id="276" r:id="rId14"/>
  </p:sldIdLst>
  <p:sldSz cx="12192000" cy="6858000"/>
  <p:notesSz cx="6858000" cy="9144000"/>
  <p:custShowLst>
    <p:custShow name="Custom Show 1" id="0">
      <p:sldLst>
        <p:sld r:id="rId2"/>
        <p:sld r:id="rId3"/>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8DBE"/>
    <a:srgbClr val="77C5EA"/>
    <a:srgbClr val="418BA9"/>
    <a:srgbClr val="8BD9F7"/>
    <a:srgbClr val="9DDFF8"/>
    <a:srgbClr val="88A9B7"/>
    <a:srgbClr val="0C80AC"/>
    <a:srgbClr val="74C4E9"/>
    <a:srgbClr val="0D89B9"/>
    <a:srgbClr val="C1EB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227" autoAdjust="0"/>
  </p:normalViewPr>
  <p:slideViewPr>
    <p:cSldViewPr snapToGrid="0">
      <p:cViewPr varScale="1">
        <p:scale>
          <a:sx n="68" d="100"/>
          <a:sy n="68" d="100"/>
        </p:scale>
        <p:origin x="816" y="54"/>
      </p:cViewPr>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D:\Data%20Analysis%20Vid\Churn_Analysi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Data%20Analysis%20Vid\Churn_Analysi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Data%20Analysis%20Vid\Churn_Analysi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Data%20Analysis%20Vid\Churn_Analysi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Data%20Analysis%20Vid\Churn_Analysis.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[Churn_Analysis.xlsx]worksheet!PivotTable15</c:name>
    <c:fmtId val="12"/>
  </c:pivotSource>
  <c:chart>
    <c:autoTitleDeleted val="0"/>
    <c:pivotFmts>
      <c:pivotFmt>
        <c:idx val="0"/>
        <c:spPr>
          <a:solidFill>
            <a:schemeClr val="accent1">
              <a:lumMod val="40000"/>
              <a:lumOff val="6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lumMod val="40000"/>
              <a:lumOff val="60000"/>
              <a:alpha val="48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lumMod val="40000"/>
              <a:lumOff val="6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lumMod val="40000"/>
              <a:lumOff val="60000"/>
              <a:alpha val="48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lumMod val="40000"/>
              <a:lumOff val="6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lumMod val="40000"/>
              <a:lumOff val="60000"/>
              <a:alpha val="48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lumMod val="40000"/>
              <a:lumOff val="6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lumMod val="40000"/>
              <a:lumOff val="60000"/>
              <a:alpha val="48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lumMod val="40000"/>
              <a:lumOff val="6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lumMod val="40000"/>
              <a:lumOff val="60000"/>
              <a:alpha val="48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3.5648268678335031E-2"/>
          <c:y val="0.10417302531179287"/>
          <c:w val="0.92870368291154359"/>
          <c:h val="0.70558665874448323"/>
        </c:manualLayout>
      </c:layout>
      <c:barChart>
        <c:barDir val="col"/>
        <c:grouping val="clustered"/>
        <c:varyColors val="0"/>
        <c:ser>
          <c:idx val="0"/>
          <c:order val="0"/>
          <c:tx>
            <c:strRef>
              <c:f>worksheet!$H$119:$H$120</c:f>
              <c:strCache>
                <c:ptCount val="1"/>
                <c:pt idx="0">
                  <c:v>Churned</c:v>
                </c:pt>
              </c:strCache>
            </c:strRef>
          </c:tx>
          <c:spPr>
            <a:solidFill>
              <a:schemeClr val="accent1">
                <a:lumMod val="40000"/>
                <a:lumOff val="60000"/>
              </a:schemeClr>
            </a:solidFill>
            <a:ln>
              <a:noFill/>
            </a:ln>
            <a:effectLst/>
          </c:spPr>
          <c:invertIfNegative val="0"/>
          <c:cat>
            <c:strRef>
              <c:f>worksheet!$G$121:$G$123</c:f>
              <c:strCache>
                <c:ptCount val="3"/>
                <c:pt idx="0">
                  <c:v>Basic</c:v>
                </c:pt>
                <c:pt idx="1">
                  <c:v>Free</c:v>
                </c:pt>
                <c:pt idx="2">
                  <c:v>Premium</c:v>
                </c:pt>
              </c:strCache>
            </c:strRef>
          </c:cat>
          <c:val>
            <c:numRef>
              <c:f>worksheet!$H$121:$H$123</c:f>
              <c:numCache>
                <c:formatCode>0</c:formatCode>
                <c:ptCount val="3"/>
                <c:pt idx="0">
                  <c:v>478</c:v>
                </c:pt>
                <c:pt idx="1">
                  <c:v>903</c:v>
                </c:pt>
                <c:pt idx="2">
                  <c:v>451</c:v>
                </c:pt>
              </c:numCache>
            </c:numRef>
          </c:val>
          <c:extLst>
            <c:ext xmlns:c16="http://schemas.microsoft.com/office/drawing/2014/chart" uri="{C3380CC4-5D6E-409C-BE32-E72D297353CC}">
              <c16:uniqueId val="{00000000-C098-4D27-B994-76C4B810BE1C}"/>
            </c:ext>
          </c:extLst>
        </c:ser>
        <c:ser>
          <c:idx val="1"/>
          <c:order val="1"/>
          <c:tx>
            <c:strRef>
              <c:f>worksheet!$I$119:$I$120</c:f>
              <c:strCache>
                <c:ptCount val="1"/>
                <c:pt idx="0">
                  <c:v>Active</c:v>
                </c:pt>
              </c:strCache>
            </c:strRef>
          </c:tx>
          <c:spPr>
            <a:solidFill>
              <a:schemeClr val="accent1">
                <a:lumMod val="40000"/>
                <a:lumOff val="60000"/>
                <a:alpha val="48000"/>
              </a:schemeClr>
            </a:solidFill>
            <a:ln>
              <a:noFill/>
            </a:ln>
            <a:effectLst/>
          </c:spPr>
          <c:invertIfNegative val="0"/>
          <c:cat>
            <c:strRef>
              <c:f>worksheet!$G$121:$G$123</c:f>
              <c:strCache>
                <c:ptCount val="3"/>
                <c:pt idx="0">
                  <c:v>Basic</c:v>
                </c:pt>
                <c:pt idx="1">
                  <c:v>Free</c:v>
                </c:pt>
                <c:pt idx="2">
                  <c:v>Premium</c:v>
                </c:pt>
              </c:strCache>
            </c:strRef>
          </c:cat>
          <c:val>
            <c:numRef>
              <c:f>worksheet!$I$121:$I$123</c:f>
              <c:numCache>
                <c:formatCode>0</c:formatCode>
                <c:ptCount val="3"/>
                <c:pt idx="0">
                  <c:v>153</c:v>
                </c:pt>
                <c:pt idx="1">
                  <c:v>338</c:v>
                </c:pt>
                <c:pt idx="2">
                  <c:v>177</c:v>
                </c:pt>
              </c:numCache>
            </c:numRef>
          </c:val>
          <c:extLst>
            <c:ext xmlns:c16="http://schemas.microsoft.com/office/drawing/2014/chart" uri="{C3380CC4-5D6E-409C-BE32-E72D297353CC}">
              <c16:uniqueId val="{00000001-C098-4D27-B994-76C4B810BE1C}"/>
            </c:ext>
          </c:extLst>
        </c:ser>
        <c:dLbls>
          <c:showLegendKey val="0"/>
          <c:showVal val="0"/>
          <c:showCatName val="0"/>
          <c:showSerName val="0"/>
          <c:showPercent val="0"/>
          <c:showBubbleSize val="0"/>
        </c:dLbls>
        <c:gapWidth val="219"/>
        <c:overlap val="29"/>
        <c:axId val="1392765999"/>
        <c:axId val="1392776079"/>
      </c:barChart>
      <c:catAx>
        <c:axId val="13927659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50000"/>
                    <a:lumOff val="50000"/>
                  </a:schemeClr>
                </a:solidFill>
                <a:latin typeface="+mn-lt"/>
                <a:ea typeface="+mn-ea"/>
                <a:cs typeface="+mn-cs"/>
              </a:defRPr>
            </a:pPr>
            <a:endParaRPr lang="en-US"/>
          </a:p>
        </c:txPr>
        <c:crossAx val="1392776079"/>
        <c:crosses val="autoZero"/>
        <c:auto val="1"/>
        <c:lblAlgn val="ctr"/>
        <c:lblOffset val="100"/>
        <c:noMultiLvlLbl val="0"/>
      </c:catAx>
      <c:valAx>
        <c:axId val="1392776079"/>
        <c:scaling>
          <c:orientation val="minMax"/>
        </c:scaling>
        <c:delete val="1"/>
        <c:axPos val="l"/>
        <c:numFmt formatCode="0" sourceLinked="1"/>
        <c:majorTickMark val="none"/>
        <c:minorTickMark val="none"/>
        <c:tickLblPos val="nextTo"/>
        <c:crossAx val="139276599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2">
        <a:lumMod val="10000"/>
        <a:lumOff val="90000"/>
      </a:schemeClr>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[Churn_Analysis.xlsx]worksheet!PivotTable16</c:name>
    <c:fmtId val="13"/>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lumMod val="60000"/>
              <a:lumOff val="40000"/>
              <a:alpha val="99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tx2">
              <a:lumMod val="50000"/>
              <a:lumOff val="50000"/>
              <a:alpha val="57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lumMod val="60000"/>
              <a:lumOff val="40000"/>
              <a:alpha val="99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tx2">
              <a:lumMod val="50000"/>
              <a:lumOff val="50000"/>
              <a:alpha val="57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lumMod val="60000"/>
              <a:lumOff val="40000"/>
              <a:alpha val="99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tx2">
              <a:lumMod val="50000"/>
              <a:lumOff val="50000"/>
              <a:alpha val="57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worksheet!$H$130:$H$131</c:f>
              <c:strCache>
                <c:ptCount val="1"/>
                <c:pt idx="0">
                  <c:v>Churned</c:v>
                </c:pt>
              </c:strCache>
            </c:strRef>
          </c:tx>
          <c:spPr>
            <a:solidFill>
              <a:schemeClr val="accent1">
                <a:lumMod val="60000"/>
                <a:lumOff val="40000"/>
                <a:alpha val="99000"/>
              </a:schemeClr>
            </a:solidFill>
            <a:ln>
              <a:noFill/>
            </a:ln>
            <a:effectLst/>
          </c:spPr>
          <c:invertIfNegative val="0"/>
          <c:cat>
            <c:strRef>
              <c:f>worksheet!$G$132:$G$140</c:f>
              <c:strCache>
                <c:ptCount val="9"/>
                <c:pt idx="0">
                  <c:v>Automotive</c:v>
                </c:pt>
                <c:pt idx="1">
                  <c:v>Beauty</c:v>
                </c:pt>
                <c:pt idx="2">
                  <c:v>Books</c:v>
                </c:pt>
                <c:pt idx="3">
                  <c:v>Clothing</c:v>
                </c:pt>
                <c:pt idx="4">
                  <c:v>Electronics</c:v>
                </c:pt>
                <c:pt idx="5">
                  <c:v>Groceries</c:v>
                </c:pt>
                <c:pt idx="6">
                  <c:v>Home</c:v>
                </c:pt>
                <c:pt idx="7">
                  <c:v>Others</c:v>
                </c:pt>
                <c:pt idx="8">
                  <c:v>Sports</c:v>
                </c:pt>
              </c:strCache>
            </c:strRef>
          </c:cat>
          <c:val>
            <c:numRef>
              <c:f>worksheet!$H$132:$H$140</c:f>
              <c:numCache>
                <c:formatCode>0</c:formatCode>
                <c:ptCount val="9"/>
                <c:pt idx="0">
                  <c:v>213</c:v>
                </c:pt>
                <c:pt idx="1">
                  <c:v>232</c:v>
                </c:pt>
                <c:pt idx="2">
                  <c:v>217</c:v>
                </c:pt>
                <c:pt idx="3">
                  <c:v>243</c:v>
                </c:pt>
                <c:pt idx="4">
                  <c:v>214</c:v>
                </c:pt>
                <c:pt idx="5">
                  <c:v>222</c:v>
                </c:pt>
                <c:pt idx="6">
                  <c:v>240</c:v>
                </c:pt>
                <c:pt idx="7">
                  <c:v>32</c:v>
                </c:pt>
                <c:pt idx="8">
                  <c:v>219</c:v>
                </c:pt>
              </c:numCache>
            </c:numRef>
          </c:val>
          <c:extLst>
            <c:ext xmlns:c16="http://schemas.microsoft.com/office/drawing/2014/chart" uri="{C3380CC4-5D6E-409C-BE32-E72D297353CC}">
              <c16:uniqueId val="{00000000-5FE6-43D0-B973-786DDB79FF8C}"/>
            </c:ext>
          </c:extLst>
        </c:ser>
        <c:ser>
          <c:idx val="1"/>
          <c:order val="1"/>
          <c:tx>
            <c:strRef>
              <c:f>worksheet!$I$130:$I$131</c:f>
              <c:strCache>
                <c:ptCount val="1"/>
                <c:pt idx="0">
                  <c:v>Active</c:v>
                </c:pt>
              </c:strCache>
            </c:strRef>
          </c:tx>
          <c:spPr>
            <a:solidFill>
              <a:schemeClr val="tx2">
                <a:lumMod val="25000"/>
                <a:lumOff val="75000"/>
              </a:schemeClr>
            </a:solidFill>
            <a:ln>
              <a:noFill/>
            </a:ln>
            <a:effectLst/>
          </c:spPr>
          <c:invertIfNegative val="0"/>
          <c:cat>
            <c:strRef>
              <c:f>worksheet!$G$132:$G$140</c:f>
              <c:strCache>
                <c:ptCount val="9"/>
                <c:pt idx="0">
                  <c:v>Automotive</c:v>
                </c:pt>
                <c:pt idx="1">
                  <c:v>Beauty</c:v>
                </c:pt>
                <c:pt idx="2">
                  <c:v>Books</c:v>
                </c:pt>
                <c:pt idx="3">
                  <c:v>Clothing</c:v>
                </c:pt>
                <c:pt idx="4">
                  <c:v>Electronics</c:v>
                </c:pt>
                <c:pt idx="5">
                  <c:v>Groceries</c:v>
                </c:pt>
                <c:pt idx="6">
                  <c:v>Home</c:v>
                </c:pt>
                <c:pt idx="7">
                  <c:v>Others</c:v>
                </c:pt>
                <c:pt idx="8">
                  <c:v>Sports</c:v>
                </c:pt>
              </c:strCache>
            </c:strRef>
          </c:cat>
          <c:val>
            <c:numRef>
              <c:f>worksheet!$I$132:$I$140</c:f>
              <c:numCache>
                <c:formatCode>0</c:formatCode>
                <c:ptCount val="9"/>
                <c:pt idx="0">
                  <c:v>71</c:v>
                </c:pt>
                <c:pt idx="1">
                  <c:v>84</c:v>
                </c:pt>
                <c:pt idx="2">
                  <c:v>96</c:v>
                </c:pt>
                <c:pt idx="3">
                  <c:v>69</c:v>
                </c:pt>
                <c:pt idx="4">
                  <c:v>94</c:v>
                </c:pt>
                <c:pt idx="5">
                  <c:v>73</c:v>
                </c:pt>
                <c:pt idx="6">
                  <c:v>90</c:v>
                </c:pt>
                <c:pt idx="7">
                  <c:v>7</c:v>
                </c:pt>
                <c:pt idx="8">
                  <c:v>84</c:v>
                </c:pt>
              </c:numCache>
            </c:numRef>
          </c:val>
          <c:extLst>
            <c:ext xmlns:c16="http://schemas.microsoft.com/office/drawing/2014/chart" uri="{C3380CC4-5D6E-409C-BE32-E72D297353CC}">
              <c16:uniqueId val="{00000001-5FE6-43D0-B973-786DDB79FF8C}"/>
            </c:ext>
          </c:extLst>
        </c:ser>
        <c:dLbls>
          <c:showLegendKey val="0"/>
          <c:showVal val="0"/>
          <c:showCatName val="0"/>
          <c:showSerName val="0"/>
          <c:showPercent val="0"/>
          <c:showBubbleSize val="0"/>
        </c:dLbls>
        <c:gapWidth val="136"/>
        <c:overlap val="29"/>
        <c:axId val="1392769839"/>
        <c:axId val="1392770319"/>
      </c:barChart>
      <c:catAx>
        <c:axId val="13927698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392770319"/>
        <c:crosses val="autoZero"/>
        <c:auto val="1"/>
        <c:lblAlgn val="ctr"/>
        <c:lblOffset val="100"/>
        <c:noMultiLvlLbl val="0"/>
      </c:catAx>
      <c:valAx>
        <c:axId val="1392770319"/>
        <c:scaling>
          <c:orientation val="minMax"/>
        </c:scaling>
        <c:delete val="1"/>
        <c:axPos val="l"/>
        <c:numFmt formatCode="0" sourceLinked="1"/>
        <c:majorTickMark val="none"/>
        <c:minorTickMark val="none"/>
        <c:tickLblPos val="nextTo"/>
        <c:crossAx val="139276983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2">
        <a:lumMod val="10000"/>
        <a:lumOff val="90000"/>
      </a:schemeClr>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[Churn_Analysis.xlsx]worksheet!PivotTable13</c:name>
    <c:fmtId val="12"/>
  </c:pivotSource>
  <c:chart>
    <c:autoTitleDeleted val="0"/>
    <c:pivotFmts>
      <c:pivotFmt>
        <c:idx val="0"/>
        <c:spPr>
          <a:solidFill>
            <a:schemeClr val="tx2">
              <a:lumMod val="25000"/>
              <a:lumOff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tx2">
              <a:lumMod val="25000"/>
              <a:lumOff val="75000"/>
              <a:alpha val="6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tx2">
              <a:lumMod val="25000"/>
              <a:lumOff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tx2">
              <a:lumMod val="25000"/>
              <a:lumOff val="75000"/>
              <a:alpha val="6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tx2">
              <a:lumMod val="25000"/>
              <a:lumOff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tx2">
              <a:lumMod val="25000"/>
              <a:lumOff val="75000"/>
              <a:alpha val="6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tx2">
              <a:lumMod val="25000"/>
              <a:lumOff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tx2">
              <a:lumMod val="25000"/>
              <a:lumOff val="75000"/>
              <a:alpha val="6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tx2">
              <a:lumMod val="25000"/>
              <a:lumOff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tx2">
              <a:lumMod val="25000"/>
              <a:lumOff val="75000"/>
              <a:alpha val="6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8601430737678093"/>
          <c:y val="0.11361733464190281"/>
          <c:w val="0.8088704247982742"/>
          <c:h val="0.79224482356372117"/>
        </c:manualLayout>
      </c:layout>
      <c:barChart>
        <c:barDir val="bar"/>
        <c:grouping val="clustered"/>
        <c:varyColors val="0"/>
        <c:ser>
          <c:idx val="0"/>
          <c:order val="0"/>
          <c:tx>
            <c:strRef>
              <c:f>worksheet!$H$98:$H$99</c:f>
              <c:strCache>
                <c:ptCount val="1"/>
                <c:pt idx="0">
                  <c:v>Churned</c:v>
                </c:pt>
              </c:strCache>
            </c:strRef>
          </c:tx>
          <c:spPr>
            <a:solidFill>
              <a:schemeClr val="tx2">
                <a:lumMod val="25000"/>
                <a:lumOff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worksheet!$G$100:$G$106</c:f>
              <c:strCache>
                <c:ptCount val="7"/>
                <c:pt idx="0">
                  <c:v>Affiliate</c:v>
                </c:pt>
                <c:pt idx="1">
                  <c:v>Email</c:v>
                </c:pt>
                <c:pt idx="2">
                  <c:v>Organic</c:v>
                </c:pt>
                <c:pt idx="3">
                  <c:v>Others</c:v>
                </c:pt>
                <c:pt idx="4">
                  <c:v>Paid Search</c:v>
                </c:pt>
                <c:pt idx="5">
                  <c:v>Referral</c:v>
                </c:pt>
                <c:pt idx="6">
                  <c:v>Social</c:v>
                </c:pt>
              </c:strCache>
            </c:strRef>
          </c:cat>
          <c:val>
            <c:numRef>
              <c:f>worksheet!$H$100:$H$106</c:f>
              <c:numCache>
                <c:formatCode>0</c:formatCode>
                <c:ptCount val="7"/>
                <c:pt idx="0">
                  <c:v>266</c:v>
                </c:pt>
                <c:pt idx="1">
                  <c:v>263</c:v>
                </c:pt>
                <c:pt idx="2">
                  <c:v>264</c:v>
                </c:pt>
                <c:pt idx="3">
                  <c:v>298</c:v>
                </c:pt>
                <c:pt idx="4">
                  <c:v>247</c:v>
                </c:pt>
                <c:pt idx="5">
                  <c:v>236</c:v>
                </c:pt>
                <c:pt idx="6">
                  <c:v>258</c:v>
                </c:pt>
              </c:numCache>
            </c:numRef>
          </c:val>
          <c:extLst>
            <c:ext xmlns:c16="http://schemas.microsoft.com/office/drawing/2014/chart" uri="{C3380CC4-5D6E-409C-BE32-E72D297353CC}">
              <c16:uniqueId val="{00000000-4976-4155-B8BF-14BBAB9784F5}"/>
            </c:ext>
          </c:extLst>
        </c:ser>
        <c:ser>
          <c:idx val="1"/>
          <c:order val="1"/>
          <c:tx>
            <c:strRef>
              <c:f>worksheet!$I$98:$I$99</c:f>
              <c:strCache>
                <c:ptCount val="1"/>
                <c:pt idx="0">
                  <c:v>Active</c:v>
                </c:pt>
              </c:strCache>
            </c:strRef>
          </c:tx>
          <c:spPr>
            <a:solidFill>
              <a:schemeClr val="tx2">
                <a:lumMod val="25000"/>
                <a:lumOff val="75000"/>
                <a:alpha val="60000"/>
              </a:schemeClr>
            </a:solidFill>
            <a:ln>
              <a:noFill/>
            </a:ln>
            <a:effectLst/>
          </c:spPr>
          <c:invertIfNegative val="0"/>
          <c:cat>
            <c:strRef>
              <c:f>worksheet!$G$100:$G$106</c:f>
              <c:strCache>
                <c:ptCount val="7"/>
                <c:pt idx="0">
                  <c:v>Affiliate</c:v>
                </c:pt>
                <c:pt idx="1">
                  <c:v>Email</c:v>
                </c:pt>
                <c:pt idx="2">
                  <c:v>Organic</c:v>
                </c:pt>
                <c:pt idx="3">
                  <c:v>Others</c:v>
                </c:pt>
                <c:pt idx="4">
                  <c:v>Paid Search</c:v>
                </c:pt>
                <c:pt idx="5">
                  <c:v>Referral</c:v>
                </c:pt>
                <c:pt idx="6">
                  <c:v>Social</c:v>
                </c:pt>
              </c:strCache>
            </c:strRef>
          </c:cat>
          <c:val>
            <c:numRef>
              <c:f>worksheet!$I$100:$I$106</c:f>
              <c:numCache>
                <c:formatCode>0</c:formatCode>
                <c:ptCount val="7"/>
                <c:pt idx="0">
                  <c:v>106</c:v>
                </c:pt>
                <c:pt idx="1">
                  <c:v>85</c:v>
                </c:pt>
                <c:pt idx="2">
                  <c:v>89</c:v>
                </c:pt>
                <c:pt idx="3">
                  <c:v>108</c:v>
                </c:pt>
                <c:pt idx="4">
                  <c:v>85</c:v>
                </c:pt>
                <c:pt idx="5">
                  <c:v>87</c:v>
                </c:pt>
                <c:pt idx="6">
                  <c:v>108</c:v>
                </c:pt>
              </c:numCache>
            </c:numRef>
          </c:val>
          <c:extLst>
            <c:ext xmlns:c16="http://schemas.microsoft.com/office/drawing/2014/chart" uri="{C3380CC4-5D6E-409C-BE32-E72D297353CC}">
              <c16:uniqueId val="{00000001-4976-4155-B8BF-14BBAB9784F5}"/>
            </c:ext>
          </c:extLst>
        </c:ser>
        <c:dLbls>
          <c:showLegendKey val="0"/>
          <c:showVal val="0"/>
          <c:showCatName val="0"/>
          <c:showSerName val="0"/>
          <c:showPercent val="0"/>
          <c:showBubbleSize val="0"/>
        </c:dLbls>
        <c:gapWidth val="103"/>
        <c:overlap val="11"/>
        <c:axId val="1347193375"/>
        <c:axId val="1347195295"/>
      </c:barChart>
      <c:catAx>
        <c:axId val="134719337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47195295"/>
        <c:crosses val="autoZero"/>
        <c:auto val="1"/>
        <c:lblAlgn val="ctr"/>
        <c:lblOffset val="100"/>
        <c:noMultiLvlLbl val="0"/>
      </c:catAx>
      <c:valAx>
        <c:axId val="1347195295"/>
        <c:scaling>
          <c:orientation val="minMax"/>
        </c:scaling>
        <c:delete val="1"/>
        <c:axPos val="b"/>
        <c:numFmt formatCode="0" sourceLinked="1"/>
        <c:majorTickMark val="none"/>
        <c:minorTickMark val="none"/>
        <c:tickLblPos val="nextTo"/>
        <c:crossAx val="13471933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2">
        <a:lumMod val="10000"/>
        <a:lumOff val="90000"/>
      </a:schemeClr>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[Churn_Analysis.xlsx]worksheet!PivotTable21</c:name>
    <c:fmtId val="16"/>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3.6775371828521419E-2"/>
          <c:y val="0.15091564491103615"/>
          <c:w val="0.87195625546806654"/>
          <c:h val="0.72768169912722624"/>
        </c:manualLayout>
      </c:layout>
      <c:barChart>
        <c:barDir val="col"/>
        <c:grouping val="clustered"/>
        <c:varyColors val="0"/>
        <c:ser>
          <c:idx val="1"/>
          <c:order val="1"/>
          <c:tx>
            <c:strRef>
              <c:f>worksheet!$O$50:$O$51</c:f>
              <c:strCache>
                <c:ptCount val="1"/>
                <c:pt idx="0">
                  <c:v>Active</c:v>
                </c:pt>
              </c:strCache>
            </c:strRef>
          </c:tx>
          <c:spPr>
            <a:solidFill>
              <a:schemeClr val="accent1">
                <a:lumMod val="60000"/>
                <a:lumOff val="40000"/>
                <a:alpha val="62000"/>
              </a:schemeClr>
            </a:solidFill>
            <a:ln>
              <a:noFill/>
            </a:ln>
            <a:effectLst/>
          </c:spPr>
          <c:invertIfNegative val="0"/>
          <c:cat>
            <c:strRef>
              <c:f>worksheet!$M$52:$M$58</c:f>
              <c:strCache>
                <c:ptCount val="6"/>
                <c:pt idx="0">
                  <c:v>Central</c:v>
                </c:pt>
                <c:pt idx="1">
                  <c:v>East</c:v>
                </c:pt>
                <c:pt idx="2">
                  <c:v>International</c:v>
                </c:pt>
                <c:pt idx="3">
                  <c:v>North</c:v>
                </c:pt>
                <c:pt idx="4">
                  <c:v>South</c:v>
                </c:pt>
                <c:pt idx="5">
                  <c:v>West</c:v>
                </c:pt>
              </c:strCache>
            </c:strRef>
          </c:cat>
          <c:val>
            <c:numRef>
              <c:f>worksheet!$O$52:$O$58</c:f>
              <c:numCache>
                <c:formatCode>0</c:formatCode>
                <c:ptCount val="6"/>
                <c:pt idx="0">
                  <c:v>135</c:v>
                </c:pt>
                <c:pt idx="1">
                  <c:v>104</c:v>
                </c:pt>
                <c:pt idx="2">
                  <c:v>115</c:v>
                </c:pt>
                <c:pt idx="3">
                  <c:v>117</c:v>
                </c:pt>
                <c:pt idx="4">
                  <c:v>89</c:v>
                </c:pt>
                <c:pt idx="5">
                  <c:v>108</c:v>
                </c:pt>
              </c:numCache>
            </c:numRef>
          </c:val>
          <c:extLst>
            <c:ext xmlns:c16="http://schemas.microsoft.com/office/drawing/2014/chart" uri="{C3380CC4-5D6E-409C-BE32-E72D297353CC}">
              <c16:uniqueId val="{00000001-9C22-4732-A458-D9FA0C94DD18}"/>
            </c:ext>
          </c:extLst>
        </c:ser>
        <c:dLbls>
          <c:showLegendKey val="0"/>
          <c:showVal val="0"/>
          <c:showCatName val="0"/>
          <c:showSerName val="0"/>
          <c:showPercent val="0"/>
          <c:showBubbleSize val="0"/>
        </c:dLbls>
        <c:gapWidth val="100"/>
        <c:overlap val="61"/>
        <c:axId val="1752764735"/>
        <c:axId val="1752768575"/>
      </c:barChart>
      <c:barChart>
        <c:barDir val="col"/>
        <c:grouping val="clustered"/>
        <c:varyColors val="0"/>
        <c:ser>
          <c:idx val="0"/>
          <c:order val="0"/>
          <c:tx>
            <c:strRef>
              <c:f>worksheet!$N$50:$N$51</c:f>
              <c:strCache>
                <c:ptCount val="1"/>
                <c:pt idx="0">
                  <c:v>Churned</c:v>
                </c:pt>
              </c:strCache>
            </c:strRef>
          </c:tx>
          <c:spPr>
            <a:solidFill>
              <a:schemeClr val="tx2">
                <a:lumMod val="25000"/>
                <a:lumOff val="75000"/>
              </a:schemeClr>
            </a:solidFill>
            <a:ln>
              <a:noFill/>
            </a:ln>
            <a:effectLst/>
          </c:spPr>
          <c:invertIfNegative val="0"/>
          <c:cat>
            <c:strRef>
              <c:f>worksheet!$M$52:$M$58</c:f>
              <c:strCache>
                <c:ptCount val="6"/>
                <c:pt idx="0">
                  <c:v>Central</c:v>
                </c:pt>
                <c:pt idx="1">
                  <c:v>East</c:v>
                </c:pt>
                <c:pt idx="2">
                  <c:v>International</c:v>
                </c:pt>
                <c:pt idx="3">
                  <c:v>North</c:v>
                </c:pt>
                <c:pt idx="4">
                  <c:v>South</c:v>
                </c:pt>
                <c:pt idx="5">
                  <c:v>West</c:v>
                </c:pt>
              </c:strCache>
            </c:strRef>
          </c:cat>
          <c:val>
            <c:numRef>
              <c:f>worksheet!$N$52:$N$58</c:f>
              <c:numCache>
                <c:formatCode>0</c:formatCode>
                <c:ptCount val="6"/>
                <c:pt idx="0">
                  <c:v>295</c:v>
                </c:pt>
                <c:pt idx="1">
                  <c:v>301</c:v>
                </c:pt>
                <c:pt idx="2">
                  <c:v>317</c:v>
                </c:pt>
                <c:pt idx="3">
                  <c:v>289</c:v>
                </c:pt>
                <c:pt idx="4">
                  <c:v>298</c:v>
                </c:pt>
                <c:pt idx="5">
                  <c:v>332</c:v>
                </c:pt>
              </c:numCache>
            </c:numRef>
          </c:val>
          <c:extLst>
            <c:ext xmlns:c16="http://schemas.microsoft.com/office/drawing/2014/chart" uri="{C3380CC4-5D6E-409C-BE32-E72D297353CC}">
              <c16:uniqueId val="{00000000-9C22-4732-A458-D9FA0C94DD18}"/>
            </c:ext>
          </c:extLst>
        </c:ser>
        <c:dLbls>
          <c:showLegendKey val="0"/>
          <c:showVal val="0"/>
          <c:showCatName val="0"/>
          <c:showSerName val="0"/>
          <c:showPercent val="0"/>
          <c:showBubbleSize val="0"/>
        </c:dLbls>
        <c:gapWidth val="372"/>
        <c:overlap val="61"/>
        <c:axId val="1249048352"/>
        <c:axId val="1249044032"/>
      </c:barChart>
      <c:catAx>
        <c:axId val="17527647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52768575"/>
        <c:crosses val="autoZero"/>
        <c:auto val="1"/>
        <c:lblAlgn val="ctr"/>
        <c:lblOffset val="100"/>
        <c:noMultiLvlLbl val="0"/>
      </c:catAx>
      <c:valAx>
        <c:axId val="1752768575"/>
        <c:scaling>
          <c:orientation val="minMax"/>
        </c:scaling>
        <c:delete val="1"/>
        <c:axPos val="l"/>
        <c:numFmt formatCode="0" sourceLinked="1"/>
        <c:majorTickMark val="none"/>
        <c:minorTickMark val="none"/>
        <c:tickLblPos val="nextTo"/>
        <c:crossAx val="1752764735"/>
        <c:crosses val="autoZero"/>
        <c:crossBetween val="between"/>
      </c:valAx>
      <c:valAx>
        <c:axId val="1249044032"/>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9048352"/>
        <c:crosses val="max"/>
        <c:crossBetween val="between"/>
      </c:valAx>
      <c:catAx>
        <c:axId val="1249048352"/>
        <c:scaling>
          <c:orientation val="minMax"/>
        </c:scaling>
        <c:delete val="1"/>
        <c:axPos val="b"/>
        <c:numFmt formatCode="General" sourceLinked="1"/>
        <c:majorTickMark val="out"/>
        <c:minorTickMark val="none"/>
        <c:tickLblPos val="nextTo"/>
        <c:crossAx val="1249044032"/>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2">
        <a:lumMod val="10000"/>
        <a:lumOff val="90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[Churn_Analysis.xlsx]worksheet!PivotTable7</c:name>
    <c:fmtId val="15"/>
  </c:pivotSource>
  <c:chart>
    <c:autoTitleDeleted val="1"/>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
        <c:spPr>
          <a:solidFill>
            <a:srgbClr val="D0E3F4"/>
          </a:solidFill>
          <a:ln w="19050">
            <a:noFill/>
          </a:ln>
          <a:effectLst/>
        </c:spPr>
        <c:dLbl>
          <c:idx val="0"/>
          <c:layout>
            <c:manualLayout>
              <c:x val="-0.12213417448838283"/>
              <c:y val="-0.10282253711686684"/>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
        <c:spPr>
          <a:solidFill>
            <a:schemeClr val="accent1">
              <a:lumMod val="40000"/>
              <a:lumOff val="60000"/>
            </a:schemeClr>
          </a:solidFill>
          <a:ln w="19050">
            <a:solidFill>
              <a:schemeClr val="lt1"/>
            </a:solidFill>
          </a:ln>
          <a:effectLst/>
        </c:spPr>
        <c:dLbl>
          <c:idx val="0"/>
          <c:layout>
            <c:manualLayout>
              <c:x val="6.1067087244191416E-2"/>
              <c:y val="0.17137089519477799"/>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4"/>
        <c:spPr>
          <a:solidFill>
            <a:schemeClr val="accent1">
              <a:lumMod val="40000"/>
              <a:lumOff val="60000"/>
            </a:schemeClr>
          </a:solidFill>
          <a:ln w="19050">
            <a:solidFill>
              <a:schemeClr val="lt1"/>
            </a:solidFill>
          </a:ln>
          <a:effectLst/>
        </c:spPr>
        <c:dLbl>
          <c:idx val="0"/>
          <c:layout>
            <c:manualLayout>
              <c:x val="6.1067087244191416E-2"/>
              <c:y val="0.17137089519477799"/>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5"/>
        <c:spPr>
          <a:solidFill>
            <a:srgbClr val="D0E3F4"/>
          </a:solidFill>
          <a:ln w="19050">
            <a:noFill/>
          </a:ln>
          <a:effectLst/>
        </c:spPr>
        <c:dLbl>
          <c:idx val="0"/>
          <c:layout>
            <c:manualLayout>
              <c:x val="-0.12213417448838283"/>
              <c:y val="-0.10282253711686684"/>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6"/>
        <c:spPr>
          <a:solidFill>
            <a:schemeClr val="accent1"/>
          </a:solidFill>
          <a:ln w="19050">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1">
              <a:lumMod val="40000"/>
              <a:lumOff val="60000"/>
            </a:schemeClr>
          </a:solidFill>
          <a:ln w="19050">
            <a:noFill/>
          </a:ln>
          <a:effectLst/>
        </c:spPr>
        <c:dLbl>
          <c:idx val="0"/>
          <c:layout>
            <c:manualLayout>
              <c:x val="0.10680160023313187"/>
              <c:y val="8.9399887541936771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8"/>
        <c:spPr>
          <a:solidFill>
            <a:srgbClr val="D0E3F4"/>
          </a:solidFill>
          <a:ln w="19050">
            <a:noFill/>
          </a:ln>
          <a:effectLst/>
        </c:spPr>
        <c:dLbl>
          <c:idx val="0"/>
          <c:layout>
            <c:manualLayout>
              <c:x val="-0.12213417448838283"/>
              <c:y val="-0.10282253711686684"/>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9"/>
        <c:spPr>
          <a:solidFill>
            <a:schemeClr val="accent1"/>
          </a:solidFill>
          <a:ln w="19050">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0"/>
        <c:spPr>
          <a:solidFill>
            <a:schemeClr val="accent1">
              <a:lumMod val="40000"/>
              <a:lumOff val="60000"/>
            </a:schemeClr>
          </a:solidFill>
          <a:ln w="19050">
            <a:noFill/>
          </a:ln>
          <a:effectLst/>
        </c:spPr>
        <c:dLbl>
          <c:idx val="0"/>
          <c:layout>
            <c:manualLayout>
              <c:x val="0.10680160023313187"/>
              <c:y val="8.9399887541936771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1"/>
        <c:spPr>
          <a:solidFill>
            <a:srgbClr val="D0E3F4"/>
          </a:solidFill>
          <a:ln w="19050">
            <a:noFill/>
          </a:ln>
          <a:effectLst/>
        </c:spPr>
        <c:dLbl>
          <c:idx val="0"/>
          <c:layout>
            <c:manualLayout>
              <c:x val="-0.12213417448838283"/>
              <c:y val="-0.10282253711686684"/>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2"/>
        <c:spPr>
          <a:solidFill>
            <a:schemeClr val="accent1"/>
          </a:solidFill>
          <a:ln w="19050">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3"/>
        <c:spPr>
          <a:solidFill>
            <a:schemeClr val="accent1">
              <a:lumMod val="40000"/>
              <a:lumOff val="60000"/>
            </a:schemeClr>
          </a:solidFill>
          <a:ln w="19050">
            <a:noFill/>
          </a:ln>
          <a:effectLst/>
        </c:spPr>
        <c:dLbl>
          <c:idx val="0"/>
          <c:layout>
            <c:manualLayout>
              <c:x val="0.10680160023313187"/>
              <c:y val="8.9399887541936771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4"/>
        <c:spPr>
          <a:solidFill>
            <a:srgbClr val="D0E3F4"/>
          </a:solidFill>
          <a:ln w="19050">
            <a:noFill/>
          </a:ln>
          <a:effectLst/>
        </c:spPr>
        <c:dLbl>
          <c:idx val="0"/>
          <c:layout>
            <c:manualLayout>
              <c:x val="-0.12213417448838283"/>
              <c:y val="-0.10282253711686684"/>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s>
    <c:plotArea>
      <c:layout>
        <c:manualLayout>
          <c:layoutTarget val="inner"/>
          <c:xMode val="edge"/>
          <c:yMode val="edge"/>
          <c:x val="0.16353386478683779"/>
          <c:y val="0.19077442608294359"/>
          <c:w val="0.63126715040052916"/>
          <c:h val="0.62191679659324461"/>
        </c:manualLayout>
      </c:layout>
      <c:doughnutChart>
        <c:varyColors val="1"/>
        <c:ser>
          <c:idx val="0"/>
          <c:order val="0"/>
          <c:tx>
            <c:strRef>
              <c:f>worksheet!$H$54</c:f>
              <c:strCache>
                <c:ptCount val="1"/>
                <c:pt idx="0">
                  <c:v>Total</c:v>
                </c:pt>
              </c:strCache>
            </c:strRef>
          </c:tx>
          <c:spPr>
            <a:solidFill>
              <a:schemeClr val="tx2">
                <a:lumMod val="10000"/>
                <a:lumOff val="90000"/>
              </a:schemeClr>
            </a:solidFill>
            <a:ln>
              <a:noFill/>
            </a:ln>
          </c:spPr>
          <c:explosion val="4"/>
          <c:dPt>
            <c:idx val="0"/>
            <c:bubble3D val="0"/>
            <c:spPr>
              <a:solidFill>
                <a:schemeClr val="accent1">
                  <a:lumMod val="60000"/>
                  <a:lumOff val="40000"/>
                </a:schemeClr>
              </a:solidFill>
              <a:ln w="19050">
                <a:noFill/>
              </a:ln>
              <a:effectLst/>
            </c:spPr>
            <c:extLst>
              <c:ext xmlns:c16="http://schemas.microsoft.com/office/drawing/2014/chart" uri="{C3380CC4-5D6E-409C-BE32-E72D297353CC}">
                <c16:uniqueId val="{00000001-206C-4341-B286-AD8E775D65CE}"/>
              </c:ext>
            </c:extLst>
          </c:dPt>
          <c:dPt>
            <c:idx val="1"/>
            <c:bubble3D val="0"/>
            <c:spPr>
              <a:solidFill>
                <a:schemeClr val="accent1">
                  <a:lumMod val="40000"/>
                  <a:lumOff val="60000"/>
                </a:schemeClr>
              </a:solidFill>
              <a:ln w="19050">
                <a:noFill/>
              </a:ln>
              <a:effectLst/>
            </c:spPr>
            <c:extLst>
              <c:ext xmlns:c16="http://schemas.microsoft.com/office/drawing/2014/chart" uri="{C3380CC4-5D6E-409C-BE32-E72D297353CC}">
                <c16:uniqueId val="{00000003-206C-4341-B286-AD8E775D65CE}"/>
              </c:ext>
            </c:extLst>
          </c:dPt>
          <c:dLbls>
            <c:dLbl>
              <c:idx val="0"/>
              <c:layout>
                <c:manualLayout>
                  <c:x val="0.10680160023313187"/>
                  <c:y val="8.939988754193677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06C-4341-B286-AD8E775D65CE}"/>
                </c:ext>
              </c:extLst>
            </c:dLbl>
            <c:dLbl>
              <c:idx val="1"/>
              <c:layout>
                <c:manualLayout>
                  <c:x val="-0.12213417448838283"/>
                  <c:y val="-0.1028225371168668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06C-4341-B286-AD8E775D65CE}"/>
                </c:ext>
              </c:extLst>
            </c:dLbl>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50000"/>
                        <a:lumOff val="50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worksheet!$G$55:$G$57</c:f>
              <c:strCache>
                <c:ptCount val="2"/>
                <c:pt idx="0">
                  <c:v>Churned</c:v>
                </c:pt>
                <c:pt idx="1">
                  <c:v>Active</c:v>
                </c:pt>
              </c:strCache>
            </c:strRef>
          </c:cat>
          <c:val>
            <c:numRef>
              <c:f>worksheet!$H$55:$H$57</c:f>
              <c:numCache>
                <c:formatCode>0.0</c:formatCode>
                <c:ptCount val="2"/>
                <c:pt idx="0">
                  <c:v>1260.4536026200874</c:v>
                </c:pt>
                <c:pt idx="1">
                  <c:v>1010.2095808383234</c:v>
                </c:pt>
              </c:numCache>
            </c:numRef>
          </c:val>
          <c:extLst>
            <c:ext xmlns:c16="http://schemas.microsoft.com/office/drawing/2014/chart" uri="{C3380CC4-5D6E-409C-BE32-E72D297353CC}">
              <c16:uniqueId val="{00000004-206C-4341-B286-AD8E775D65CE}"/>
            </c:ext>
          </c:extLst>
        </c:ser>
        <c:dLbls>
          <c:showLegendKey val="0"/>
          <c:showVal val="1"/>
          <c:showCatName val="0"/>
          <c:showSerName val="0"/>
          <c:showPercent val="0"/>
          <c:showBubbleSize val="0"/>
          <c:showLeaderLines val="1"/>
        </c:dLbls>
        <c:firstSliceAng val="36"/>
        <c:holeSize val="82"/>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2">
        <a:lumMod val="10000"/>
        <a:lumOff val="90000"/>
      </a:schemeClr>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771F8A-E869-4AB4-9B07-974B27DE089E}" type="datetimeFigureOut">
              <a:rPr lang="en-GB" smtClean="0"/>
              <a:t>25/10/2025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25E7E1-2174-4FBD-A6FF-AE232557C3E9}" type="slidenum">
              <a:rPr lang="en-GB" smtClean="0"/>
              <a:t>‹#›</a:t>
            </a:fld>
            <a:endParaRPr lang="en-GB"/>
          </a:p>
        </p:txBody>
      </p:sp>
    </p:spTree>
    <p:extLst>
      <p:ext uri="{BB962C8B-B14F-4D97-AF65-F5344CB8AC3E}">
        <p14:creationId xmlns:p14="http://schemas.microsoft.com/office/powerpoint/2010/main" val="3538479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325E7E1-2174-4FBD-A6FF-AE232557C3E9}" type="slidenum">
              <a:rPr lang="en-GB" smtClean="0"/>
              <a:t>4</a:t>
            </a:fld>
            <a:endParaRPr lang="en-GB"/>
          </a:p>
        </p:txBody>
      </p:sp>
    </p:spTree>
    <p:extLst>
      <p:ext uri="{BB962C8B-B14F-4D97-AF65-F5344CB8AC3E}">
        <p14:creationId xmlns:p14="http://schemas.microsoft.com/office/powerpoint/2010/main" val="2998829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FBBC7-CA0A-0028-597A-B19B7FAE5A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8D0068-5534-C80E-DD50-2C92EECCC9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224FE9-4B6F-0D29-3B98-CA99BE60C10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48A99FB-75F1-4A43-FA3C-53372C9A501E}"/>
              </a:ext>
            </a:extLst>
          </p:cNvPr>
          <p:cNvSpPr>
            <a:spLocks noGrp="1"/>
          </p:cNvSpPr>
          <p:nvPr>
            <p:ph type="sldNum" sz="quarter" idx="5"/>
          </p:nvPr>
        </p:nvSpPr>
        <p:spPr/>
        <p:txBody>
          <a:bodyPr/>
          <a:lstStyle/>
          <a:p>
            <a:fld id="{2325E7E1-2174-4FBD-A6FF-AE232557C3E9}" type="slidenum">
              <a:rPr lang="en-GB" smtClean="0"/>
              <a:t>5</a:t>
            </a:fld>
            <a:endParaRPr lang="en-GB"/>
          </a:p>
        </p:txBody>
      </p:sp>
    </p:spTree>
    <p:extLst>
      <p:ext uri="{BB962C8B-B14F-4D97-AF65-F5344CB8AC3E}">
        <p14:creationId xmlns:p14="http://schemas.microsoft.com/office/powerpoint/2010/main" val="1158180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4720A-90E7-23A6-D689-CBD9C79B71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8DA2C1-FAF6-C944-8659-6886C33735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0DBA34-2839-B4DC-3905-FC09A2B4CBD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AB3CBC8-B457-3C4B-8468-E17ADB614931}"/>
              </a:ext>
            </a:extLst>
          </p:cNvPr>
          <p:cNvSpPr>
            <a:spLocks noGrp="1"/>
          </p:cNvSpPr>
          <p:nvPr>
            <p:ph type="sldNum" sz="quarter" idx="5"/>
          </p:nvPr>
        </p:nvSpPr>
        <p:spPr/>
        <p:txBody>
          <a:bodyPr/>
          <a:lstStyle/>
          <a:p>
            <a:fld id="{2325E7E1-2174-4FBD-A6FF-AE232557C3E9}" type="slidenum">
              <a:rPr lang="en-GB" smtClean="0"/>
              <a:t>6</a:t>
            </a:fld>
            <a:endParaRPr lang="en-GB"/>
          </a:p>
        </p:txBody>
      </p:sp>
    </p:spTree>
    <p:extLst>
      <p:ext uri="{BB962C8B-B14F-4D97-AF65-F5344CB8AC3E}">
        <p14:creationId xmlns:p14="http://schemas.microsoft.com/office/powerpoint/2010/main" val="3812037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B12FE-E6F2-940D-5088-4EFB7C61ED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6740F9-BCE4-C2BB-9C35-9EF1C62578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FE411C-505F-CF46-6FD7-AF17DB5A0B3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85138EE-2B66-5418-21BF-470ACFF5D57D}"/>
              </a:ext>
            </a:extLst>
          </p:cNvPr>
          <p:cNvSpPr>
            <a:spLocks noGrp="1"/>
          </p:cNvSpPr>
          <p:nvPr>
            <p:ph type="sldNum" sz="quarter" idx="5"/>
          </p:nvPr>
        </p:nvSpPr>
        <p:spPr/>
        <p:txBody>
          <a:bodyPr/>
          <a:lstStyle/>
          <a:p>
            <a:fld id="{2325E7E1-2174-4FBD-A6FF-AE232557C3E9}" type="slidenum">
              <a:rPr lang="en-GB" smtClean="0"/>
              <a:t>7</a:t>
            </a:fld>
            <a:endParaRPr lang="en-GB"/>
          </a:p>
        </p:txBody>
      </p:sp>
    </p:spTree>
    <p:extLst>
      <p:ext uri="{BB962C8B-B14F-4D97-AF65-F5344CB8AC3E}">
        <p14:creationId xmlns:p14="http://schemas.microsoft.com/office/powerpoint/2010/main" val="37432173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31B44-4624-161F-68C1-8103C9AEC0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A53118-2BC9-C9F8-FCD5-373D50ED1D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C188EC-11F0-6049-3515-DB4A4BEB6DD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2156E32-8ADA-BDA1-E225-095899B19445}"/>
              </a:ext>
            </a:extLst>
          </p:cNvPr>
          <p:cNvSpPr>
            <a:spLocks noGrp="1"/>
          </p:cNvSpPr>
          <p:nvPr>
            <p:ph type="sldNum" sz="quarter" idx="5"/>
          </p:nvPr>
        </p:nvSpPr>
        <p:spPr/>
        <p:txBody>
          <a:bodyPr/>
          <a:lstStyle/>
          <a:p>
            <a:fld id="{2325E7E1-2174-4FBD-A6FF-AE232557C3E9}" type="slidenum">
              <a:rPr lang="en-GB" smtClean="0"/>
              <a:t>8</a:t>
            </a:fld>
            <a:endParaRPr lang="en-GB"/>
          </a:p>
        </p:txBody>
      </p:sp>
    </p:spTree>
    <p:extLst>
      <p:ext uri="{BB962C8B-B14F-4D97-AF65-F5344CB8AC3E}">
        <p14:creationId xmlns:p14="http://schemas.microsoft.com/office/powerpoint/2010/main" val="2273917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E9B6C-74A6-DCC2-F5F9-DFBBE90344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3234-64BC-A757-0E32-C8C0BF7FE9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BC3496-BE44-8F2D-6F91-4E433520419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AC35757-D79E-DA21-8798-5AEA3F515753}"/>
              </a:ext>
            </a:extLst>
          </p:cNvPr>
          <p:cNvSpPr>
            <a:spLocks noGrp="1"/>
          </p:cNvSpPr>
          <p:nvPr>
            <p:ph type="sldNum" sz="quarter" idx="5"/>
          </p:nvPr>
        </p:nvSpPr>
        <p:spPr/>
        <p:txBody>
          <a:bodyPr/>
          <a:lstStyle/>
          <a:p>
            <a:fld id="{2325E7E1-2174-4FBD-A6FF-AE232557C3E9}" type="slidenum">
              <a:rPr lang="en-GB" smtClean="0"/>
              <a:t>9</a:t>
            </a:fld>
            <a:endParaRPr lang="en-GB"/>
          </a:p>
        </p:txBody>
      </p:sp>
    </p:spTree>
    <p:extLst>
      <p:ext uri="{BB962C8B-B14F-4D97-AF65-F5344CB8AC3E}">
        <p14:creationId xmlns:p14="http://schemas.microsoft.com/office/powerpoint/2010/main" val="2163897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D95E5-924E-0E52-3425-1AB5C5DF02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EEAFF8-1D46-F3E5-F70B-F8CBFC009B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A756EF-2827-52C8-B083-F5512B8A180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D96B7AF-D956-4455-B17B-D5E0857A4C5C}"/>
              </a:ext>
            </a:extLst>
          </p:cNvPr>
          <p:cNvSpPr>
            <a:spLocks noGrp="1"/>
          </p:cNvSpPr>
          <p:nvPr>
            <p:ph type="sldNum" sz="quarter" idx="5"/>
          </p:nvPr>
        </p:nvSpPr>
        <p:spPr/>
        <p:txBody>
          <a:bodyPr/>
          <a:lstStyle/>
          <a:p>
            <a:fld id="{2325E7E1-2174-4FBD-A6FF-AE232557C3E9}" type="slidenum">
              <a:rPr lang="en-GB" smtClean="0"/>
              <a:t>10</a:t>
            </a:fld>
            <a:endParaRPr lang="en-GB"/>
          </a:p>
        </p:txBody>
      </p:sp>
    </p:spTree>
    <p:extLst>
      <p:ext uri="{BB962C8B-B14F-4D97-AF65-F5344CB8AC3E}">
        <p14:creationId xmlns:p14="http://schemas.microsoft.com/office/powerpoint/2010/main" val="28785213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31E45-1862-5C91-F315-E8D99C96F8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7A9BD-6A54-6AA1-2FF3-4476E9EFEF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B78CEB-D5F3-3F01-02AE-7A93A2ECB9E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9BA031E-9843-C43B-9359-456A0DEFB0B9}"/>
              </a:ext>
            </a:extLst>
          </p:cNvPr>
          <p:cNvSpPr>
            <a:spLocks noGrp="1"/>
          </p:cNvSpPr>
          <p:nvPr>
            <p:ph type="sldNum" sz="quarter" idx="5"/>
          </p:nvPr>
        </p:nvSpPr>
        <p:spPr/>
        <p:txBody>
          <a:bodyPr/>
          <a:lstStyle/>
          <a:p>
            <a:fld id="{2325E7E1-2174-4FBD-A6FF-AE232557C3E9}" type="slidenum">
              <a:rPr lang="en-GB" smtClean="0"/>
              <a:t>11</a:t>
            </a:fld>
            <a:endParaRPr lang="en-GB"/>
          </a:p>
        </p:txBody>
      </p:sp>
    </p:spTree>
    <p:extLst>
      <p:ext uri="{BB962C8B-B14F-4D97-AF65-F5344CB8AC3E}">
        <p14:creationId xmlns:p14="http://schemas.microsoft.com/office/powerpoint/2010/main" val="2681999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407F2-4FD0-F3FD-4B75-328C4B97E8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6B902D-4374-D88A-503A-F94A232CEB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E6E007-B23D-5839-3542-5603AE33EBE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51DC806-03C4-B302-2B57-F7AEBC396B7E}"/>
              </a:ext>
            </a:extLst>
          </p:cNvPr>
          <p:cNvSpPr>
            <a:spLocks noGrp="1"/>
          </p:cNvSpPr>
          <p:nvPr>
            <p:ph type="sldNum" sz="quarter" idx="5"/>
          </p:nvPr>
        </p:nvSpPr>
        <p:spPr/>
        <p:txBody>
          <a:bodyPr/>
          <a:lstStyle/>
          <a:p>
            <a:fld id="{2325E7E1-2174-4FBD-A6FF-AE232557C3E9}" type="slidenum">
              <a:rPr lang="en-GB" smtClean="0"/>
              <a:t>12</a:t>
            </a:fld>
            <a:endParaRPr lang="en-GB"/>
          </a:p>
        </p:txBody>
      </p:sp>
    </p:spTree>
    <p:extLst>
      <p:ext uri="{BB962C8B-B14F-4D97-AF65-F5344CB8AC3E}">
        <p14:creationId xmlns:p14="http://schemas.microsoft.com/office/powerpoint/2010/main" val="36313590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C2324-94C8-C762-2E4F-AF9EE57712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2134B2-EC67-DFAA-C890-C83331A1D3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77A07B-9DD3-562A-355A-0821FFFFFDC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F6ABE84-D03D-0900-F17D-AB02B5972F43}"/>
              </a:ext>
            </a:extLst>
          </p:cNvPr>
          <p:cNvSpPr>
            <a:spLocks noGrp="1"/>
          </p:cNvSpPr>
          <p:nvPr>
            <p:ph type="sldNum" sz="quarter" idx="5"/>
          </p:nvPr>
        </p:nvSpPr>
        <p:spPr/>
        <p:txBody>
          <a:bodyPr/>
          <a:lstStyle/>
          <a:p>
            <a:fld id="{2325E7E1-2174-4FBD-A6FF-AE232557C3E9}" type="slidenum">
              <a:rPr lang="en-GB" smtClean="0"/>
              <a:t>13</a:t>
            </a:fld>
            <a:endParaRPr lang="en-GB"/>
          </a:p>
        </p:txBody>
      </p:sp>
    </p:spTree>
    <p:extLst>
      <p:ext uri="{BB962C8B-B14F-4D97-AF65-F5344CB8AC3E}">
        <p14:creationId xmlns:p14="http://schemas.microsoft.com/office/powerpoint/2010/main" val="1074080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A8E9B-6CB9-DE98-B164-9B1A3016C5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1A0F52A-4CE3-A358-EB03-7A7B8142B4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F618340-2FC9-4243-D2E4-DAAE36E1480B}"/>
              </a:ext>
            </a:extLst>
          </p:cNvPr>
          <p:cNvSpPr>
            <a:spLocks noGrp="1"/>
          </p:cNvSpPr>
          <p:nvPr>
            <p:ph type="dt" sz="half" idx="10"/>
          </p:nvPr>
        </p:nvSpPr>
        <p:spPr/>
        <p:txBody>
          <a:bodyPr/>
          <a:lstStyle/>
          <a:p>
            <a:fld id="{83A57298-12C1-4576-ABEA-102C44F49EB5}" type="datetimeFigureOut">
              <a:rPr lang="en-GB" smtClean="0"/>
              <a:t>25/10/2025</a:t>
            </a:fld>
            <a:endParaRPr lang="en-GB"/>
          </a:p>
        </p:txBody>
      </p:sp>
      <p:sp>
        <p:nvSpPr>
          <p:cNvPr id="5" name="Footer Placeholder 4">
            <a:extLst>
              <a:ext uri="{FF2B5EF4-FFF2-40B4-BE49-F238E27FC236}">
                <a16:creationId xmlns:a16="http://schemas.microsoft.com/office/drawing/2014/main" id="{C4A1DE52-1AAD-FB22-804D-426B9EECCC8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BBF9F27-99AC-7D87-E1EA-6C2342651B75}"/>
              </a:ext>
            </a:extLst>
          </p:cNvPr>
          <p:cNvSpPr>
            <a:spLocks noGrp="1"/>
          </p:cNvSpPr>
          <p:nvPr>
            <p:ph type="sldNum" sz="quarter" idx="12"/>
          </p:nvPr>
        </p:nvSpPr>
        <p:spPr/>
        <p:txBody>
          <a:bodyPr/>
          <a:lstStyle/>
          <a:p>
            <a:fld id="{A1A20DC8-A84D-4F72-B06B-001209AC9040}" type="slidenum">
              <a:rPr lang="en-GB" smtClean="0"/>
              <a:t>‹#›</a:t>
            </a:fld>
            <a:endParaRPr lang="en-GB"/>
          </a:p>
        </p:txBody>
      </p:sp>
    </p:spTree>
    <p:extLst>
      <p:ext uri="{BB962C8B-B14F-4D97-AF65-F5344CB8AC3E}">
        <p14:creationId xmlns:p14="http://schemas.microsoft.com/office/powerpoint/2010/main" val="2005658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9D893-302B-D1EA-B15A-133F5D8A2D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CE1A077-E0C2-A41E-B32A-3F7220285E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D0C32C1-50EB-B1C1-AC73-96E0B5662A06}"/>
              </a:ext>
            </a:extLst>
          </p:cNvPr>
          <p:cNvSpPr>
            <a:spLocks noGrp="1"/>
          </p:cNvSpPr>
          <p:nvPr>
            <p:ph type="dt" sz="half" idx="10"/>
          </p:nvPr>
        </p:nvSpPr>
        <p:spPr/>
        <p:txBody>
          <a:bodyPr/>
          <a:lstStyle/>
          <a:p>
            <a:fld id="{83A57298-12C1-4576-ABEA-102C44F49EB5}" type="datetimeFigureOut">
              <a:rPr lang="en-GB" smtClean="0"/>
              <a:t>25/10/2025</a:t>
            </a:fld>
            <a:endParaRPr lang="en-GB"/>
          </a:p>
        </p:txBody>
      </p:sp>
      <p:sp>
        <p:nvSpPr>
          <p:cNvPr id="5" name="Footer Placeholder 4">
            <a:extLst>
              <a:ext uri="{FF2B5EF4-FFF2-40B4-BE49-F238E27FC236}">
                <a16:creationId xmlns:a16="http://schemas.microsoft.com/office/drawing/2014/main" id="{B32660B9-377D-DF92-8A27-3E331847AEA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0FA310-F5FF-C8CF-72D9-81DA16D3F05B}"/>
              </a:ext>
            </a:extLst>
          </p:cNvPr>
          <p:cNvSpPr>
            <a:spLocks noGrp="1"/>
          </p:cNvSpPr>
          <p:nvPr>
            <p:ph type="sldNum" sz="quarter" idx="12"/>
          </p:nvPr>
        </p:nvSpPr>
        <p:spPr/>
        <p:txBody>
          <a:bodyPr/>
          <a:lstStyle/>
          <a:p>
            <a:fld id="{A1A20DC8-A84D-4F72-B06B-001209AC9040}" type="slidenum">
              <a:rPr lang="en-GB" smtClean="0"/>
              <a:t>‹#›</a:t>
            </a:fld>
            <a:endParaRPr lang="en-GB"/>
          </a:p>
        </p:txBody>
      </p:sp>
    </p:spTree>
    <p:extLst>
      <p:ext uri="{BB962C8B-B14F-4D97-AF65-F5344CB8AC3E}">
        <p14:creationId xmlns:p14="http://schemas.microsoft.com/office/powerpoint/2010/main" val="1728598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E3170-334A-3427-E225-F6564B2515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C809C80-42D0-8983-B696-F4CD52AB8C5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CA429C-B16F-D334-137A-F6C8AB1AFAC3}"/>
              </a:ext>
            </a:extLst>
          </p:cNvPr>
          <p:cNvSpPr>
            <a:spLocks noGrp="1"/>
          </p:cNvSpPr>
          <p:nvPr>
            <p:ph type="dt" sz="half" idx="10"/>
          </p:nvPr>
        </p:nvSpPr>
        <p:spPr/>
        <p:txBody>
          <a:bodyPr/>
          <a:lstStyle/>
          <a:p>
            <a:fld id="{83A57298-12C1-4576-ABEA-102C44F49EB5}" type="datetimeFigureOut">
              <a:rPr lang="en-GB" smtClean="0"/>
              <a:t>25/10/2025</a:t>
            </a:fld>
            <a:endParaRPr lang="en-GB"/>
          </a:p>
        </p:txBody>
      </p:sp>
      <p:sp>
        <p:nvSpPr>
          <p:cNvPr id="5" name="Footer Placeholder 4">
            <a:extLst>
              <a:ext uri="{FF2B5EF4-FFF2-40B4-BE49-F238E27FC236}">
                <a16:creationId xmlns:a16="http://schemas.microsoft.com/office/drawing/2014/main" id="{75DB2C12-8CA8-7805-CD08-F0F0BCA1E3F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252BA5A-ECA1-7797-5ED0-1AF12379816F}"/>
              </a:ext>
            </a:extLst>
          </p:cNvPr>
          <p:cNvSpPr>
            <a:spLocks noGrp="1"/>
          </p:cNvSpPr>
          <p:nvPr>
            <p:ph type="sldNum" sz="quarter" idx="12"/>
          </p:nvPr>
        </p:nvSpPr>
        <p:spPr/>
        <p:txBody>
          <a:bodyPr/>
          <a:lstStyle/>
          <a:p>
            <a:fld id="{A1A20DC8-A84D-4F72-B06B-001209AC9040}" type="slidenum">
              <a:rPr lang="en-GB" smtClean="0"/>
              <a:t>‹#›</a:t>
            </a:fld>
            <a:endParaRPr lang="en-GB"/>
          </a:p>
        </p:txBody>
      </p:sp>
    </p:spTree>
    <p:extLst>
      <p:ext uri="{BB962C8B-B14F-4D97-AF65-F5344CB8AC3E}">
        <p14:creationId xmlns:p14="http://schemas.microsoft.com/office/powerpoint/2010/main" val="1251074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87507-54C3-9580-7531-EC4763604B1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79E56EB-4F52-A62E-C863-677BCAD45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FF41AA5-7D48-D8BD-C67E-ECF673F8C8C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F9B0F2D-8719-4E62-71E7-E5510834D6C6}"/>
              </a:ext>
            </a:extLst>
          </p:cNvPr>
          <p:cNvSpPr>
            <a:spLocks noGrp="1"/>
          </p:cNvSpPr>
          <p:nvPr>
            <p:ph type="dt" sz="half" idx="10"/>
          </p:nvPr>
        </p:nvSpPr>
        <p:spPr/>
        <p:txBody>
          <a:bodyPr/>
          <a:lstStyle/>
          <a:p>
            <a:fld id="{83A57298-12C1-4576-ABEA-102C44F49EB5}" type="datetimeFigureOut">
              <a:rPr lang="en-GB" smtClean="0"/>
              <a:t>25/10/2025</a:t>
            </a:fld>
            <a:endParaRPr lang="en-GB"/>
          </a:p>
        </p:txBody>
      </p:sp>
      <p:sp>
        <p:nvSpPr>
          <p:cNvPr id="6" name="Footer Placeholder 5">
            <a:extLst>
              <a:ext uri="{FF2B5EF4-FFF2-40B4-BE49-F238E27FC236}">
                <a16:creationId xmlns:a16="http://schemas.microsoft.com/office/drawing/2014/main" id="{6AE73DFB-33A9-0047-A78D-7795ADADFF3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060C96E-96AE-C85E-1042-63337F3959DB}"/>
              </a:ext>
            </a:extLst>
          </p:cNvPr>
          <p:cNvSpPr>
            <a:spLocks noGrp="1"/>
          </p:cNvSpPr>
          <p:nvPr>
            <p:ph type="sldNum" sz="quarter" idx="12"/>
          </p:nvPr>
        </p:nvSpPr>
        <p:spPr/>
        <p:txBody>
          <a:bodyPr/>
          <a:lstStyle/>
          <a:p>
            <a:fld id="{A1A20DC8-A84D-4F72-B06B-001209AC9040}" type="slidenum">
              <a:rPr lang="en-GB" smtClean="0"/>
              <a:t>‹#›</a:t>
            </a:fld>
            <a:endParaRPr lang="en-GB"/>
          </a:p>
        </p:txBody>
      </p:sp>
    </p:spTree>
    <p:extLst>
      <p:ext uri="{BB962C8B-B14F-4D97-AF65-F5344CB8AC3E}">
        <p14:creationId xmlns:p14="http://schemas.microsoft.com/office/powerpoint/2010/main" val="3097212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45D67-25B3-E41B-840A-DBD6FF621CC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12C128A-9EAD-8649-73E3-D27C72C1C9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C20038-9F05-D37E-893A-171D107682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622EB24-8D3C-3DDD-1C8D-887D02435C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4EA118-897B-0E69-0B28-39EAAE3FDD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D003783-E618-3AAC-A69A-0E99FC46E87F}"/>
              </a:ext>
            </a:extLst>
          </p:cNvPr>
          <p:cNvSpPr>
            <a:spLocks noGrp="1"/>
          </p:cNvSpPr>
          <p:nvPr>
            <p:ph type="dt" sz="half" idx="10"/>
          </p:nvPr>
        </p:nvSpPr>
        <p:spPr/>
        <p:txBody>
          <a:bodyPr/>
          <a:lstStyle/>
          <a:p>
            <a:fld id="{83A57298-12C1-4576-ABEA-102C44F49EB5}" type="datetimeFigureOut">
              <a:rPr lang="en-GB" smtClean="0"/>
              <a:t>25/10/2025</a:t>
            </a:fld>
            <a:endParaRPr lang="en-GB"/>
          </a:p>
        </p:txBody>
      </p:sp>
      <p:sp>
        <p:nvSpPr>
          <p:cNvPr id="8" name="Footer Placeholder 7">
            <a:extLst>
              <a:ext uri="{FF2B5EF4-FFF2-40B4-BE49-F238E27FC236}">
                <a16:creationId xmlns:a16="http://schemas.microsoft.com/office/drawing/2014/main" id="{6594FF62-FBC2-675D-706E-8A36B466E25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C16C4A3-A1B1-5910-7044-F70613ADAB50}"/>
              </a:ext>
            </a:extLst>
          </p:cNvPr>
          <p:cNvSpPr>
            <a:spLocks noGrp="1"/>
          </p:cNvSpPr>
          <p:nvPr>
            <p:ph type="sldNum" sz="quarter" idx="12"/>
          </p:nvPr>
        </p:nvSpPr>
        <p:spPr/>
        <p:txBody>
          <a:bodyPr/>
          <a:lstStyle/>
          <a:p>
            <a:fld id="{A1A20DC8-A84D-4F72-B06B-001209AC9040}" type="slidenum">
              <a:rPr lang="en-GB" smtClean="0"/>
              <a:t>‹#›</a:t>
            </a:fld>
            <a:endParaRPr lang="en-GB"/>
          </a:p>
        </p:txBody>
      </p:sp>
    </p:spTree>
    <p:extLst>
      <p:ext uri="{BB962C8B-B14F-4D97-AF65-F5344CB8AC3E}">
        <p14:creationId xmlns:p14="http://schemas.microsoft.com/office/powerpoint/2010/main" val="402216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1BDC9-85CA-244C-4892-08D7625926F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397642D-2F24-71A6-E939-A22CC2AD2419}"/>
              </a:ext>
            </a:extLst>
          </p:cNvPr>
          <p:cNvSpPr>
            <a:spLocks noGrp="1"/>
          </p:cNvSpPr>
          <p:nvPr>
            <p:ph type="dt" sz="half" idx="10"/>
          </p:nvPr>
        </p:nvSpPr>
        <p:spPr/>
        <p:txBody>
          <a:bodyPr/>
          <a:lstStyle/>
          <a:p>
            <a:fld id="{83A57298-12C1-4576-ABEA-102C44F49EB5}" type="datetimeFigureOut">
              <a:rPr lang="en-GB" smtClean="0"/>
              <a:t>25/10/2025</a:t>
            </a:fld>
            <a:endParaRPr lang="en-GB"/>
          </a:p>
        </p:txBody>
      </p:sp>
      <p:sp>
        <p:nvSpPr>
          <p:cNvPr id="4" name="Footer Placeholder 3">
            <a:extLst>
              <a:ext uri="{FF2B5EF4-FFF2-40B4-BE49-F238E27FC236}">
                <a16:creationId xmlns:a16="http://schemas.microsoft.com/office/drawing/2014/main" id="{E0A5410A-381C-D279-D972-A43C995804D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F78C029-9BBA-5D36-804D-AC3BC0CE5F74}"/>
              </a:ext>
            </a:extLst>
          </p:cNvPr>
          <p:cNvSpPr>
            <a:spLocks noGrp="1"/>
          </p:cNvSpPr>
          <p:nvPr>
            <p:ph type="sldNum" sz="quarter" idx="12"/>
          </p:nvPr>
        </p:nvSpPr>
        <p:spPr/>
        <p:txBody>
          <a:bodyPr/>
          <a:lstStyle/>
          <a:p>
            <a:fld id="{A1A20DC8-A84D-4F72-B06B-001209AC9040}" type="slidenum">
              <a:rPr lang="en-GB" smtClean="0"/>
              <a:t>‹#›</a:t>
            </a:fld>
            <a:endParaRPr lang="en-GB"/>
          </a:p>
        </p:txBody>
      </p:sp>
    </p:spTree>
    <p:extLst>
      <p:ext uri="{BB962C8B-B14F-4D97-AF65-F5344CB8AC3E}">
        <p14:creationId xmlns:p14="http://schemas.microsoft.com/office/powerpoint/2010/main" val="3447364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561AFC-D47C-5B39-F009-5B49FDA3DF39}"/>
              </a:ext>
            </a:extLst>
          </p:cNvPr>
          <p:cNvSpPr>
            <a:spLocks noGrp="1"/>
          </p:cNvSpPr>
          <p:nvPr>
            <p:ph type="dt" sz="half" idx="10"/>
          </p:nvPr>
        </p:nvSpPr>
        <p:spPr/>
        <p:txBody>
          <a:bodyPr/>
          <a:lstStyle/>
          <a:p>
            <a:fld id="{83A57298-12C1-4576-ABEA-102C44F49EB5}" type="datetimeFigureOut">
              <a:rPr lang="en-GB" smtClean="0"/>
              <a:t>25/10/2025</a:t>
            </a:fld>
            <a:endParaRPr lang="en-GB"/>
          </a:p>
        </p:txBody>
      </p:sp>
      <p:sp>
        <p:nvSpPr>
          <p:cNvPr id="3" name="Footer Placeholder 2">
            <a:extLst>
              <a:ext uri="{FF2B5EF4-FFF2-40B4-BE49-F238E27FC236}">
                <a16:creationId xmlns:a16="http://schemas.microsoft.com/office/drawing/2014/main" id="{AC8D784E-706F-14CD-A697-F36F7AE304B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6230D39-5257-3B93-3CE9-92B98B096DB1}"/>
              </a:ext>
            </a:extLst>
          </p:cNvPr>
          <p:cNvSpPr>
            <a:spLocks noGrp="1"/>
          </p:cNvSpPr>
          <p:nvPr>
            <p:ph type="sldNum" sz="quarter" idx="12"/>
          </p:nvPr>
        </p:nvSpPr>
        <p:spPr/>
        <p:txBody>
          <a:bodyPr/>
          <a:lstStyle/>
          <a:p>
            <a:fld id="{A1A20DC8-A84D-4F72-B06B-001209AC9040}" type="slidenum">
              <a:rPr lang="en-GB" smtClean="0"/>
              <a:t>‹#›</a:t>
            </a:fld>
            <a:endParaRPr lang="en-GB"/>
          </a:p>
        </p:txBody>
      </p:sp>
    </p:spTree>
    <p:extLst>
      <p:ext uri="{BB962C8B-B14F-4D97-AF65-F5344CB8AC3E}">
        <p14:creationId xmlns:p14="http://schemas.microsoft.com/office/powerpoint/2010/main" val="740183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35EF2-2024-45CA-C6A1-6CFFDF0E3C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86AC559-31FF-FB8D-AF4F-35B84E0FBE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81ECC09-6A1D-816E-5E19-05EEDD60CD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039451-638D-0ECE-9A5F-A8AA36B13D61}"/>
              </a:ext>
            </a:extLst>
          </p:cNvPr>
          <p:cNvSpPr>
            <a:spLocks noGrp="1"/>
          </p:cNvSpPr>
          <p:nvPr>
            <p:ph type="dt" sz="half" idx="10"/>
          </p:nvPr>
        </p:nvSpPr>
        <p:spPr/>
        <p:txBody>
          <a:bodyPr/>
          <a:lstStyle/>
          <a:p>
            <a:fld id="{83A57298-12C1-4576-ABEA-102C44F49EB5}" type="datetimeFigureOut">
              <a:rPr lang="en-GB" smtClean="0"/>
              <a:t>25/10/2025</a:t>
            </a:fld>
            <a:endParaRPr lang="en-GB"/>
          </a:p>
        </p:txBody>
      </p:sp>
      <p:sp>
        <p:nvSpPr>
          <p:cNvPr id="6" name="Footer Placeholder 5">
            <a:extLst>
              <a:ext uri="{FF2B5EF4-FFF2-40B4-BE49-F238E27FC236}">
                <a16:creationId xmlns:a16="http://schemas.microsoft.com/office/drawing/2014/main" id="{8480B299-0C89-BB75-FD8F-EED4DB3E147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2655150-DA3C-8A71-83AB-5D33D7083D05}"/>
              </a:ext>
            </a:extLst>
          </p:cNvPr>
          <p:cNvSpPr>
            <a:spLocks noGrp="1"/>
          </p:cNvSpPr>
          <p:nvPr>
            <p:ph type="sldNum" sz="quarter" idx="12"/>
          </p:nvPr>
        </p:nvSpPr>
        <p:spPr/>
        <p:txBody>
          <a:bodyPr/>
          <a:lstStyle/>
          <a:p>
            <a:fld id="{A1A20DC8-A84D-4F72-B06B-001209AC9040}" type="slidenum">
              <a:rPr lang="en-GB" smtClean="0"/>
              <a:t>‹#›</a:t>
            </a:fld>
            <a:endParaRPr lang="en-GB"/>
          </a:p>
        </p:txBody>
      </p:sp>
    </p:spTree>
    <p:extLst>
      <p:ext uri="{BB962C8B-B14F-4D97-AF65-F5344CB8AC3E}">
        <p14:creationId xmlns:p14="http://schemas.microsoft.com/office/powerpoint/2010/main" val="2679356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450B4-C141-8BF7-CC35-22834F8455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0D5CBD3-8103-0187-1A30-691B86301C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3FE849C-4744-082C-EE27-B9EAFB73F0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6525EA-1A03-5A36-59A5-BCD75667DEC3}"/>
              </a:ext>
            </a:extLst>
          </p:cNvPr>
          <p:cNvSpPr>
            <a:spLocks noGrp="1"/>
          </p:cNvSpPr>
          <p:nvPr>
            <p:ph type="dt" sz="half" idx="10"/>
          </p:nvPr>
        </p:nvSpPr>
        <p:spPr/>
        <p:txBody>
          <a:bodyPr/>
          <a:lstStyle/>
          <a:p>
            <a:fld id="{83A57298-12C1-4576-ABEA-102C44F49EB5}" type="datetimeFigureOut">
              <a:rPr lang="en-GB" smtClean="0"/>
              <a:t>25/10/2025</a:t>
            </a:fld>
            <a:endParaRPr lang="en-GB"/>
          </a:p>
        </p:txBody>
      </p:sp>
      <p:sp>
        <p:nvSpPr>
          <p:cNvPr id="6" name="Footer Placeholder 5">
            <a:extLst>
              <a:ext uri="{FF2B5EF4-FFF2-40B4-BE49-F238E27FC236}">
                <a16:creationId xmlns:a16="http://schemas.microsoft.com/office/drawing/2014/main" id="{5E849371-14E7-18AA-E215-56404F85056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1199CE4-62B4-08AC-5ECE-F4240028CFF1}"/>
              </a:ext>
            </a:extLst>
          </p:cNvPr>
          <p:cNvSpPr>
            <a:spLocks noGrp="1"/>
          </p:cNvSpPr>
          <p:nvPr>
            <p:ph type="sldNum" sz="quarter" idx="12"/>
          </p:nvPr>
        </p:nvSpPr>
        <p:spPr/>
        <p:txBody>
          <a:bodyPr/>
          <a:lstStyle/>
          <a:p>
            <a:fld id="{A1A20DC8-A84D-4F72-B06B-001209AC9040}" type="slidenum">
              <a:rPr lang="en-GB" smtClean="0"/>
              <a:t>‹#›</a:t>
            </a:fld>
            <a:endParaRPr lang="en-GB"/>
          </a:p>
        </p:txBody>
      </p:sp>
    </p:spTree>
    <p:extLst>
      <p:ext uri="{BB962C8B-B14F-4D97-AF65-F5344CB8AC3E}">
        <p14:creationId xmlns:p14="http://schemas.microsoft.com/office/powerpoint/2010/main" val="1913652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2177A-803F-ACDE-E757-E4F0BFD896E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05F72C3-454D-23D9-0455-1FBE629D81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59A059E-7E6D-C6B0-8334-6F90DC30B6DA}"/>
              </a:ext>
            </a:extLst>
          </p:cNvPr>
          <p:cNvSpPr>
            <a:spLocks noGrp="1"/>
          </p:cNvSpPr>
          <p:nvPr>
            <p:ph type="dt" sz="half" idx="10"/>
          </p:nvPr>
        </p:nvSpPr>
        <p:spPr/>
        <p:txBody>
          <a:bodyPr/>
          <a:lstStyle/>
          <a:p>
            <a:fld id="{83A57298-12C1-4576-ABEA-102C44F49EB5}" type="datetimeFigureOut">
              <a:rPr lang="en-GB" smtClean="0"/>
              <a:t>25/10/2025</a:t>
            </a:fld>
            <a:endParaRPr lang="en-GB"/>
          </a:p>
        </p:txBody>
      </p:sp>
      <p:sp>
        <p:nvSpPr>
          <p:cNvPr id="5" name="Footer Placeholder 4">
            <a:extLst>
              <a:ext uri="{FF2B5EF4-FFF2-40B4-BE49-F238E27FC236}">
                <a16:creationId xmlns:a16="http://schemas.microsoft.com/office/drawing/2014/main" id="{8912E790-2917-AADF-E6CC-5CD90EA5AC0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55E72FC-F7B1-B895-58AD-647BCE97EF79}"/>
              </a:ext>
            </a:extLst>
          </p:cNvPr>
          <p:cNvSpPr>
            <a:spLocks noGrp="1"/>
          </p:cNvSpPr>
          <p:nvPr>
            <p:ph type="sldNum" sz="quarter" idx="12"/>
          </p:nvPr>
        </p:nvSpPr>
        <p:spPr/>
        <p:txBody>
          <a:bodyPr/>
          <a:lstStyle/>
          <a:p>
            <a:fld id="{A1A20DC8-A84D-4F72-B06B-001209AC9040}" type="slidenum">
              <a:rPr lang="en-GB" smtClean="0"/>
              <a:t>‹#›</a:t>
            </a:fld>
            <a:endParaRPr lang="en-GB"/>
          </a:p>
        </p:txBody>
      </p:sp>
    </p:spTree>
    <p:extLst>
      <p:ext uri="{BB962C8B-B14F-4D97-AF65-F5344CB8AC3E}">
        <p14:creationId xmlns:p14="http://schemas.microsoft.com/office/powerpoint/2010/main" val="3356919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F198EE-F5C1-46E0-8E35-BD18DAF0622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59A99F2-E66A-0423-FE5C-F305962AE7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46DAF97-A2D1-5B04-16E7-7AC3CD1C3C6C}"/>
              </a:ext>
            </a:extLst>
          </p:cNvPr>
          <p:cNvSpPr>
            <a:spLocks noGrp="1"/>
          </p:cNvSpPr>
          <p:nvPr>
            <p:ph type="dt" sz="half" idx="10"/>
          </p:nvPr>
        </p:nvSpPr>
        <p:spPr/>
        <p:txBody>
          <a:bodyPr/>
          <a:lstStyle/>
          <a:p>
            <a:fld id="{83A57298-12C1-4576-ABEA-102C44F49EB5}" type="datetimeFigureOut">
              <a:rPr lang="en-GB" smtClean="0"/>
              <a:t>25/10/2025</a:t>
            </a:fld>
            <a:endParaRPr lang="en-GB"/>
          </a:p>
        </p:txBody>
      </p:sp>
      <p:sp>
        <p:nvSpPr>
          <p:cNvPr id="5" name="Footer Placeholder 4">
            <a:extLst>
              <a:ext uri="{FF2B5EF4-FFF2-40B4-BE49-F238E27FC236}">
                <a16:creationId xmlns:a16="http://schemas.microsoft.com/office/drawing/2014/main" id="{1F7F5CE5-FE98-0839-FFB9-192083F88BB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84F0B64-02A2-7DF5-4D80-D3DF2D2FECE8}"/>
              </a:ext>
            </a:extLst>
          </p:cNvPr>
          <p:cNvSpPr>
            <a:spLocks noGrp="1"/>
          </p:cNvSpPr>
          <p:nvPr>
            <p:ph type="sldNum" sz="quarter" idx="12"/>
          </p:nvPr>
        </p:nvSpPr>
        <p:spPr/>
        <p:txBody>
          <a:bodyPr/>
          <a:lstStyle/>
          <a:p>
            <a:fld id="{A1A20DC8-A84D-4F72-B06B-001209AC9040}" type="slidenum">
              <a:rPr lang="en-GB" smtClean="0"/>
              <a:t>‹#›</a:t>
            </a:fld>
            <a:endParaRPr lang="en-GB"/>
          </a:p>
        </p:txBody>
      </p:sp>
    </p:spTree>
    <p:extLst>
      <p:ext uri="{BB962C8B-B14F-4D97-AF65-F5344CB8AC3E}">
        <p14:creationId xmlns:p14="http://schemas.microsoft.com/office/powerpoint/2010/main" val="958771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AB4A14-DBB5-8074-00D0-D1D798434B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88A589D-DF47-2E60-9E26-DD2B1B403E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A84B5DE-3AE4-6445-7893-30BB90CA08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A57298-12C1-4576-ABEA-102C44F49EB5}" type="datetimeFigureOut">
              <a:rPr lang="en-GB" smtClean="0"/>
              <a:t>25/10/2025</a:t>
            </a:fld>
            <a:endParaRPr lang="en-GB"/>
          </a:p>
        </p:txBody>
      </p:sp>
      <p:sp>
        <p:nvSpPr>
          <p:cNvPr id="5" name="Footer Placeholder 4">
            <a:extLst>
              <a:ext uri="{FF2B5EF4-FFF2-40B4-BE49-F238E27FC236}">
                <a16:creationId xmlns:a16="http://schemas.microsoft.com/office/drawing/2014/main" id="{B5CC9AFF-ECCD-0072-6181-ADC165020F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25A4E71-8134-6883-A45A-F287621764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A20DC8-A84D-4F72-B06B-001209AC9040}" type="slidenum">
              <a:rPr lang="en-GB" smtClean="0"/>
              <a:t>‹#›</a:t>
            </a:fld>
            <a:endParaRPr lang="en-GB"/>
          </a:p>
        </p:txBody>
      </p:sp>
    </p:spTree>
    <p:extLst>
      <p:ext uri="{BB962C8B-B14F-4D97-AF65-F5344CB8AC3E}">
        <p14:creationId xmlns:p14="http://schemas.microsoft.com/office/powerpoint/2010/main" val="1656293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3B55252-4685-3D79-9E6F-DE01C94B067D}"/>
              </a:ext>
            </a:extLst>
          </p:cNvPr>
          <p:cNvSpPr/>
          <p:nvPr/>
        </p:nvSpPr>
        <p:spPr>
          <a:xfrm>
            <a:off x="269630" y="158261"/>
            <a:ext cx="11723077" cy="6453553"/>
          </a:xfrm>
          <a:prstGeom prst="roundRect">
            <a:avLst>
              <a:gd name="adj" fmla="val 5223"/>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Rounded Corners 5">
            <a:extLst>
              <a:ext uri="{FF2B5EF4-FFF2-40B4-BE49-F238E27FC236}">
                <a16:creationId xmlns:a16="http://schemas.microsoft.com/office/drawing/2014/main" id="{51806B75-5F91-D32D-107C-4802E3E6CD1E}"/>
              </a:ext>
            </a:extLst>
          </p:cNvPr>
          <p:cNvSpPr/>
          <p:nvPr/>
        </p:nvSpPr>
        <p:spPr>
          <a:xfrm>
            <a:off x="2197510" y="158260"/>
            <a:ext cx="9795197" cy="6453553"/>
          </a:xfrm>
          <a:prstGeom prst="roundRect">
            <a:avLst>
              <a:gd name="adj" fmla="val 0"/>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23">
            <a:extLst>
              <a:ext uri="{FF2B5EF4-FFF2-40B4-BE49-F238E27FC236}">
                <a16:creationId xmlns:a16="http://schemas.microsoft.com/office/drawing/2014/main" id="{C2D93C2B-C6EB-7C23-6B4C-7BB1C5570B6F}"/>
              </a:ext>
            </a:extLst>
          </p:cNvPr>
          <p:cNvSpPr txBox="1"/>
          <p:nvPr/>
        </p:nvSpPr>
        <p:spPr>
          <a:xfrm>
            <a:off x="3422558" y="1216641"/>
            <a:ext cx="6926311" cy="150083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4800" b="1" dirty="0">
                <a:solidFill>
                  <a:schemeClr val="tx1"/>
                </a:solidFill>
                <a:latin typeface="Aptos Narrow"/>
              </a:rPr>
              <a:t>Churn Analysis &amp; Customer Health Report </a:t>
            </a:r>
            <a:endParaRPr lang="en-US" sz="4800" b="1" i="0" u="none" strike="noStrike" dirty="0">
              <a:solidFill>
                <a:schemeClr val="tx1"/>
              </a:solidFill>
              <a:latin typeface="Aptos Narrow"/>
            </a:endParaRPr>
          </a:p>
        </p:txBody>
      </p:sp>
      <p:sp>
        <p:nvSpPr>
          <p:cNvPr id="13" name="TextBox 23">
            <a:extLst>
              <a:ext uri="{FF2B5EF4-FFF2-40B4-BE49-F238E27FC236}">
                <a16:creationId xmlns:a16="http://schemas.microsoft.com/office/drawing/2014/main" id="{4284ADF6-713B-1220-7FB4-DF311F80F571}"/>
              </a:ext>
            </a:extLst>
          </p:cNvPr>
          <p:cNvSpPr txBox="1"/>
          <p:nvPr/>
        </p:nvSpPr>
        <p:spPr>
          <a:xfrm>
            <a:off x="3422558" y="2997779"/>
            <a:ext cx="5774542" cy="31033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1600" dirty="0">
                <a:solidFill>
                  <a:schemeClr val="tx1">
                    <a:lumMod val="75000"/>
                    <a:lumOff val="25000"/>
                  </a:schemeClr>
                </a:solidFill>
                <a:latin typeface="Aptos Narrow"/>
              </a:rPr>
              <a:t>Key Findings &amp; Strategic Insights</a:t>
            </a:r>
            <a:endParaRPr lang="en-US" sz="1600" i="0" u="none" strike="noStrike" dirty="0">
              <a:solidFill>
                <a:schemeClr val="tx1">
                  <a:lumMod val="75000"/>
                  <a:lumOff val="25000"/>
                </a:schemeClr>
              </a:solidFill>
              <a:latin typeface="Aptos Narrow"/>
              <a:ea typeface="+mn-ea"/>
              <a:cs typeface="+mn-cs"/>
            </a:endParaRPr>
          </a:p>
        </p:txBody>
      </p:sp>
      <p:grpSp>
        <p:nvGrpSpPr>
          <p:cNvPr id="19" name="Group 18">
            <a:extLst>
              <a:ext uri="{FF2B5EF4-FFF2-40B4-BE49-F238E27FC236}">
                <a16:creationId xmlns:a16="http://schemas.microsoft.com/office/drawing/2014/main" id="{F8D4B539-DDB5-2AF8-8A1E-A7D52AACBDCF}"/>
              </a:ext>
            </a:extLst>
          </p:cNvPr>
          <p:cNvGrpSpPr/>
          <p:nvPr/>
        </p:nvGrpSpPr>
        <p:grpSpPr>
          <a:xfrm>
            <a:off x="472438" y="5414961"/>
            <a:ext cx="11317460" cy="999907"/>
            <a:chOff x="472438" y="5414961"/>
            <a:chExt cx="11317460" cy="999907"/>
          </a:xfrm>
        </p:grpSpPr>
        <p:sp>
          <p:nvSpPr>
            <p:cNvPr id="14" name="Rectangle: Rounded Corners 13">
              <a:extLst>
                <a:ext uri="{FF2B5EF4-FFF2-40B4-BE49-F238E27FC236}">
                  <a16:creationId xmlns:a16="http://schemas.microsoft.com/office/drawing/2014/main" id="{77B1B44E-628E-2DD5-09CD-836CB9168B19}"/>
                </a:ext>
              </a:extLst>
            </p:cNvPr>
            <p:cNvSpPr/>
            <p:nvPr/>
          </p:nvSpPr>
          <p:spPr>
            <a:xfrm>
              <a:off x="472438" y="5414961"/>
              <a:ext cx="11317460" cy="999907"/>
            </a:xfrm>
            <a:prstGeom prst="roundRect">
              <a:avLst>
                <a:gd name="adj" fmla="val 1929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DC9B3058-1782-3C43-0CBE-97801757B236}"/>
                </a:ext>
              </a:extLst>
            </p:cNvPr>
            <p:cNvSpPr txBox="1"/>
            <p:nvPr/>
          </p:nvSpPr>
          <p:spPr>
            <a:xfrm>
              <a:off x="1333423" y="5695265"/>
              <a:ext cx="2971291" cy="400110"/>
            </a:xfrm>
            <a:prstGeom prst="rect">
              <a:avLst/>
            </a:prstGeom>
            <a:noFill/>
          </p:spPr>
          <p:txBody>
            <a:bodyPr wrap="square" rtlCol="0">
              <a:spAutoFit/>
            </a:bodyPr>
            <a:lstStyle/>
            <a:p>
              <a:r>
                <a:rPr lang="en-GB" sz="2000" dirty="0">
                  <a:solidFill>
                    <a:schemeClr val="accent4">
                      <a:lumMod val="75000"/>
                    </a:schemeClr>
                  </a:solidFill>
                </a:rPr>
                <a:t>NexaMart Insights Ltd.</a:t>
              </a:r>
            </a:p>
          </p:txBody>
        </p:sp>
      </p:grpSp>
      <p:grpSp>
        <p:nvGrpSpPr>
          <p:cNvPr id="20" name="Group 19">
            <a:extLst>
              <a:ext uri="{FF2B5EF4-FFF2-40B4-BE49-F238E27FC236}">
                <a16:creationId xmlns:a16="http://schemas.microsoft.com/office/drawing/2014/main" id="{32ABC7A2-8F1F-E7E5-B297-7EEB17FD434F}"/>
              </a:ext>
            </a:extLst>
          </p:cNvPr>
          <p:cNvGrpSpPr/>
          <p:nvPr/>
        </p:nvGrpSpPr>
        <p:grpSpPr>
          <a:xfrm>
            <a:off x="1645919" y="762625"/>
            <a:ext cx="1226385" cy="1220920"/>
            <a:chOff x="1645919" y="762625"/>
            <a:chExt cx="1226385" cy="1220920"/>
          </a:xfrm>
        </p:grpSpPr>
        <p:grpSp>
          <p:nvGrpSpPr>
            <p:cNvPr id="17" name="Group 16">
              <a:extLst>
                <a:ext uri="{FF2B5EF4-FFF2-40B4-BE49-F238E27FC236}">
                  <a16:creationId xmlns:a16="http://schemas.microsoft.com/office/drawing/2014/main" id="{239EE042-F792-B30E-F6CA-B97135A77B41}"/>
                </a:ext>
              </a:extLst>
            </p:cNvPr>
            <p:cNvGrpSpPr/>
            <p:nvPr/>
          </p:nvGrpSpPr>
          <p:grpSpPr>
            <a:xfrm>
              <a:off x="1645919" y="762625"/>
              <a:ext cx="1226385" cy="1220920"/>
              <a:chOff x="1238865" y="1443039"/>
              <a:chExt cx="1917290" cy="1985961"/>
            </a:xfrm>
          </p:grpSpPr>
          <p:sp>
            <p:nvSpPr>
              <p:cNvPr id="7" name="Oval 6">
                <a:extLst>
                  <a:ext uri="{FF2B5EF4-FFF2-40B4-BE49-F238E27FC236}">
                    <a16:creationId xmlns:a16="http://schemas.microsoft.com/office/drawing/2014/main" id="{1E6EE007-30BC-86B7-D3B1-55F6E71BDEC7}"/>
                  </a:ext>
                </a:extLst>
              </p:cNvPr>
              <p:cNvSpPr/>
              <p:nvPr/>
            </p:nvSpPr>
            <p:spPr>
              <a:xfrm>
                <a:off x="1238865" y="1443039"/>
                <a:ext cx="1917290" cy="1985961"/>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Oval 7">
                <a:extLst>
                  <a:ext uri="{FF2B5EF4-FFF2-40B4-BE49-F238E27FC236}">
                    <a16:creationId xmlns:a16="http://schemas.microsoft.com/office/drawing/2014/main" id="{86B71DA4-DE10-2469-2400-505AF61E4EC9}"/>
                  </a:ext>
                </a:extLst>
              </p:cNvPr>
              <p:cNvSpPr/>
              <p:nvPr/>
            </p:nvSpPr>
            <p:spPr>
              <a:xfrm>
                <a:off x="1333423" y="1545431"/>
                <a:ext cx="1728173" cy="1781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794D53AB-14E3-C3A6-A2B7-81A1CD16C69D}"/>
                  </a:ext>
                </a:extLst>
              </p:cNvPr>
              <p:cNvSpPr/>
              <p:nvPr/>
            </p:nvSpPr>
            <p:spPr>
              <a:xfrm>
                <a:off x="1421184" y="1647283"/>
                <a:ext cx="1552651" cy="1577470"/>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 name="TextBox 23">
              <a:extLst>
                <a:ext uri="{FF2B5EF4-FFF2-40B4-BE49-F238E27FC236}">
                  <a16:creationId xmlns:a16="http://schemas.microsoft.com/office/drawing/2014/main" id="{CDC05E93-5FD7-66A1-9DA8-A2AAC3FB110A}"/>
                </a:ext>
              </a:extLst>
            </p:cNvPr>
            <p:cNvSpPr txBox="1"/>
            <p:nvPr/>
          </p:nvSpPr>
          <p:spPr>
            <a:xfrm>
              <a:off x="2069429" y="1062756"/>
              <a:ext cx="489042" cy="50025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2800" b="1" dirty="0">
                  <a:solidFill>
                    <a:schemeClr val="tx1"/>
                  </a:solidFill>
                  <a:latin typeface="Aptos Narrow"/>
                </a:rPr>
                <a:t>1</a:t>
              </a:r>
              <a:endParaRPr lang="en-US" sz="2800" b="1" i="0" u="none" strike="noStrike" dirty="0">
                <a:solidFill>
                  <a:schemeClr val="tx1"/>
                </a:solidFill>
                <a:latin typeface="Aptos Narrow"/>
                <a:ea typeface="+mn-ea"/>
                <a:cs typeface="+mn-cs"/>
              </a:endParaRPr>
            </a:p>
          </p:txBody>
        </p:sp>
      </p:grpSp>
      <p:sp>
        <p:nvSpPr>
          <p:cNvPr id="2" name="Rectangle: Rounded Corners 1">
            <a:extLst>
              <a:ext uri="{FF2B5EF4-FFF2-40B4-BE49-F238E27FC236}">
                <a16:creationId xmlns:a16="http://schemas.microsoft.com/office/drawing/2014/main" id="{5C997E8F-1D39-E09A-2F9E-80C9B4C0895B}"/>
              </a:ext>
            </a:extLst>
          </p:cNvPr>
          <p:cNvSpPr/>
          <p:nvPr/>
        </p:nvSpPr>
        <p:spPr>
          <a:xfrm>
            <a:off x="3422558" y="3735470"/>
            <a:ext cx="6743781" cy="1083576"/>
          </a:xfrm>
          <a:prstGeom prst="roundRect">
            <a:avLst>
              <a:gd name="adj" fmla="val 50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600" b="1" dirty="0">
                <a:solidFill>
                  <a:schemeClr val="accent1">
                    <a:lumMod val="75000"/>
                  </a:schemeClr>
                </a:solidFill>
              </a:rPr>
              <a:t>Data is collected based on customer’s signup year from 2020 - 2024</a:t>
            </a:r>
          </a:p>
        </p:txBody>
      </p:sp>
    </p:spTree>
    <p:custDataLst>
      <p:tags r:id="rId1"/>
    </p:custDataLst>
    <p:extLst>
      <p:ext uri="{BB962C8B-B14F-4D97-AF65-F5344CB8AC3E}">
        <p14:creationId xmlns:p14="http://schemas.microsoft.com/office/powerpoint/2010/main" val="1565427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755CC-5FA3-3987-61F7-7C59ABFAEB5A}"/>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3341850-5FA2-D5EF-4D84-14002AC4D83E}"/>
              </a:ext>
            </a:extLst>
          </p:cNvPr>
          <p:cNvSpPr/>
          <p:nvPr/>
        </p:nvSpPr>
        <p:spPr>
          <a:xfrm>
            <a:off x="269630" y="158261"/>
            <a:ext cx="11723077" cy="6453553"/>
          </a:xfrm>
          <a:prstGeom prst="roundRect">
            <a:avLst>
              <a:gd name="adj" fmla="val 5223"/>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396D7A24-4398-4D12-315E-B022F7C25096}"/>
              </a:ext>
            </a:extLst>
          </p:cNvPr>
          <p:cNvSpPr/>
          <p:nvPr/>
        </p:nvSpPr>
        <p:spPr>
          <a:xfrm>
            <a:off x="2197510" y="158260"/>
            <a:ext cx="9795197" cy="6453553"/>
          </a:xfrm>
          <a:prstGeom prst="roundRect">
            <a:avLst>
              <a:gd name="adj" fmla="val 0"/>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57" name="Group 56">
            <a:extLst>
              <a:ext uri="{FF2B5EF4-FFF2-40B4-BE49-F238E27FC236}">
                <a16:creationId xmlns:a16="http://schemas.microsoft.com/office/drawing/2014/main" id="{94FB0984-4742-CE4A-E656-27ECEAC10C2D}"/>
              </a:ext>
            </a:extLst>
          </p:cNvPr>
          <p:cNvGrpSpPr/>
          <p:nvPr/>
        </p:nvGrpSpPr>
        <p:grpSpPr>
          <a:xfrm>
            <a:off x="5536739" y="2059535"/>
            <a:ext cx="2799787" cy="2768404"/>
            <a:chOff x="5716478" y="1118573"/>
            <a:chExt cx="1917290" cy="1985961"/>
          </a:xfrm>
        </p:grpSpPr>
        <p:sp>
          <p:nvSpPr>
            <p:cNvPr id="7" name="Oval 6">
              <a:extLst>
                <a:ext uri="{FF2B5EF4-FFF2-40B4-BE49-F238E27FC236}">
                  <a16:creationId xmlns:a16="http://schemas.microsoft.com/office/drawing/2014/main" id="{CC47962E-BABE-860E-5E68-04AB6065A992}"/>
                </a:ext>
              </a:extLst>
            </p:cNvPr>
            <p:cNvSpPr/>
            <p:nvPr/>
          </p:nvSpPr>
          <p:spPr>
            <a:xfrm>
              <a:off x="5716478" y="1118573"/>
              <a:ext cx="1917290" cy="1985961"/>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Oval 7">
              <a:extLst>
                <a:ext uri="{FF2B5EF4-FFF2-40B4-BE49-F238E27FC236}">
                  <a16:creationId xmlns:a16="http://schemas.microsoft.com/office/drawing/2014/main" id="{B6E0FB46-80F5-9F25-AFD8-03BD2497AA41}"/>
                </a:ext>
              </a:extLst>
            </p:cNvPr>
            <p:cNvSpPr/>
            <p:nvPr/>
          </p:nvSpPr>
          <p:spPr>
            <a:xfrm>
              <a:off x="5811036" y="1220965"/>
              <a:ext cx="1728173" cy="1781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D677401C-E3AD-664D-9AD3-02CC9C0BBE5D}"/>
                </a:ext>
              </a:extLst>
            </p:cNvPr>
            <p:cNvSpPr/>
            <p:nvPr/>
          </p:nvSpPr>
          <p:spPr>
            <a:xfrm>
              <a:off x="5898797" y="1322817"/>
              <a:ext cx="1552651" cy="1577470"/>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TextBox 23">
              <a:extLst>
                <a:ext uri="{FF2B5EF4-FFF2-40B4-BE49-F238E27FC236}">
                  <a16:creationId xmlns:a16="http://schemas.microsoft.com/office/drawing/2014/main" id="{3CEF7335-10A8-81E2-04B4-88ABA0708451}"/>
                </a:ext>
              </a:extLst>
            </p:cNvPr>
            <p:cNvSpPr txBox="1"/>
            <p:nvPr/>
          </p:nvSpPr>
          <p:spPr>
            <a:xfrm>
              <a:off x="6316673" y="1611555"/>
              <a:ext cx="881808" cy="403558"/>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3200" b="1" dirty="0">
                  <a:solidFill>
                    <a:schemeClr val="tx1"/>
                  </a:solidFill>
                  <a:latin typeface="Aptos Narrow"/>
                </a:rPr>
                <a:t>2,500</a:t>
              </a:r>
              <a:endParaRPr lang="en-US" sz="3200" b="1" i="0" u="none" strike="noStrike" dirty="0">
                <a:solidFill>
                  <a:schemeClr val="tx1"/>
                </a:solidFill>
                <a:latin typeface="Aptos Narrow"/>
                <a:ea typeface="+mn-ea"/>
                <a:cs typeface="+mn-cs"/>
              </a:endParaRPr>
            </a:p>
          </p:txBody>
        </p:sp>
        <p:sp>
          <p:nvSpPr>
            <p:cNvPr id="43" name="TextBox 23">
              <a:extLst>
                <a:ext uri="{FF2B5EF4-FFF2-40B4-BE49-F238E27FC236}">
                  <a16:creationId xmlns:a16="http://schemas.microsoft.com/office/drawing/2014/main" id="{B9A4CEBA-5A88-DD41-1EF7-87FB0F8320A4}"/>
                </a:ext>
              </a:extLst>
            </p:cNvPr>
            <p:cNvSpPr txBox="1"/>
            <p:nvPr/>
          </p:nvSpPr>
          <p:spPr>
            <a:xfrm>
              <a:off x="6253026" y="2225225"/>
              <a:ext cx="945221" cy="333779"/>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2000" b="1" dirty="0">
                  <a:solidFill>
                    <a:schemeClr val="tx1"/>
                  </a:solidFill>
                  <a:latin typeface="Aptos Narrow"/>
                </a:rPr>
                <a:t>Customers</a:t>
              </a:r>
              <a:endParaRPr lang="en-US" sz="2000" b="1" i="0" u="none" strike="noStrike" dirty="0">
                <a:solidFill>
                  <a:schemeClr val="tx1"/>
                </a:solidFill>
                <a:latin typeface="Aptos Narrow"/>
                <a:ea typeface="+mn-ea"/>
                <a:cs typeface="+mn-cs"/>
              </a:endParaRPr>
            </a:p>
          </p:txBody>
        </p:sp>
      </p:grpSp>
      <p:grpSp>
        <p:nvGrpSpPr>
          <p:cNvPr id="60" name="Group 59">
            <a:extLst>
              <a:ext uri="{FF2B5EF4-FFF2-40B4-BE49-F238E27FC236}">
                <a16:creationId xmlns:a16="http://schemas.microsoft.com/office/drawing/2014/main" id="{08602425-136D-61BD-4DC9-FF2762FE75C2}"/>
              </a:ext>
            </a:extLst>
          </p:cNvPr>
          <p:cNvGrpSpPr/>
          <p:nvPr/>
        </p:nvGrpSpPr>
        <p:grpSpPr>
          <a:xfrm>
            <a:off x="2506590" y="3925849"/>
            <a:ext cx="1917290" cy="1985961"/>
            <a:chOff x="2640944" y="2900290"/>
            <a:chExt cx="1917290" cy="1985961"/>
          </a:xfrm>
        </p:grpSpPr>
        <p:grpSp>
          <p:nvGrpSpPr>
            <p:cNvPr id="59" name="Group 58">
              <a:extLst>
                <a:ext uri="{FF2B5EF4-FFF2-40B4-BE49-F238E27FC236}">
                  <a16:creationId xmlns:a16="http://schemas.microsoft.com/office/drawing/2014/main" id="{BC201627-67D9-DE5C-311F-9D5CD9609AEB}"/>
                </a:ext>
              </a:extLst>
            </p:cNvPr>
            <p:cNvGrpSpPr/>
            <p:nvPr/>
          </p:nvGrpSpPr>
          <p:grpSpPr>
            <a:xfrm>
              <a:off x="2640944" y="2900290"/>
              <a:ext cx="1917290" cy="1985961"/>
              <a:chOff x="2640944" y="2900290"/>
              <a:chExt cx="1917290" cy="1985961"/>
            </a:xfrm>
          </p:grpSpPr>
          <p:sp>
            <p:nvSpPr>
              <p:cNvPr id="19" name="Oval 18">
                <a:extLst>
                  <a:ext uri="{FF2B5EF4-FFF2-40B4-BE49-F238E27FC236}">
                    <a16:creationId xmlns:a16="http://schemas.microsoft.com/office/drawing/2014/main" id="{B2262A01-8E4B-899B-A73B-B610B5B38823}"/>
                  </a:ext>
                </a:extLst>
              </p:cNvPr>
              <p:cNvSpPr/>
              <p:nvPr/>
            </p:nvSpPr>
            <p:spPr>
              <a:xfrm>
                <a:off x="2640944" y="2900290"/>
                <a:ext cx="1917290" cy="1985961"/>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9DD3A9C1-2500-EBE6-FC2C-B19ED977336C}"/>
                  </a:ext>
                </a:extLst>
              </p:cNvPr>
              <p:cNvSpPr/>
              <p:nvPr/>
            </p:nvSpPr>
            <p:spPr>
              <a:xfrm>
                <a:off x="2735502" y="3002682"/>
                <a:ext cx="1728173" cy="1781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870815C1-9A3F-FD38-F0CD-B7D20516C8E2}"/>
                  </a:ext>
                </a:extLst>
              </p:cNvPr>
              <p:cNvSpPr/>
              <p:nvPr/>
            </p:nvSpPr>
            <p:spPr>
              <a:xfrm>
                <a:off x="2823263" y="3104534"/>
                <a:ext cx="1552651" cy="1577470"/>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4" name="TextBox 23">
              <a:extLst>
                <a:ext uri="{FF2B5EF4-FFF2-40B4-BE49-F238E27FC236}">
                  <a16:creationId xmlns:a16="http://schemas.microsoft.com/office/drawing/2014/main" id="{8E78F563-37FD-DB54-4FAA-89660E58FD3F}"/>
                </a:ext>
              </a:extLst>
            </p:cNvPr>
            <p:cNvSpPr txBox="1"/>
            <p:nvPr/>
          </p:nvSpPr>
          <p:spPr>
            <a:xfrm>
              <a:off x="3208806" y="3286254"/>
              <a:ext cx="865833" cy="67212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2800" b="1" i="0" u="none" strike="noStrike" dirty="0">
                  <a:solidFill>
                    <a:schemeClr val="tx1"/>
                  </a:solidFill>
                  <a:latin typeface="Aptos Narrow"/>
                  <a:ea typeface="+mn-ea"/>
                  <a:cs typeface="+mn-cs"/>
                </a:rPr>
                <a:t>73%</a:t>
              </a:r>
            </a:p>
          </p:txBody>
        </p:sp>
        <p:sp>
          <p:nvSpPr>
            <p:cNvPr id="45" name="TextBox 23">
              <a:extLst>
                <a:ext uri="{FF2B5EF4-FFF2-40B4-BE49-F238E27FC236}">
                  <a16:creationId xmlns:a16="http://schemas.microsoft.com/office/drawing/2014/main" id="{4C74D64D-7DA4-13A2-BD71-781CF8C70EC6}"/>
                </a:ext>
              </a:extLst>
            </p:cNvPr>
            <p:cNvSpPr txBox="1"/>
            <p:nvPr/>
          </p:nvSpPr>
          <p:spPr>
            <a:xfrm>
              <a:off x="3118722" y="3872130"/>
              <a:ext cx="1207718" cy="42230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1800" b="1" i="0" u="none" strike="noStrike" dirty="0">
                  <a:solidFill>
                    <a:schemeClr val="tx1"/>
                  </a:solidFill>
                  <a:latin typeface="Aptos Narrow"/>
                  <a:ea typeface="+mn-ea"/>
                  <a:cs typeface="+mn-cs"/>
                </a:rPr>
                <a:t>Churned</a:t>
              </a:r>
            </a:p>
          </p:txBody>
        </p:sp>
      </p:grpSp>
      <p:grpSp>
        <p:nvGrpSpPr>
          <p:cNvPr id="58" name="Group 57">
            <a:extLst>
              <a:ext uri="{FF2B5EF4-FFF2-40B4-BE49-F238E27FC236}">
                <a16:creationId xmlns:a16="http://schemas.microsoft.com/office/drawing/2014/main" id="{E6B65E86-0972-839A-128C-2AE2CCEF1A60}"/>
              </a:ext>
            </a:extLst>
          </p:cNvPr>
          <p:cNvGrpSpPr/>
          <p:nvPr/>
        </p:nvGrpSpPr>
        <p:grpSpPr>
          <a:xfrm>
            <a:off x="9218245" y="588005"/>
            <a:ext cx="1917290" cy="1985961"/>
            <a:chOff x="8792012" y="2900290"/>
            <a:chExt cx="1917290" cy="1985961"/>
          </a:xfrm>
        </p:grpSpPr>
        <p:sp>
          <p:nvSpPr>
            <p:cNvPr id="5" name="Oval 4">
              <a:extLst>
                <a:ext uri="{FF2B5EF4-FFF2-40B4-BE49-F238E27FC236}">
                  <a16:creationId xmlns:a16="http://schemas.microsoft.com/office/drawing/2014/main" id="{13C38816-DCD9-A1CC-00D5-4F2969DD2778}"/>
                </a:ext>
              </a:extLst>
            </p:cNvPr>
            <p:cNvSpPr/>
            <p:nvPr/>
          </p:nvSpPr>
          <p:spPr>
            <a:xfrm>
              <a:off x="8792012" y="2900290"/>
              <a:ext cx="1917290" cy="1985961"/>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734E3F0A-6F6A-7223-F75C-4CD1F0F543C2}"/>
                </a:ext>
              </a:extLst>
            </p:cNvPr>
            <p:cNvSpPr/>
            <p:nvPr/>
          </p:nvSpPr>
          <p:spPr>
            <a:xfrm>
              <a:off x="8886570" y="3002682"/>
              <a:ext cx="1728173" cy="1781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4F06FBBE-E690-FDF4-E55E-1F54CD87A74B}"/>
                </a:ext>
              </a:extLst>
            </p:cNvPr>
            <p:cNvSpPr/>
            <p:nvPr/>
          </p:nvSpPr>
          <p:spPr>
            <a:xfrm>
              <a:off x="8974331" y="3104534"/>
              <a:ext cx="1552651" cy="1577470"/>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TextBox 23">
              <a:extLst>
                <a:ext uri="{FF2B5EF4-FFF2-40B4-BE49-F238E27FC236}">
                  <a16:creationId xmlns:a16="http://schemas.microsoft.com/office/drawing/2014/main" id="{31375177-CA35-33C9-E871-B1CF12ACF654}"/>
                </a:ext>
              </a:extLst>
            </p:cNvPr>
            <p:cNvSpPr txBox="1"/>
            <p:nvPr/>
          </p:nvSpPr>
          <p:spPr>
            <a:xfrm>
              <a:off x="9387084" y="3381211"/>
              <a:ext cx="847693" cy="52595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2800" b="1" i="0" u="none" strike="noStrike" dirty="0">
                  <a:solidFill>
                    <a:schemeClr val="tx1"/>
                  </a:solidFill>
                  <a:latin typeface="Aptos Narrow"/>
                  <a:ea typeface="+mn-ea"/>
                  <a:cs typeface="+mn-cs"/>
                </a:rPr>
                <a:t>27%</a:t>
              </a:r>
            </a:p>
          </p:txBody>
        </p:sp>
        <p:sp>
          <p:nvSpPr>
            <p:cNvPr id="47" name="TextBox 23">
              <a:extLst>
                <a:ext uri="{FF2B5EF4-FFF2-40B4-BE49-F238E27FC236}">
                  <a16:creationId xmlns:a16="http://schemas.microsoft.com/office/drawing/2014/main" id="{AB1AF134-C0A9-0849-4A5E-6249E85597DA}"/>
                </a:ext>
              </a:extLst>
            </p:cNvPr>
            <p:cNvSpPr txBox="1"/>
            <p:nvPr/>
          </p:nvSpPr>
          <p:spPr>
            <a:xfrm>
              <a:off x="9405323" y="3915857"/>
              <a:ext cx="811213" cy="424566"/>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1800" b="1" i="0" u="none" strike="noStrike" dirty="0">
                  <a:solidFill>
                    <a:schemeClr val="tx1"/>
                  </a:solidFill>
                  <a:latin typeface="Aptos Narrow"/>
                  <a:ea typeface="+mn-ea"/>
                  <a:cs typeface="+mn-cs"/>
                </a:rPr>
                <a:t>Active</a:t>
              </a:r>
            </a:p>
          </p:txBody>
        </p:sp>
      </p:grpSp>
      <p:grpSp>
        <p:nvGrpSpPr>
          <p:cNvPr id="48" name="Group 47">
            <a:extLst>
              <a:ext uri="{FF2B5EF4-FFF2-40B4-BE49-F238E27FC236}">
                <a16:creationId xmlns:a16="http://schemas.microsoft.com/office/drawing/2014/main" id="{D4FE32AF-AAE6-1C4D-0903-320C5726F437}"/>
              </a:ext>
            </a:extLst>
          </p:cNvPr>
          <p:cNvGrpSpPr/>
          <p:nvPr/>
        </p:nvGrpSpPr>
        <p:grpSpPr>
          <a:xfrm>
            <a:off x="1571740" y="755582"/>
            <a:ext cx="1118229" cy="1052107"/>
            <a:chOff x="1238865" y="1443039"/>
            <a:chExt cx="1917290" cy="1985961"/>
          </a:xfrm>
        </p:grpSpPr>
        <p:sp>
          <p:nvSpPr>
            <p:cNvPr id="49" name="Oval 48">
              <a:extLst>
                <a:ext uri="{FF2B5EF4-FFF2-40B4-BE49-F238E27FC236}">
                  <a16:creationId xmlns:a16="http://schemas.microsoft.com/office/drawing/2014/main" id="{E26E3E44-ABF1-E9FC-ACDB-46EC20D4383D}"/>
                </a:ext>
              </a:extLst>
            </p:cNvPr>
            <p:cNvSpPr/>
            <p:nvPr/>
          </p:nvSpPr>
          <p:spPr>
            <a:xfrm>
              <a:off x="1238865" y="1443039"/>
              <a:ext cx="1917290" cy="1985961"/>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Oval 49">
              <a:extLst>
                <a:ext uri="{FF2B5EF4-FFF2-40B4-BE49-F238E27FC236}">
                  <a16:creationId xmlns:a16="http://schemas.microsoft.com/office/drawing/2014/main" id="{51DF2425-06CF-0C38-21B7-C330D38B283A}"/>
                </a:ext>
              </a:extLst>
            </p:cNvPr>
            <p:cNvSpPr/>
            <p:nvPr/>
          </p:nvSpPr>
          <p:spPr>
            <a:xfrm>
              <a:off x="1333423" y="1545431"/>
              <a:ext cx="1728173" cy="1781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50">
              <a:extLst>
                <a:ext uri="{FF2B5EF4-FFF2-40B4-BE49-F238E27FC236}">
                  <a16:creationId xmlns:a16="http://schemas.microsoft.com/office/drawing/2014/main" id="{DD780E37-5C9C-F037-FD88-A57555B782ED}"/>
                </a:ext>
              </a:extLst>
            </p:cNvPr>
            <p:cNvSpPr/>
            <p:nvPr/>
          </p:nvSpPr>
          <p:spPr>
            <a:xfrm>
              <a:off x="1421184" y="1647283"/>
              <a:ext cx="1552651" cy="1577470"/>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2" name="TextBox 23">
            <a:extLst>
              <a:ext uri="{FF2B5EF4-FFF2-40B4-BE49-F238E27FC236}">
                <a16:creationId xmlns:a16="http://schemas.microsoft.com/office/drawing/2014/main" id="{CB4DA96C-39DD-51B5-41A6-18E814E0387C}"/>
              </a:ext>
            </a:extLst>
          </p:cNvPr>
          <p:cNvSpPr txBox="1"/>
          <p:nvPr/>
        </p:nvSpPr>
        <p:spPr>
          <a:xfrm>
            <a:off x="1952989" y="966515"/>
            <a:ext cx="489042" cy="50025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2800" b="1" i="0" u="none" strike="noStrike" dirty="0">
                <a:solidFill>
                  <a:schemeClr val="tx1"/>
                </a:solidFill>
                <a:latin typeface="Aptos Narrow"/>
                <a:ea typeface="+mn-ea"/>
                <a:cs typeface="+mn-cs"/>
              </a:rPr>
              <a:t>2</a:t>
            </a:r>
          </a:p>
        </p:txBody>
      </p:sp>
      <p:sp>
        <p:nvSpPr>
          <p:cNvPr id="53" name="Rectangle: Rounded Corners 52">
            <a:extLst>
              <a:ext uri="{FF2B5EF4-FFF2-40B4-BE49-F238E27FC236}">
                <a16:creationId xmlns:a16="http://schemas.microsoft.com/office/drawing/2014/main" id="{7D006AB3-414D-9DA3-40D1-DD7B5DCBDEFC}"/>
              </a:ext>
            </a:extLst>
          </p:cNvPr>
          <p:cNvSpPr/>
          <p:nvPr/>
        </p:nvSpPr>
        <p:spPr>
          <a:xfrm>
            <a:off x="496968" y="2580052"/>
            <a:ext cx="1965304" cy="422088"/>
          </a:xfrm>
          <a:prstGeom prst="roundRect">
            <a:avLst>
              <a:gd name="adj" fmla="val 50000"/>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2">
                    <a:lumMod val="75000"/>
                    <a:lumOff val="25000"/>
                  </a:schemeClr>
                </a:solidFill>
              </a:rPr>
              <a:t>Overview</a:t>
            </a:r>
          </a:p>
        </p:txBody>
      </p:sp>
      <p:cxnSp>
        <p:nvCxnSpPr>
          <p:cNvPr id="13" name="Connector: Elbow 12">
            <a:extLst>
              <a:ext uri="{FF2B5EF4-FFF2-40B4-BE49-F238E27FC236}">
                <a16:creationId xmlns:a16="http://schemas.microsoft.com/office/drawing/2014/main" id="{B851DB33-1945-0230-81A3-07C18F270F55}"/>
              </a:ext>
            </a:extLst>
          </p:cNvPr>
          <p:cNvCxnSpPr>
            <a:cxnSpLocks/>
          </p:cNvCxnSpPr>
          <p:nvPr/>
        </p:nvCxnSpPr>
        <p:spPr>
          <a:xfrm rot="5400000" flipH="1" flipV="1">
            <a:off x="4367298" y="3500317"/>
            <a:ext cx="1354177" cy="1241013"/>
          </a:xfrm>
          <a:prstGeom prst="bentConnector3">
            <a:avLst>
              <a:gd name="adj1" fmla="val 98825"/>
            </a:avLst>
          </a:prstGeom>
          <a:ln>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cxnSp>
        <p:nvCxnSpPr>
          <p:cNvPr id="15" name="Connector: Elbow 14">
            <a:extLst>
              <a:ext uri="{FF2B5EF4-FFF2-40B4-BE49-F238E27FC236}">
                <a16:creationId xmlns:a16="http://schemas.microsoft.com/office/drawing/2014/main" id="{2EF082A2-CCF2-71FE-88A7-6D2EDB7BF92F}"/>
              </a:ext>
            </a:extLst>
          </p:cNvPr>
          <p:cNvCxnSpPr>
            <a:cxnSpLocks/>
          </p:cNvCxnSpPr>
          <p:nvPr/>
        </p:nvCxnSpPr>
        <p:spPr>
          <a:xfrm rot="5400000" flipH="1" flipV="1">
            <a:off x="8063191" y="2080482"/>
            <a:ext cx="1439999" cy="957886"/>
          </a:xfrm>
          <a:prstGeom prst="bentConnector3">
            <a:avLst>
              <a:gd name="adj1" fmla="val 2131"/>
            </a:avLst>
          </a:prstGeom>
          <a:ln>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9752C97D-0F72-F0D9-0679-714C6D6EF9CC}"/>
              </a:ext>
            </a:extLst>
          </p:cNvPr>
          <p:cNvSpPr/>
          <p:nvPr/>
        </p:nvSpPr>
        <p:spPr>
          <a:xfrm>
            <a:off x="4334010" y="593283"/>
            <a:ext cx="4299883" cy="42208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2">
                    <a:lumMod val="75000"/>
                    <a:lumOff val="25000"/>
                  </a:schemeClr>
                </a:solidFill>
              </a:rPr>
              <a:t>Customer Overview At A Glance</a:t>
            </a:r>
          </a:p>
        </p:txBody>
      </p:sp>
      <p:sp>
        <p:nvSpPr>
          <p:cNvPr id="22" name="Rectangle: Rounded Corners 21">
            <a:extLst>
              <a:ext uri="{FF2B5EF4-FFF2-40B4-BE49-F238E27FC236}">
                <a16:creationId xmlns:a16="http://schemas.microsoft.com/office/drawing/2014/main" id="{AB20E8C9-3D7F-703F-E24E-C3E95CE01D42}"/>
              </a:ext>
            </a:extLst>
          </p:cNvPr>
          <p:cNvSpPr/>
          <p:nvPr/>
        </p:nvSpPr>
        <p:spPr>
          <a:xfrm>
            <a:off x="4760995" y="5333180"/>
            <a:ext cx="4592088" cy="1083576"/>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lumMod val="85000"/>
                    <a:lumOff val="15000"/>
                  </a:schemeClr>
                </a:solidFill>
              </a:rPr>
              <a:t>Shows a very high churn rate suggesting customer dissatisfaction or loss of interest in products and services provided.</a:t>
            </a:r>
          </a:p>
        </p:txBody>
      </p:sp>
    </p:spTree>
    <p:extLst>
      <p:ext uri="{BB962C8B-B14F-4D97-AF65-F5344CB8AC3E}">
        <p14:creationId xmlns:p14="http://schemas.microsoft.com/office/powerpoint/2010/main" val="1806521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ECC2E-EF93-9BD7-2A0E-5E2008333EE8}"/>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431B46B-9387-9186-FB72-0408E333EDD9}"/>
              </a:ext>
            </a:extLst>
          </p:cNvPr>
          <p:cNvSpPr/>
          <p:nvPr/>
        </p:nvSpPr>
        <p:spPr>
          <a:xfrm>
            <a:off x="269630" y="158261"/>
            <a:ext cx="11723077" cy="6453553"/>
          </a:xfrm>
          <a:prstGeom prst="roundRect">
            <a:avLst>
              <a:gd name="adj" fmla="val 5223"/>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358120F1-DE3D-5294-2C95-9D8B0A84E87E}"/>
              </a:ext>
            </a:extLst>
          </p:cNvPr>
          <p:cNvSpPr/>
          <p:nvPr/>
        </p:nvSpPr>
        <p:spPr>
          <a:xfrm>
            <a:off x="2197510" y="158260"/>
            <a:ext cx="9795197" cy="6453553"/>
          </a:xfrm>
          <a:prstGeom prst="roundRect">
            <a:avLst>
              <a:gd name="adj" fmla="val 0"/>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60" name="Group 59">
            <a:extLst>
              <a:ext uri="{FF2B5EF4-FFF2-40B4-BE49-F238E27FC236}">
                <a16:creationId xmlns:a16="http://schemas.microsoft.com/office/drawing/2014/main" id="{D507D495-96EF-5DD8-711C-AA285DAF7E12}"/>
              </a:ext>
            </a:extLst>
          </p:cNvPr>
          <p:cNvGrpSpPr/>
          <p:nvPr/>
        </p:nvGrpSpPr>
        <p:grpSpPr>
          <a:xfrm>
            <a:off x="3154254" y="1281634"/>
            <a:ext cx="1917290" cy="1985961"/>
            <a:chOff x="2640944" y="2900290"/>
            <a:chExt cx="1917290" cy="1985961"/>
          </a:xfrm>
        </p:grpSpPr>
        <p:grpSp>
          <p:nvGrpSpPr>
            <p:cNvPr id="59" name="Group 58">
              <a:extLst>
                <a:ext uri="{FF2B5EF4-FFF2-40B4-BE49-F238E27FC236}">
                  <a16:creationId xmlns:a16="http://schemas.microsoft.com/office/drawing/2014/main" id="{5364E1BA-D5B7-6BF6-221F-31373F38A4DB}"/>
                </a:ext>
              </a:extLst>
            </p:cNvPr>
            <p:cNvGrpSpPr/>
            <p:nvPr/>
          </p:nvGrpSpPr>
          <p:grpSpPr>
            <a:xfrm>
              <a:off x="2640944" y="2900290"/>
              <a:ext cx="1917290" cy="1985961"/>
              <a:chOff x="2640944" y="2900290"/>
              <a:chExt cx="1917290" cy="1985961"/>
            </a:xfrm>
          </p:grpSpPr>
          <p:sp>
            <p:nvSpPr>
              <p:cNvPr id="19" name="Oval 18">
                <a:extLst>
                  <a:ext uri="{FF2B5EF4-FFF2-40B4-BE49-F238E27FC236}">
                    <a16:creationId xmlns:a16="http://schemas.microsoft.com/office/drawing/2014/main" id="{EEA7B202-E226-177C-CD29-BC208B5F112B}"/>
                  </a:ext>
                </a:extLst>
              </p:cNvPr>
              <p:cNvSpPr/>
              <p:nvPr/>
            </p:nvSpPr>
            <p:spPr>
              <a:xfrm>
                <a:off x="2640944" y="2900290"/>
                <a:ext cx="1917290" cy="1985961"/>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C12DEADD-9899-433A-D3AE-01F00C9F5212}"/>
                  </a:ext>
                </a:extLst>
              </p:cNvPr>
              <p:cNvSpPr/>
              <p:nvPr/>
            </p:nvSpPr>
            <p:spPr>
              <a:xfrm>
                <a:off x="2735502" y="3002682"/>
                <a:ext cx="1728173" cy="1781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4CF2C6E2-7EDD-735E-ED85-6EC725C29D18}"/>
                  </a:ext>
                </a:extLst>
              </p:cNvPr>
              <p:cNvSpPr/>
              <p:nvPr/>
            </p:nvSpPr>
            <p:spPr>
              <a:xfrm>
                <a:off x="2823263" y="3104534"/>
                <a:ext cx="1552651" cy="1577470"/>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4" name="TextBox 23">
              <a:extLst>
                <a:ext uri="{FF2B5EF4-FFF2-40B4-BE49-F238E27FC236}">
                  <a16:creationId xmlns:a16="http://schemas.microsoft.com/office/drawing/2014/main" id="{12450D0B-25F2-BD6A-F96F-B44B5FC4D78F}"/>
                </a:ext>
              </a:extLst>
            </p:cNvPr>
            <p:cNvSpPr txBox="1"/>
            <p:nvPr/>
          </p:nvSpPr>
          <p:spPr>
            <a:xfrm>
              <a:off x="3208806" y="3286254"/>
              <a:ext cx="865833" cy="67212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2800" b="1" i="0" u="none" strike="noStrike" dirty="0">
                  <a:solidFill>
                    <a:schemeClr val="tx1"/>
                  </a:solidFill>
                  <a:latin typeface="Aptos Narrow"/>
                  <a:ea typeface="+mn-ea"/>
                  <a:cs typeface="+mn-cs"/>
                </a:rPr>
                <a:t>385</a:t>
              </a:r>
            </a:p>
          </p:txBody>
        </p:sp>
        <p:sp>
          <p:nvSpPr>
            <p:cNvPr id="45" name="TextBox 23">
              <a:extLst>
                <a:ext uri="{FF2B5EF4-FFF2-40B4-BE49-F238E27FC236}">
                  <a16:creationId xmlns:a16="http://schemas.microsoft.com/office/drawing/2014/main" id="{AE30F80B-6210-3926-8338-DAC2BE8D76DF}"/>
                </a:ext>
              </a:extLst>
            </p:cNvPr>
            <p:cNvSpPr txBox="1"/>
            <p:nvPr/>
          </p:nvSpPr>
          <p:spPr>
            <a:xfrm>
              <a:off x="2772559" y="3811165"/>
              <a:ext cx="1703468" cy="67212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defPPr>
                <a:defRPr lang="en-US"/>
              </a:defPPr>
              <a:lvl1pPr indent="0">
                <a:defRPr b="1" i="0" u="none" strike="noStrike">
                  <a:solidFill>
                    <a:schemeClr val="tx1"/>
                  </a:solidFill>
                  <a:latin typeface="Aptos Narrow"/>
                </a:defRPr>
              </a:lvl1pPr>
              <a:lvl2pPr indent="0">
                <a:defRPr sz="1100"/>
              </a:lvl2pPr>
              <a:lvl3pPr indent="0">
                <a:defRPr sz="1100"/>
              </a:lvl3pPr>
              <a:lvl4pPr indent="0">
                <a:defRPr sz="1100"/>
              </a:lvl4pPr>
              <a:lvl5pPr indent="0">
                <a:defRPr sz="1100"/>
              </a:lvl5pPr>
              <a:lvl6pPr indent="0">
                <a:defRPr sz="1100"/>
              </a:lvl6pPr>
              <a:lvl7pPr indent="0">
                <a:defRPr sz="1100"/>
              </a:lvl7pPr>
              <a:lvl8pPr indent="0">
                <a:defRPr sz="1100"/>
              </a:lvl8pPr>
              <a:lvl9pPr indent="0">
                <a:defRPr sz="1100"/>
              </a:lvl9pPr>
            </a:lstStyle>
            <a:p>
              <a:pPr algn="ctr"/>
              <a:r>
                <a:rPr lang="en-US" dirty="0"/>
                <a:t>Complaints made</a:t>
              </a:r>
            </a:p>
          </p:txBody>
        </p:sp>
      </p:grpSp>
      <p:grpSp>
        <p:nvGrpSpPr>
          <p:cNvPr id="58" name="Group 57">
            <a:extLst>
              <a:ext uri="{FF2B5EF4-FFF2-40B4-BE49-F238E27FC236}">
                <a16:creationId xmlns:a16="http://schemas.microsoft.com/office/drawing/2014/main" id="{5A1389A1-4A32-72DF-7CE3-37D5C8C13D5A}"/>
              </a:ext>
            </a:extLst>
          </p:cNvPr>
          <p:cNvGrpSpPr/>
          <p:nvPr/>
        </p:nvGrpSpPr>
        <p:grpSpPr>
          <a:xfrm>
            <a:off x="9145790" y="1216642"/>
            <a:ext cx="1917290" cy="1985961"/>
            <a:chOff x="8792012" y="2900290"/>
            <a:chExt cx="1917290" cy="1985961"/>
          </a:xfrm>
        </p:grpSpPr>
        <p:sp>
          <p:nvSpPr>
            <p:cNvPr id="5" name="Oval 4">
              <a:extLst>
                <a:ext uri="{FF2B5EF4-FFF2-40B4-BE49-F238E27FC236}">
                  <a16:creationId xmlns:a16="http://schemas.microsoft.com/office/drawing/2014/main" id="{A83DBACF-5759-EFE3-E60B-EC9E69F99EF2}"/>
                </a:ext>
              </a:extLst>
            </p:cNvPr>
            <p:cNvSpPr/>
            <p:nvPr/>
          </p:nvSpPr>
          <p:spPr>
            <a:xfrm>
              <a:off x="8792012" y="2900290"/>
              <a:ext cx="1917290" cy="1985961"/>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3B797DC7-0E13-A600-E93E-268D6931369F}"/>
                </a:ext>
              </a:extLst>
            </p:cNvPr>
            <p:cNvSpPr/>
            <p:nvPr/>
          </p:nvSpPr>
          <p:spPr>
            <a:xfrm>
              <a:off x="8886570" y="3002682"/>
              <a:ext cx="1728173" cy="1781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B67A1D38-B7C0-7973-8EBF-E1FB7696B01C}"/>
                </a:ext>
              </a:extLst>
            </p:cNvPr>
            <p:cNvSpPr/>
            <p:nvPr/>
          </p:nvSpPr>
          <p:spPr>
            <a:xfrm>
              <a:off x="8974331" y="3104534"/>
              <a:ext cx="1552651" cy="1577470"/>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TextBox 23">
              <a:extLst>
                <a:ext uri="{FF2B5EF4-FFF2-40B4-BE49-F238E27FC236}">
                  <a16:creationId xmlns:a16="http://schemas.microsoft.com/office/drawing/2014/main" id="{1952D741-5C7D-1557-6679-3FF8A027D5B9}"/>
                </a:ext>
              </a:extLst>
            </p:cNvPr>
            <p:cNvSpPr txBox="1"/>
            <p:nvPr/>
          </p:nvSpPr>
          <p:spPr>
            <a:xfrm>
              <a:off x="9326809" y="3208772"/>
              <a:ext cx="847693" cy="52595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defPPr>
                <a:defRPr lang="en-US"/>
              </a:defPPr>
              <a:lvl1pPr indent="0">
                <a:defRPr sz="2800" b="1" i="0" u="none" strike="noStrike">
                  <a:solidFill>
                    <a:schemeClr val="tx1"/>
                  </a:solidFill>
                  <a:latin typeface="Aptos Narrow"/>
                </a:defRPr>
              </a:lvl1pPr>
              <a:lvl2pPr indent="0">
                <a:defRPr sz="1100"/>
              </a:lvl2pPr>
              <a:lvl3pPr indent="0">
                <a:defRPr sz="1100"/>
              </a:lvl3pPr>
              <a:lvl4pPr indent="0">
                <a:defRPr sz="1100"/>
              </a:lvl4pPr>
              <a:lvl5pPr indent="0">
                <a:defRPr sz="1100"/>
              </a:lvl5pPr>
              <a:lvl6pPr indent="0">
                <a:defRPr sz="1100"/>
              </a:lvl6pPr>
              <a:lvl7pPr indent="0">
                <a:defRPr sz="1100"/>
              </a:lvl7pPr>
              <a:lvl8pPr indent="0">
                <a:defRPr sz="1100"/>
              </a:lvl8pPr>
              <a:lvl9pPr indent="0">
                <a:defRPr sz="1100"/>
              </a:lvl9pPr>
            </a:lstStyle>
            <a:p>
              <a:fld id="{443B6B5F-4AAD-45B1-A968-31CCB308D056}" type="TxLink">
                <a:rPr lang="en-US" smtClean="0"/>
                <a:pPr/>
                <a:t>530</a:t>
              </a:fld>
              <a:endParaRPr lang="en-US" dirty="0"/>
            </a:p>
          </p:txBody>
        </p:sp>
        <p:sp>
          <p:nvSpPr>
            <p:cNvPr id="47" name="TextBox 23">
              <a:extLst>
                <a:ext uri="{FF2B5EF4-FFF2-40B4-BE49-F238E27FC236}">
                  <a16:creationId xmlns:a16="http://schemas.microsoft.com/office/drawing/2014/main" id="{85811FC4-6BD5-7458-8E63-18715257BA31}"/>
                </a:ext>
              </a:extLst>
            </p:cNvPr>
            <p:cNvSpPr txBox="1"/>
            <p:nvPr/>
          </p:nvSpPr>
          <p:spPr>
            <a:xfrm>
              <a:off x="9085672" y="3807610"/>
              <a:ext cx="1329966" cy="424566"/>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defPPr>
                <a:defRPr lang="en-US"/>
              </a:defPPr>
              <a:lvl1pPr indent="0" algn="ctr">
                <a:defRPr b="1" i="0" u="none" strike="noStrike">
                  <a:solidFill>
                    <a:schemeClr val="tx1"/>
                  </a:solidFill>
                  <a:latin typeface="Aptos Narrow"/>
                </a:defRPr>
              </a:lvl1pPr>
              <a:lvl2pPr indent="0">
                <a:defRPr sz="1100"/>
              </a:lvl2pPr>
              <a:lvl3pPr indent="0">
                <a:defRPr sz="1100"/>
              </a:lvl3pPr>
              <a:lvl4pPr indent="0">
                <a:defRPr sz="1100"/>
              </a:lvl4pPr>
              <a:lvl5pPr indent="0">
                <a:defRPr sz="1100"/>
              </a:lvl5pPr>
              <a:lvl6pPr indent="0">
                <a:defRPr sz="1100"/>
              </a:lvl6pPr>
              <a:lvl7pPr indent="0">
                <a:defRPr sz="1100"/>
              </a:lvl7pPr>
              <a:lvl8pPr indent="0">
                <a:defRPr sz="1100"/>
              </a:lvl8pPr>
              <a:lvl9pPr indent="0">
                <a:defRPr sz="1100"/>
              </a:lvl9pPr>
            </a:lstStyle>
            <a:p>
              <a:r>
                <a:rPr lang="en-US" dirty="0"/>
                <a:t>Items Returned</a:t>
              </a:r>
            </a:p>
          </p:txBody>
        </p:sp>
      </p:grpSp>
      <p:grpSp>
        <p:nvGrpSpPr>
          <p:cNvPr id="48" name="Group 47">
            <a:extLst>
              <a:ext uri="{FF2B5EF4-FFF2-40B4-BE49-F238E27FC236}">
                <a16:creationId xmlns:a16="http://schemas.microsoft.com/office/drawing/2014/main" id="{36132DB3-BE91-8221-4B80-499B213AA7FF}"/>
              </a:ext>
            </a:extLst>
          </p:cNvPr>
          <p:cNvGrpSpPr/>
          <p:nvPr/>
        </p:nvGrpSpPr>
        <p:grpSpPr>
          <a:xfrm>
            <a:off x="1571740" y="755582"/>
            <a:ext cx="1118229" cy="1052107"/>
            <a:chOff x="1238865" y="1443039"/>
            <a:chExt cx="1917290" cy="1985961"/>
          </a:xfrm>
        </p:grpSpPr>
        <p:sp>
          <p:nvSpPr>
            <p:cNvPr id="49" name="Oval 48">
              <a:extLst>
                <a:ext uri="{FF2B5EF4-FFF2-40B4-BE49-F238E27FC236}">
                  <a16:creationId xmlns:a16="http://schemas.microsoft.com/office/drawing/2014/main" id="{090C0771-F2C3-C3F2-95E4-603D7ADA2091}"/>
                </a:ext>
              </a:extLst>
            </p:cNvPr>
            <p:cNvSpPr/>
            <p:nvPr/>
          </p:nvSpPr>
          <p:spPr>
            <a:xfrm>
              <a:off x="1238865" y="1443039"/>
              <a:ext cx="1917290" cy="1985961"/>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Oval 49">
              <a:extLst>
                <a:ext uri="{FF2B5EF4-FFF2-40B4-BE49-F238E27FC236}">
                  <a16:creationId xmlns:a16="http://schemas.microsoft.com/office/drawing/2014/main" id="{98A0DE89-F042-1137-890A-D78481518781}"/>
                </a:ext>
              </a:extLst>
            </p:cNvPr>
            <p:cNvSpPr/>
            <p:nvPr/>
          </p:nvSpPr>
          <p:spPr>
            <a:xfrm>
              <a:off x="1333423" y="1545431"/>
              <a:ext cx="1728173" cy="1781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50">
              <a:extLst>
                <a:ext uri="{FF2B5EF4-FFF2-40B4-BE49-F238E27FC236}">
                  <a16:creationId xmlns:a16="http://schemas.microsoft.com/office/drawing/2014/main" id="{1EF83940-DE38-36F0-DC16-E564EED14894}"/>
                </a:ext>
              </a:extLst>
            </p:cNvPr>
            <p:cNvSpPr/>
            <p:nvPr/>
          </p:nvSpPr>
          <p:spPr>
            <a:xfrm>
              <a:off x="1421184" y="1647283"/>
              <a:ext cx="1552651" cy="1577470"/>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2" name="TextBox 23">
            <a:extLst>
              <a:ext uri="{FF2B5EF4-FFF2-40B4-BE49-F238E27FC236}">
                <a16:creationId xmlns:a16="http://schemas.microsoft.com/office/drawing/2014/main" id="{6B6BE0D0-6268-CC01-08CD-15788D0DEA87}"/>
              </a:ext>
            </a:extLst>
          </p:cNvPr>
          <p:cNvSpPr txBox="1"/>
          <p:nvPr/>
        </p:nvSpPr>
        <p:spPr>
          <a:xfrm>
            <a:off x="1952989" y="966515"/>
            <a:ext cx="489042" cy="50025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2800" b="1" dirty="0">
                <a:solidFill>
                  <a:schemeClr val="tx1"/>
                </a:solidFill>
                <a:latin typeface="Aptos Narrow"/>
              </a:rPr>
              <a:t>3</a:t>
            </a:r>
            <a:endParaRPr lang="en-US" sz="2800" b="1" i="0" u="none" strike="noStrike" dirty="0">
              <a:solidFill>
                <a:schemeClr val="tx1"/>
              </a:solidFill>
              <a:latin typeface="Aptos Narrow"/>
              <a:ea typeface="+mn-ea"/>
              <a:cs typeface="+mn-cs"/>
            </a:endParaRPr>
          </a:p>
        </p:txBody>
      </p:sp>
      <p:sp>
        <p:nvSpPr>
          <p:cNvPr id="53" name="Rectangle: Rounded Corners 52">
            <a:extLst>
              <a:ext uri="{FF2B5EF4-FFF2-40B4-BE49-F238E27FC236}">
                <a16:creationId xmlns:a16="http://schemas.microsoft.com/office/drawing/2014/main" id="{0EE632A6-0E08-626F-46C9-AE512D4AF9EE}"/>
              </a:ext>
            </a:extLst>
          </p:cNvPr>
          <p:cNvSpPr/>
          <p:nvPr/>
        </p:nvSpPr>
        <p:spPr>
          <a:xfrm>
            <a:off x="496968" y="2580052"/>
            <a:ext cx="1965304" cy="422088"/>
          </a:xfrm>
          <a:prstGeom prst="roundRect">
            <a:avLst>
              <a:gd name="adj" fmla="val 50000"/>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2">
                    <a:lumMod val="75000"/>
                    <a:lumOff val="25000"/>
                  </a:schemeClr>
                </a:solidFill>
              </a:rPr>
              <a:t>Overview</a:t>
            </a:r>
          </a:p>
        </p:txBody>
      </p:sp>
      <p:sp>
        <p:nvSpPr>
          <p:cNvPr id="18" name="Rectangle: Rounded Corners 17">
            <a:extLst>
              <a:ext uri="{FF2B5EF4-FFF2-40B4-BE49-F238E27FC236}">
                <a16:creationId xmlns:a16="http://schemas.microsoft.com/office/drawing/2014/main" id="{AEB47EB0-AB64-11FE-4E50-4E666EAC0F07}"/>
              </a:ext>
            </a:extLst>
          </p:cNvPr>
          <p:cNvSpPr/>
          <p:nvPr/>
        </p:nvSpPr>
        <p:spPr>
          <a:xfrm>
            <a:off x="4617849" y="454929"/>
            <a:ext cx="4636297" cy="42208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2">
                    <a:lumMod val="75000"/>
                    <a:lumOff val="25000"/>
                  </a:schemeClr>
                </a:solidFill>
              </a:rPr>
              <a:t>Breakdown Of Customer Satisfaction</a:t>
            </a:r>
          </a:p>
        </p:txBody>
      </p:sp>
      <p:sp>
        <p:nvSpPr>
          <p:cNvPr id="22" name="Rectangle: Rounded Corners 21">
            <a:extLst>
              <a:ext uri="{FF2B5EF4-FFF2-40B4-BE49-F238E27FC236}">
                <a16:creationId xmlns:a16="http://schemas.microsoft.com/office/drawing/2014/main" id="{FAE8F4EC-5BC2-420B-0C18-4C1693806415}"/>
              </a:ext>
            </a:extLst>
          </p:cNvPr>
          <p:cNvSpPr/>
          <p:nvPr/>
        </p:nvSpPr>
        <p:spPr>
          <a:xfrm>
            <a:off x="4760995" y="5333180"/>
            <a:ext cx="4592088" cy="1083576"/>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lumMod val="85000"/>
                    <a:lumOff val="15000"/>
                  </a:schemeClr>
                </a:solidFill>
              </a:rPr>
              <a:t>Shows a very high rate of customer dissatisfaction to the products and services provided.</a:t>
            </a:r>
          </a:p>
        </p:txBody>
      </p:sp>
      <p:grpSp>
        <p:nvGrpSpPr>
          <p:cNvPr id="23" name="Group 22">
            <a:extLst>
              <a:ext uri="{FF2B5EF4-FFF2-40B4-BE49-F238E27FC236}">
                <a16:creationId xmlns:a16="http://schemas.microsoft.com/office/drawing/2014/main" id="{BBA8F235-6AC8-55BC-E612-9A72DEC2D443}"/>
              </a:ext>
            </a:extLst>
          </p:cNvPr>
          <p:cNvGrpSpPr/>
          <p:nvPr/>
        </p:nvGrpSpPr>
        <p:grpSpPr>
          <a:xfrm>
            <a:off x="6201358" y="2392055"/>
            <a:ext cx="2119086" cy="1985961"/>
            <a:chOff x="8747724" y="2900290"/>
            <a:chExt cx="2119086" cy="1985961"/>
          </a:xfrm>
        </p:grpSpPr>
        <p:sp>
          <p:nvSpPr>
            <p:cNvPr id="24" name="Oval 23">
              <a:extLst>
                <a:ext uri="{FF2B5EF4-FFF2-40B4-BE49-F238E27FC236}">
                  <a16:creationId xmlns:a16="http://schemas.microsoft.com/office/drawing/2014/main" id="{3D0A4431-690B-1CC5-4BD6-7712DC9A834D}"/>
                </a:ext>
              </a:extLst>
            </p:cNvPr>
            <p:cNvSpPr/>
            <p:nvPr/>
          </p:nvSpPr>
          <p:spPr>
            <a:xfrm>
              <a:off x="8792012" y="2900290"/>
              <a:ext cx="1917290" cy="1985961"/>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5BA70268-E816-F7C0-ABFD-9DC14A395D32}"/>
                </a:ext>
              </a:extLst>
            </p:cNvPr>
            <p:cNvSpPr/>
            <p:nvPr/>
          </p:nvSpPr>
          <p:spPr>
            <a:xfrm>
              <a:off x="8886570" y="3002682"/>
              <a:ext cx="1728173" cy="1781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9CEFF3F5-2D12-24F8-3E99-CD031136D01C}"/>
                </a:ext>
              </a:extLst>
            </p:cNvPr>
            <p:cNvSpPr/>
            <p:nvPr/>
          </p:nvSpPr>
          <p:spPr>
            <a:xfrm>
              <a:off x="8974331" y="3104534"/>
              <a:ext cx="1552651" cy="1577470"/>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3">
              <a:extLst>
                <a:ext uri="{FF2B5EF4-FFF2-40B4-BE49-F238E27FC236}">
                  <a16:creationId xmlns:a16="http://schemas.microsoft.com/office/drawing/2014/main" id="{75064033-7B97-77C4-4301-094B759D670E}"/>
                </a:ext>
              </a:extLst>
            </p:cNvPr>
            <p:cNvSpPr txBox="1"/>
            <p:nvPr/>
          </p:nvSpPr>
          <p:spPr>
            <a:xfrm>
              <a:off x="9313783" y="3170509"/>
              <a:ext cx="980403" cy="52595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defPPr>
                <a:defRPr lang="en-US"/>
              </a:defPPr>
              <a:lvl1pPr indent="0">
                <a:defRPr sz="2800" b="1" i="0" u="none" strike="noStrike">
                  <a:solidFill>
                    <a:schemeClr val="tx1"/>
                  </a:solidFill>
                  <a:latin typeface="Aptos Narrow"/>
                </a:defRPr>
              </a:lvl1pPr>
              <a:lvl2pPr indent="0">
                <a:defRPr sz="1100"/>
              </a:lvl2pPr>
              <a:lvl3pPr indent="0">
                <a:defRPr sz="1100"/>
              </a:lvl3pPr>
              <a:lvl4pPr indent="0">
                <a:defRPr sz="1100"/>
              </a:lvl4pPr>
              <a:lvl5pPr indent="0">
                <a:defRPr sz="1100"/>
              </a:lvl5pPr>
              <a:lvl6pPr indent="0">
                <a:defRPr sz="1100"/>
              </a:lvl6pPr>
              <a:lvl7pPr indent="0">
                <a:defRPr sz="1100"/>
              </a:lvl7pPr>
              <a:lvl8pPr indent="0">
                <a:defRPr sz="1100"/>
              </a:lvl8pPr>
              <a:lvl9pPr indent="0">
                <a:defRPr sz="1100"/>
              </a:lvl9pPr>
            </a:lstStyle>
            <a:p>
              <a:r>
                <a:rPr lang="en-GB" dirty="0"/>
                <a:t>7245</a:t>
              </a:r>
              <a:endParaRPr lang="en-US" dirty="0"/>
            </a:p>
          </p:txBody>
        </p:sp>
        <p:sp>
          <p:nvSpPr>
            <p:cNvPr id="28" name="TextBox 23">
              <a:extLst>
                <a:ext uri="{FF2B5EF4-FFF2-40B4-BE49-F238E27FC236}">
                  <a16:creationId xmlns:a16="http://schemas.microsoft.com/office/drawing/2014/main" id="{A435A470-22FE-5A49-4F43-4798346BF843}"/>
                </a:ext>
              </a:extLst>
            </p:cNvPr>
            <p:cNvSpPr txBox="1"/>
            <p:nvPr/>
          </p:nvSpPr>
          <p:spPr>
            <a:xfrm>
              <a:off x="8747724" y="3798316"/>
              <a:ext cx="2119086" cy="424566"/>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lgn="ctr"/>
              <a:r>
                <a:rPr lang="en-US" sz="1800" b="1" i="0" u="none" strike="noStrike" dirty="0">
                  <a:solidFill>
                    <a:schemeClr val="tx1"/>
                  </a:solidFill>
                  <a:latin typeface="Aptos Narrow"/>
                  <a:ea typeface="+mn-ea"/>
                  <a:cs typeface="+mn-cs"/>
                </a:rPr>
                <a:t>Total Quantity Purchased</a:t>
              </a:r>
            </a:p>
          </p:txBody>
        </p:sp>
      </p:grpSp>
      <p:grpSp>
        <p:nvGrpSpPr>
          <p:cNvPr id="29" name="Group 28">
            <a:extLst>
              <a:ext uri="{FF2B5EF4-FFF2-40B4-BE49-F238E27FC236}">
                <a16:creationId xmlns:a16="http://schemas.microsoft.com/office/drawing/2014/main" id="{2ED46F8C-4D46-2D05-BC85-11E4970B2916}"/>
              </a:ext>
            </a:extLst>
          </p:cNvPr>
          <p:cNvGrpSpPr/>
          <p:nvPr/>
        </p:nvGrpSpPr>
        <p:grpSpPr>
          <a:xfrm>
            <a:off x="9312333" y="3564862"/>
            <a:ext cx="1917290" cy="1985961"/>
            <a:chOff x="8792012" y="2900290"/>
            <a:chExt cx="1917290" cy="1985961"/>
          </a:xfrm>
        </p:grpSpPr>
        <p:sp>
          <p:nvSpPr>
            <p:cNvPr id="30" name="Oval 29">
              <a:extLst>
                <a:ext uri="{FF2B5EF4-FFF2-40B4-BE49-F238E27FC236}">
                  <a16:creationId xmlns:a16="http://schemas.microsoft.com/office/drawing/2014/main" id="{BB9E13ED-8019-1E7C-6E6E-395680FDACCE}"/>
                </a:ext>
              </a:extLst>
            </p:cNvPr>
            <p:cNvSpPr/>
            <p:nvPr/>
          </p:nvSpPr>
          <p:spPr>
            <a:xfrm>
              <a:off x="8792012" y="2900290"/>
              <a:ext cx="1917290" cy="1985961"/>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0B501B93-07DD-DBDC-F9F9-95C91EF36002}"/>
                </a:ext>
              </a:extLst>
            </p:cNvPr>
            <p:cNvSpPr/>
            <p:nvPr/>
          </p:nvSpPr>
          <p:spPr>
            <a:xfrm>
              <a:off x="8886570" y="3002682"/>
              <a:ext cx="1728173" cy="1781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a:extLst>
                <a:ext uri="{FF2B5EF4-FFF2-40B4-BE49-F238E27FC236}">
                  <a16:creationId xmlns:a16="http://schemas.microsoft.com/office/drawing/2014/main" id="{7B118572-5933-3A92-6DBD-F6A6BF93CE01}"/>
                </a:ext>
              </a:extLst>
            </p:cNvPr>
            <p:cNvSpPr/>
            <p:nvPr/>
          </p:nvSpPr>
          <p:spPr>
            <a:xfrm>
              <a:off x="8974331" y="3104534"/>
              <a:ext cx="1552651" cy="1577470"/>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23">
              <a:extLst>
                <a:ext uri="{FF2B5EF4-FFF2-40B4-BE49-F238E27FC236}">
                  <a16:creationId xmlns:a16="http://schemas.microsoft.com/office/drawing/2014/main" id="{B6C57078-36C1-2D67-C225-1EC60F360769}"/>
                </a:ext>
              </a:extLst>
            </p:cNvPr>
            <p:cNvSpPr txBox="1"/>
            <p:nvPr/>
          </p:nvSpPr>
          <p:spPr>
            <a:xfrm>
              <a:off x="9387084" y="3278074"/>
              <a:ext cx="847693" cy="52595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defPPr>
                <a:defRPr lang="en-US"/>
              </a:defPPr>
              <a:lvl1pPr indent="0">
                <a:defRPr sz="2800" b="1" i="0" u="none" strike="noStrike">
                  <a:solidFill>
                    <a:schemeClr val="tx1"/>
                  </a:solidFill>
                  <a:latin typeface="Aptos Narrow"/>
                </a:defRPr>
              </a:lvl1pPr>
              <a:lvl2pPr indent="0">
                <a:defRPr sz="1100"/>
              </a:lvl2pPr>
              <a:lvl3pPr indent="0">
                <a:defRPr sz="1100"/>
              </a:lvl3pPr>
              <a:lvl4pPr indent="0">
                <a:defRPr sz="1100"/>
              </a:lvl4pPr>
              <a:lvl5pPr indent="0">
                <a:defRPr sz="1100"/>
              </a:lvl5pPr>
              <a:lvl6pPr indent="0">
                <a:defRPr sz="1100"/>
              </a:lvl6pPr>
              <a:lvl7pPr indent="0">
                <a:defRPr sz="1100"/>
              </a:lvl7pPr>
              <a:lvl8pPr indent="0">
                <a:defRPr sz="1100"/>
              </a:lvl8pPr>
              <a:lvl9pPr indent="0">
                <a:defRPr sz="1100"/>
              </a:lvl9pPr>
            </a:lstStyle>
            <a:p>
              <a:r>
                <a:rPr lang="en-GB" dirty="0"/>
                <a:t>333</a:t>
              </a:r>
              <a:endParaRPr lang="en-US" dirty="0"/>
            </a:p>
          </p:txBody>
        </p:sp>
        <p:sp>
          <p:nvSpPr>
            <p:cNvPr id="34" name="TextBox 23">
              <a:extLst>
                <a:ext uri="{FF2B5EF4-FFF2-40B4-BE49-F238E27FC236}">
                  <a16:creationId xmlns:a16="http://schemas.microsoft.com/office/drawing/2014/main" id="{8C90D37E-426B-7CC3-5D78-587F96730809}"/>
                </a:ext>
              </a:extLst>
            </p:cNvPr>
            <p:cNvSpPr txBox="1"/>
            <p:nvPr/>
          </p:nvSpPr>
          <p:spPr>
            <a:xfrm>
              <a:off x="9032707" y="3870683"/>
              <a:ext cx="1327732" cy="424566"/>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lgn="ctr"/>
              <a:r>
                <a:rPr lang="en-US" sz="1800" b="1" i="0" u="none" strike="noStrike" dirty="0">
                  <a:solidFill>
                    <a:schemeClr val="tx1"/>
                  </a:solidFill>
                  <a:latin typeface="Aptos Narrow"/>
                  <a:ea typeface="+mn-ea"/>
                  <a:cs typeface="+mn-cs"/>
                </a:rPr>
                <a:t>Cancelled Orders</a:t>
              </a:r>
            </a:p>
          </p:txBody>
        </p:sp>
      </p:grpSp>
      <p:grpSp>
        <p:nvGrpSpPr>
          <p:cNvPr id="35" name="Group 34">
            <a:extLst>
              <a:ext uri="{FF2B5EF4-FFF2-40B4-BE49-F238E27FC236}">
                <a16:creationId xmlns:a16="http://schemas.microsoft.com/office/drawing/2014/main" id="{C09305A0-277C-2F42-B94B-F3DB1CE2673F}"/>
              </a:ext>
            </a:extLst>
          </p:cNvPr>
          <p:cNvGrpSpPr/>
          <p:nvPr/>
        </p:nvGrpSpPr>
        <p:grpSpPr>
          <a:xfrm>
            <a:off x="3178959" y="3542276"/>
            <a:ext cx="1917290" cy="1985961"/>
            <a:chOff x="8792012" y="2900290"/>
            <a:chExt cx="1917290" cy="1985961"/>
          </a:xfrm>
        </p:grpSpPr>
        <p:sp>
          <p:nvSpPr>
            <p:cNvPr id="36" name="Oval 35">
              <a:extLst>
                <a:ext uri="{FF2B5EF4-FFF2-40B4-BE49-F238E27FC236}">
                  <a16:creationId xmlns:a16="http://schemas.microsoft.com/office/drawing/2014/main" id="{916B0FAE-7B0C-9F6A-0814-BDBA616551F1}"/>
                </a:ext>
              </a:extLst>
            </p:cNvPr>
            <p:cNvSpPr/>
            <p:nvPr/>
          </p:nvSpPr>
          <p:spPr>
            <a:xfrm>
              <a:off x="8792012" y="2900290"/>
              <a:ext cx="1917290" cy="1985961"/>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a:extLst>
                <a:ext uri="{FF2B5EF4-FFF2-40B4-BE49-F238E27FC236}">
                  <a16:creationId xmlns:a16="http://schemas.microsoft.com/office/drawing/2014/main" id="{76630609-C788-7103-9081-F29A443958F6}"/>
                </a:ext>
              </a:extLst>
            </p:cNvPr>
            <p:cNvSpPr/>
            <p:nvPr/>
          </p:nvSpPr>
          <p:spPr>
            <a:xfrm>
              <a:off x="8886570" y="3002682"/>
              <a:ext cx="1728173" cy="1781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val 37">
              <a:extLst>
                <a:ext uri="{FF2B5EF4-FFF2-40B4-BE49-F238E27FC236}">
                  <a16:creationId xmlns:a16="http://schemas.microsoft.com/office/drawing/2014/main" id="{CC8160C4-B441-BF5F-9685-B70C70043604}"/>
                </a:ext>
              </a:extLst>
            </p:cNvPr>
            <p:cNvSpPr/>
            <p:nvPr/>
          </p:nvSpPr>
          <p:spPr>
            <a:xfrm>
              <a:off x="8974331" y="3104534"/>
              <a:ext cx="1552651" cy="1577470"/>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TextBox 23">
              <a:extLst>
                <a:ext uri="{FF2B5EF4-FFF2-40B4-BE49-F238E27FC236}">
                  <a16:creationId xmlns:a16="http://schemas.microsoft.com/office/drawing/2014/main" id="{1282F424-ED25-28A2-80B1-08B2C3826D54}"/>
                </a:ext>
              </a:extLst>
            </p:cNvPr>
            <p:cNvSpPr txBox="1"/>
            <p:nvPr/>
          </p:nvSpPr>
          <p:spPr>
            <a:xfrm>
              <a:off x="9385801" y="3269111"/>
              <a:ext cx="847693" cy="52595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defPPr>
                <a:defRPr lang="en-US"/>
              </a:defPPr>
              <a:lvl1pPr indent="0">
                <a:defRPr sz="2800" b="1" i="0" u="none" strike="noStrike">
                  <a:solidFill>
                    <a:schemeClr val="tx1"/>
                  </a:solidFill>
                  <a:latin typeface="Aptos Narrow"/>
                </a:defRPr>
              </a:lvl1pPr>
              <a:lvl2pPr indent="0">
                <a:defRPr sz="1100"/>
              </a:lvl2pPr>
              <a:lvl3pPr indent="0">
                <a:defRPr sz="1100"/>
              </a:lvl3pPr>
              <a:lvl4pPr indent="0">
                <a:defRPr sz="1100"/>
              </a:lvl4pPr>
              <a:lvl5pPr indent="0">
                <a:defRPr sz="1100"/>
              </a:lvl5pPr>
              <a:lvl6pPr indent="0">
                <a:defRPr sz="1100"/>
              </a:lvl6pPr>
              <a:lvl7pPr indent="0">
                <a:defRPr sz="1100"/>
              </a:lvl7pPr>
              <a:lvl8pPr indent="0">
                <a:defRPr sz="1100"/>
              </a:lvl8pPr>
              <a:lvl9pPr indent="0">
                <a:defRPr sz="1100"/>
              </a:lvl9pPr>
            </a:lstStyle>
            <a:p>
              <a:fld id="{86EC4A8E-F101-4E5F-AED0-5A58B094C180}" type="TxLink">
                <a:rPr lang="en-US" smtClean="0"/>
                <a:pPr/>
                <a:t>498</a:t>
              </a:fld>
              <a:endParaRPr lang="en-US" dirty="0"/>
            </a:p>
          </p:txBody>
        </p:sp>
        <p:sp>
          <p:nvSpPr>
            <p:cNvPr id="40" name="TextBox 23">
              <a:extLst>
                <a:ext uri="{FF2B5EF4-FFF2-40B4-BE49-F238E27FC236}">
                  <a16:creationId xmlns:a16="http://schemas.microsoft.com/office/drawing/2014/main" id="{48033847-E9F7-74B3-647E-FFD994F1CCCB}"/>
                </a:ext>
              </a:extLst>
            </p:cNvPr>
            <p:cNvSpPr txBox="1"/>
            <p:nvPr/>
          </p:nvSpPr>
          <p:spPr>
            <a:xfrm>
              <a:off x="9125747" y="3748982"/>
              <a:ext cx="1317289" cy="424566"/>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defPPr>
                <a:defRPr lang="en-US"/>
              </a:defPPr>
              <a:lvl1pPr indent="0" algn="ctr">
                <a:defRPr b="1" i="0" u="none" strike="noStrike">
                  <a:solidFill>
                    <a:schemeClr val="tx1"/>
                  </a:solidFill>
                  <a:latin typeface="Aptos Narrow"/>
                </a:defRPr>
              </a:lvl1pPr>
              <a:lvl2pPr indent="0">
                <a:defRPr sz="1100"/>
              </a:lvl2pPr>
              <a:lvl3pPr indent="0">
                <a:defRPr sz="1100"/>
              </a:lvl3pPr>
              <a:lvl4pPr indent="0">
                <a:defRPr sz="1100"/>
              </a:lvl4pPr>
              <a:lvl5pPr indent="0">
                <a:defRPr sz="1100"/>
              </a:lvl5pPr>
              <a:lvl6pPr indent="0">
                <a:defRPr sz="1100"/>
              </a:lvl6pPr>
              <a:lvl7pPr indent="0">
                <a:defRPr sz="1100"/>
              </a:lvl7pPr>
              <a:lvl8pPr indent="0">
                <a:defRPr sz="1100"/>
              </a:lvl8pPr>
              <a:lvl9pPr indent="0">
                <a:defRPr sz="1100"/>
              </a:lvl9pPr>
            </a:lstStyle>
            <a:p>
              <a:r>
                <a:rPr lang="en-US" dirty="0"/>
                <a:t>Support Tickets raised</a:t>
              </a:r>
            </a:p>
          </p:txBody>
        </p:sp>
      </p:grpSp>
    </p:spTree>
    <p:extLst>
      <p:ext uri="{BB962C8B-B14F-4D97-AF65-F5344CB8AC3E}">
        <p14:creationId xmlns:p14="http://schemas.microsoft.com/office/powerpoint/2010/main" val="1003907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55D89-1F3B-1CC0-BB4A-962242A02339}"/>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1B3406E-4007-68D8-B6C5-7CEA9601FA7D}"/>
              </a:ext>
            </a:extLst>
          </p:cNvPr>
          <p:cNvSpPr/>
          <p:nvPr/>
        </p:nvSpPr>
        <p:spPr>
          <a:xfrm>
            <a:off x="269630" y="158261"/>
            <a:ext cx="11723077" cy="6453553"/>
          </a:xfrm>
          <a:prstGeom prst="roundRect">
            <a:avLst>
              <a:gd name="adj" fmla="val 5223"/>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9297A85B-8B26-B8E0-BD28-1FA64DDFB22A}"/>
              </a:ext>
            </a:extLst>
          </p:cNvPr>
          <p:cNvSpPr/>
          <p:nvPr/>
        </p:nvSpPr>
        <p:spPr>
          <a:xfrm>
            <a:off x="2197510" y="158260"/>
            <a:ext cx="9795197" cy="6453553"/>
          </a:xfrm>
          <a:prstGeom prst="roundRect">
            <a:avLst>
              <a:gd name="adj" fmla="val 0"/>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48" name="Group 47">
            <a:extLst>
              <a:ext uri="{FF2B5EF4-FFF2-40B4-BE49-F238E27FC236}">
                <a16:creationId xmlns:a16="http://schemas.microsoft.com/office/drawing/2014/main" id="{B96C3479-5837-74B5-E288-4873813101E9}"/>
              </a:ext>
            </a:extLst>
          </p:cNvPr>
          <p:cNvGrpSpPr/>
          <p:nvPr/>
        </p:nvGrpSpPr>
        <p:grpSpPr>
          <a:xfrm>
            <a:off x="1571740" y="755582"/>
            <a:ext cx="1118229" cy="1052107"/>
            <a:chOff x="1238865" y="1443039"/>
            <a:chExt cx="1917290" cy="1985961"/>
          </a:xfrm>
        </p:grpSpPr>
        <p:sp>
          <p:nvSpPr>
            <p:cNvPr id="49" name="Oval 48">
              <a:extLst>
                <a:ext uri="{FF2B5EF4-FFF2-40B4-BE49-F238E27FC236}">
                  <a16:creationId xmlns:a16="http://schemas.microsoft.com/office/drawing/2014/main" id="{B7D40D5E-00CF-2344-824B-8FEB7361ABD9}"/>
                </a:ext>
              </a:extLst>
            </p:cNvPr>
            <p:cNvSpPr/>
            <p:nvPr/>
          </p:nvSpPr>
          <p:spPr>
            <a:xfrm>
              <a:off x="1238865" y="1443039"/>
              <a:ext cx="1917290" cy="1985961"/>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Oval 49">
              <a:extLst>
                <a:ext uri="{FF2B5EF4-FFF2-40B4-BE49-F238E27FC236}">
                  <a16:creationId xmlns:a16="http://schemas.microsoft.com/office/drawing/2014/main" id="{811F4631-1513-7B87-439A-133DBC25987F}"/>
                </a:ext>
              </a:extLst>
            </p:cNvPr>
            <p:cNvSpPr/>
            <p:nvPr/>
          </p:nvSpPr>
          <p:spPr>
            <a:xfrm>
              <a:off x="1333423" y="1545431"/>
              <a:ext cx="1728173" cy="1781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50">
              <a:extLst>
                <a:ext uri="{FF2B5EF4-FFF2-40B4-BE49-F238E27FC236}">
                  <a16:creationId xmlns:a16="http://schemas.microsoft.com/office/drawing/2014/main" id="{05C43AFB-5D9F-BFFA-28AD-2E67E994D0C4}"/>
                </a:ext>
              </a:extLst>
            </p:cNvPr>
            <p:cNvSpPr/>
            <p:nvPr/>
          </p:nvSpPr>
          <p:spPr>
            <a:xfrm>
              <a:off x="1421184" y="1647283"/>
              <a:ext cx="1552651" cy="1577470"/>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2" name="TextBox 23">
            <a:extLst>
              <a:ext uri="{FF2B5EF4-FFF2-40B4-BE49-F238E27FC236}">
                <a16:creationId xmlns:a16="http://schemas.microsoft.com/office/drawing/2014/main" id="{86D12204-32F2-87A5-B2AC-484437DD43BA}"/>
              </a:ext>
            </a:extLst>
          </p:cNvPr>
          <p:cNvSpPr txBox="1"/>
          <p:nvPr/>
        </p:nvSpPr>
        <p:spPr>
          <a:xfrm>
            <a:off x="1952989" y="966515"/>
            <a:ext cx="489042" cy="50025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2800" b="1" i="0" u="none" strike="noStrike" dirty="0">
                <a:solidFill>
                  <a:schemeClr val="tx1"/>
                </a:solidFill>
                <a:latin typeface="Aptos Narrow"/>
                <a:ea typeface="+mn-ea"/>
                <a:cs typeface="+mn-cs"/>
              </a:rPr>
              <a:t>4</a:t>
            </a:r>
          </a:p>
        </p:txBody>
      </p:sp>
      <p:sp>
        <p:nvSpPr>
          <p:cNvPr id="53" name="Rectangle: Rounded Corners 52">
            <a:extLst>
              <a:ext uri="{FF2B5EF4-FFF2-40B4-BE49-F238E27FC236}">
                <a16:creationId xmlns:a16="http://schemas.microsoft.com/office/drawing/2014/main" id="{0341170E-EF76-D907-4DB8-D0CD48D9A80F}"/>
              </a:ext>
            </a:extLst>
          </p:cNvPr>
          <p:cNvSpPr/>
          <p:nvPr/>
        </p:nvSpPr>
        <p:spPr>
          <a:xfrm>
            <a:off x="496968" y="2580052"/>
            <a:ext cx="1965304" cy="422088"/>
          </a:xfrm>
          <a:prstGeom prst="roundRect">
            <a:avLst>
              <a:gd name="adj" fmla="val 50000"/>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2">
                    <a:lumMod val="75000"/>
                    <a:lumOff val="25000"/>
                  </a:schemeClr>
                </a:solidFill>
              </a:rPr>
              <a:t>Overview</a:t>
            </a:r>
          </a:p>
        </p:txBody>
      </p:sp>
      <p:sp>
        <p:nvSpPr>
          <p:cNvPr id="2" name="TextBox 1">
            <a:extLst>
              <a:ext uri="{FF2B5EF4-FFF2-40B4-BE49-F238E27FC236}">
                <a16:creationId xmlns:a16="http://schemas.microsoft.com/office/drawing/2014/main" id="{FDCCAAA1-3B08-E613-294E-1C84CE7745A7}"/>
              </a:ext>
            </a:extLst>
          </p:cNvPr>
          <p:cNvSpPr txBox="1"/>
          <p:nvPr/>
        </p:nvSpPr>
        <p:spPr>
          <a:xfrm>
            <a:off x="3416300" y="1216642"/>
            <a:ext cx="7203960" cy="1123712"/>
          </a:xfrm>
          <a:prstGeom prst="roundRect">
            <a:avLst>
              <a:gd name="adj" fmla="val 28479"/>
            </a:avLst>
          </a:prstGeom>
          <a:solidFill>
            <a:schemeClr val="bg1">
              <a:lumMod val="95000"/>
            </a:schemeClr>
          </a:solidFill>
        </p:spPr>
        <p:txBody>
          <a:bodyPr wrap="square" rtlCol="0">
            <a:spAutoFit/>
          </a:bodyPr>
          <a:lstStyle/>
          <a:p>
            <a:pPr algn="ctr"/>
            <a:r>
              <a:rPr lang="en-GB" sz="2000" dirty="0">
                <a:solidFill>
                  <a:schemeClr val="accent1">
                    <a:lumMod val="75000"/>
                  </a:schemeClr>
                </a:solidFill>
                <a:latin typeface="Arial" panose="020B0604020202020204" pitchFamily="34" charset="0"/>
                <a:cs typeface="Arial" panose="020B0604020202020204" pitchFamily="34" charset="0"/>
              </a:rPr>
              <a:t>Churned customers are customers whose active status says “ FALSE ” OR days since their last purchase is greater than 90 days.</a:t>
            </a:r>
          </a:p>
        </p:txBody>
      </p:sp>
      <p:grpSp>
        <p:nvGrpSpPr>
          <p:cNvPr id="7" name="Group 6">
            <a:extLst>
              <a:ext uri="{FF2B5EF4-FFF2-40B4-BE49-F238E27FC236}">
                <a16:creationId xmlns:a16="http://schemas.microsoft.com/office/drawing/2014/main" id="{2041C6E6-4691-E0BC-17B0-22FAC1448C32}"/>
              </a:ext>
            </a:extLst>
          </p:cNvPr>
          <p:cNvGrpSpPr/>
          <p:nvPr/>
        </p:nvGrpSpPr>
        <p:grpSpPr>
          <a:xfrm>
            <a:off x="5531144" y="2580052"/>
            <a:ext cx="1917290" cy="1985961"/>
            <a:chOff x="2640944" y="2900290"/>
            <a:chExt cx="1917290" cy="1985961"/>
          </a:xfrm>
        </p:grpSpPr>
        <p:grpSp>
          <p:nvGrpSpPr>
            <p:cNvPr id="8" name="Group 7">
              <a:extLst>
                <a:ext uri="{FF2B5EF4-FFF2-40B4-BE49-F238E27FC236}">
                  <a16:creationId xmlns:a16="http://schemas.microsoft.com/office/drawing/2014/main" id="{5AAA48ED-E67E-8130-056A-F099DF54EAA4}"/>
                </a:ext>
              </a:extLst>
            </p:cNvPr>
            <p:cNvGrpSpPr/>
            <p:nvPr/>
          </p:nvGrpSpPr>
          <p:grpSpPr>
            <a:xfrm>
              <a:off x="2640944" y="2900290"/>
              <a:ext cx="1917290" cy="1985961"/>
              <a:chOff x="2640944" y="2900290"/>
              <a:chExt cx="1917290" cy="1985961"/>
            </a:xfrm>
          </p:grpSpPr>
          <p:sp>
            <p:nvSpPr>
              <p:cNvPr id="11" name="Oval 10">
                <a:extLst>
                  <a:ext uri="{FF2B5EF4-FFF2-40B4-BE49-F238E27FC236}">
                    <a16:creationId xmlns:a16="http://schemas.microsoft.com/office/drawing/2014/main" id="{10B663E8-4DDB-0A53-2C4F-EBC6D0C6B207}"/>
                  </a:ext>
                </a:extLst>
              </p:cNvPr>
              <p:cNvSpPr/>
              <p:nvPr/>
            </p:nvSpPr>
            <p:spPr>
              <a:xfrm>
                <a:off x="2640944" y="2900290"/>
                <a:ext cx="1917290" cy="1985961"/>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8946F2FF-D620-8EAF-35E3-9748FB9E8ACC}"/>
                  </a:ext>
                </a:extLst>
              </p:cNvPr>
              <p:cNvSpPr/>
              <p:nvPr/>
            </p:nvSpPr>
            <p:spPr>
              <a:xfrm>
                <a:off x="2735502" y="3002682"/>
                <a:ext cx="1728173" cy="1781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BF1648BD-B629-CA40-6658-AC9298138009}"/>
                  </a:ext>
                </a:extLst>
              </p:cNvPr>
              <p:cNvSpPr/>
              <p:nvPr/>
            </p:nvSpPr>
            <p:spPr>
              <a:xfrm>
                <a:off x="2823263" y="3104534"/>
                <a:ext cx="1552651" cy="1577470"/>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23">
              <a:extLst>
                <a:ext uri="{FF2B5EF4-FFF2-40B4-BE49-F238E27FC236}">
                  <a16:creationId xmlns:a16="http://schemas.microsoft.com/office/drawing/2014/main" id="{BE36F661-F10A-E6F3-66E3-6F91FEF6F236}"/>
                </a:ext>
              </a:extLst>
            </p:cNvPr>
            <p:cNvSpPr txBox="1"/>
            <p:nvPr/>
          </p:nvSpPr>
          <p:spPr>
            <a:xfrm>
              <a:off x="3208806" y="3286254"/>
              <a:ext cx="865833" cy="67212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2800" b="1" i="0" u="none" strike="noStrike" dirty="0">
                  <a:solidFill>
                    <a:schemeClr val="tx1"/>
                  </a:solidFill>
                  <a:latin typeface="Aptos Narrow"/>
                  <a:ea typeface="+mn-ea"/>
                  <a:cs typeface="+mn-cs"/>
                </a:rPr>
                <a:t>73%</a:t>
              </a:r>
            </a:p>
          </p:txBody>
        </p:sp>
        <p:sp>
          <p:nvSpPr>
            <p:cNvPr id="10" name="TextBox 23">
              <a:extLst>
                <a:ext uri="{FF2B5EF4-FFF2-40B4-BE49-F238E27FC236}">
                  <a16:creationId xmlns:a16="http://schemas.microsoft.com/office/drawing/2014/main" id="{4DF18190-E47E-FD48-083C-682394AFFBC9}"/>
                </a:ext>
              </a:extLst>
            </p:cNvPr>
            <p:cNvSpPr txBox="1"/>
            <p:nvPr/>
          </p:nvSpPr>
          <p:spPr>
            <a:xfrm>
              <a:off x="3118722" y="3872130"/>
              <a:ext cx="1207718" cy="42230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1800" b="1" i="0" u="none" strike="noStrike" dirty="0">
                  <a:solidFill>
                    <a:schemeClr val="tx1"/>
                  </a:solidFill>
                  <a:latin typeface="Aptos Narrow"/>
                  <a:ea typeface="+mn-ea"/>
                  <a:cs typeface="+mn-cs"/>
                </a:rPr>
                <a:t>Churned</a:t>
              </a:r>
            </a:p>
          </p:txBody>
        </p:sp>
      </p:grpSp>
      <p:sp>
        <p:nvSpPr>
          <p:cNvPr id="14" name="TextBox 13">
            <a:extLst>
              <a:ext uri="{FF2B5EF4-FFF2-40B4-BE49-F238E27FC236}">
                <a16:creationId xmlns:a16="http://schemas.microsoft.com/office/drawing/2014/main" id="{D8730536-8032-86D5-42F4-5F9ED9093267}"/>
              </a:ext>
            </a:extLst>
          </p:cNvPr>
          <p:cNvSpPr txBox="1"/>
          <p:nvPr/>
        </p:nvSpPr>
        <p:spPr>
          <a:xfrm>
            <a:off x="4540543" y="4811320"/>
            <a:ext cx="3898490" cy="1200329"/>
          </a:xfrm>
          <a:prstGeom prst="rect">
            <a:avLst/>
          </a:prstGeom>
          <a:noFill/>
        </p:spPr>
        <p:txBody>
          <a:bodyPr wrap="square" rtlCol="0">
            <a:spAutoFit/>
          </a:bodyPr>
          <a:lstStyle/>
          <a:p>
            <a:pPr algn="ctr"/>
            <a:r>
              <a:rPr lang="en-GB" dirty="0">
                <a:solidFill>
                  <a:schemeClr val="accent1">
                    <a:lumMod val="75000"/>
                  </a:schemeClr>
                </a:solidFill>
              </a:rPr>
              <a:t>Data shows over 73% of total customers fall into either FALSE active status or made purchase since more than 90 days ago</a:t>
            </a:r>
          </a:p>
        </p:txBody>
      </p:sp>
      <p:sp>
        <p:nvSpPr>
          <p:cNvPr id="15" name="Rectangle: Rounded Corners 14">
            <a:extLst>
              <a:ext uri="{FF2B5EF4-FFF2-40B4-BE49-F238E27FC236}">
                <a16:creationId xmlns:a16="http://schemas.microsoft.com/office/drawing/2014/main" id="{248068C6-2606-9D83-3377-4FC90A14EDAA}"/>
              </a:ext>
            </a:extLst>
          </p:cNvPr>
          <p:cNvSpPr/>
          <p:nvPr/>
        </p:nvSpPr>
        <p:spPr>
          <a:xfrm>
            <a:off x="4617849" y="454929"/>
            <a:ext cx="4636297" cy="42208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2">
                    <a:lumMod val="75000"/>
                    <a:lumOff val="25000"/>
                  </a:schemeClr>
                </a:solidFill>
              </a:rPr>
              <a:t>Who are Churned customers ?</a:t>
            </a:r>
          </a:p>
        </p:txBody>
      </p:sp>
    </p:spTree>
    <p:extLst>
      <p:ext uri="{BB962C8B-B14F-4D97-AF65-F5344CB8AC3E}">
        <p14:creationId xmlns:p14="http://schemas.microsoft.com/office/powerpoint/2010/main" val="1823840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BA6FB-986B-5D29-D3F7-3FA3BF12070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B963BC5-19F6-5B0A-84D3-F0C2F4F9B444}"/>
              </a:ext>
            </a:extLst>
          </p:cNvPr>
          <p:cNvSpPr/>
          <p:nvPr/>
        </p:nvSpPr>
        <p:spPr>
          <a:xfrm>
            <a:off x="269630" y="158261"/>
            <a:ext cx="11723077" cy="6453553"/>
          </a:xfrm>
          <a:prstGeom prst="roundRect">
            <a:avLst>
              <a:gd name="adj" fmla="val 5223"/>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6A1DA69B-3B95-2A26-9890-9B797EB1C37E}"/>
              </a:ext>
            </a:extLst>
          </p:cNvPr>
          <p:cNvSpPr/>
          <p:nvPr/>
        </p:nvSpPr>
        <p:spPr>
          <a:xfrm>
            <a:off x="1449568" y="158260"/>
            <a:ext cx="10543139" cy="6453553"/>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grpSp>
        <p:nvGrpSpPr>
          <p:cNvPr id="3" name="Group 2">
            <a:extLst>
              <a:ext uri="{FF2B5EF4-FFF2-40B4-BE49-F238E27FC236}">
                <a16:creationId xmlns:a16="http://schemas.microsoft.com/office/drawing/2014/main" id="{FE36766B-5C8D-1804-2EBE-95F4914C57D1}"/>
              </a:ext>
            </a:extLst>
          </p:cNvPr>
          <p:cNvGrpSpPr/>
          <p:nvPr/>
        </p:nvGrpSpPr>
        <p:grpSpPr>
          <a:xfrm>
            <a:off x="516193" y="246186"/>
            <a:ext cx="855407" cy="815698"/>
            <a:chOff x="1571740" y="755582"/>
            <a:chExt cx="1118229" cy="1052107"/>
          </a:xfrm>
        </p:grpSpPr>
        <p:grpSp>
          <p:nvGrpSpPr>
            <p:cNvPr id="48" name="Group 47">
              <a:extLst>
                <a:ext uri="{FF2B5EF4-FFF2-40B4-BE49-F238E27FC236}">
                  <a16:creationId xmlns:a16="http://schemas.microsoft.com/office/drawing/2014/main" id="{84F25511-1DDD-1BDD-1D6D-AF193659FD22}"/>
                </a:ext>
              </a:extLst>
            </p:cNvPr>
            <p:cNvGrpSpPr/>
            <p:nvPr/>
          </p:nvGrpSpPr>
          <p:grpSpPr>
            <a:xfrm>
              <a:off x="1571740" y="755582"/>
              <a:ext cx="1118229" cy="1052107"/>
              <a:chOff x="1238865" y="1443039"/>
              <a:chExt cx="1917290" cy="1985961"/>
            </a:xfrm>
          </p:grpSpPr>
          <p:sp>
            <p:nvSpPr>
              <p:cNvPr id="49" name="Oval 48">
                <a:extLst>
                  <a:ext uri="{FF2B5EF4-FFF2-40B4-BE49-F238E27FC236}">
                    <a16:creationId xmlns:a16="http://schemas.microsoft.com/office/drawing/2014/main" id="{D5B63AF6-C669-1E2B-09FA-7D342AE3A2FF}"/>
                  </a:ext>
                </a:extLst>
              </p:cNvPr>
              <p:cNvSpPr/>
              <p:nvPr/>
            </p:nvSpPr>
            <p:spPr>
              <a:xfrm>
                <a:off x="1238865" y="1443039"/>
                <a:ext cx="1917290" cy="1985961"/>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Oval 49">
                <a:extLst>
                  <a:ext uri="{FF2B5EF4-FFF2-40B4-BE49-F238E27FC236}">
                    <a16:creationId xmlns:a16="http://schemas.microsoft.com/office/drawing/2014/main" id="{8F49725B-FA3C-EA6E-A546-EF91ED6F2ED9}"/>
                  </a:ext>
                </a:extLst>
              </p:cNvPr>
              <p:cNvSpPr/>
              <p:nvPr/>
            </p:nvSpPr>
            <p:spPr>
              <a:xfrm>
                <a:off x="1333423" y="1545431"/>
                <a:ext cx="1728173" cy="1781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50">
                <a:extLst>
                  <a:ext uri="{FF2B5EF4-FFF2-40B4-BE49-F238E27FC236}">
                    <a16:creationId xmlns:a16="http://schemas.microsoft.com/office/drawing/2014/main" id="{0571B6F6-3D5A-540E-94F6-2F1AEEF406C8}"/>
                  </a:ext>
                </a:extLst>
              </p:cNvPr>
              <p:cNvSpPr/>
              <p:nvPr/>
            </p:nvSpPr>
            <p:spPr>
              <a:xfrm>
                <a:off x="1421184" y="1647283"/>
                <a:ext cx="1552651" cy="1577470"/>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2" name="TextBox 23">
              <a:extLst>
                <a:ext uri="{FF2B5EF4-FFF2-40B4-BE49-F238E27FC236}">
                  <a16:creationId xmlns:a16="http://schemas.microsoft.com/office/drawing/2014/main" id="{400E4F76-CDBB-7E37-A601-35414430493F}"/>
                </a:ext>
              </a:extLst>
            </p:cNvPr>
            <p:cNvSpPr txBox="1"/>
            <p:nvPr/>
          </p:nvSpPr>
          <p:spPr>
            <a:xfrm>
              <a:off x="1886333" y="908417"/>
              <a:ext cx="489041" cy="50025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2800" b="1" dirty="0">
                  <a:solidFill>
                    <a:schemeClr val="tx1"/>
                  </a:solidFill>
                  <a:latin typeface="Aptos Narrow"/>
                </a:rPr>
                <a:t>5</a:t>
              </a:r>
              <a:endParaRPr lang="en-US" sz="2800" b="1" i="0" u="none" strike="noStrike" dirty="0">
                <a:solidFill>
                  <a:schemeClr val="tx1"/>
                </a:solidFill>
                <a:latin typeface="Aptos Narrow"/>
                <a:ea typeface="+mn-ea"/>
                <a:cs typeface="+mn-cs"/>
              </a:endParaRPr>
            </a:p>
          </p:txBody>
        </p:sp>
      </p:grpSp>
      <p:sp>
        <p:nvSpPr>
          <p:cNvPr id="15" name="Rectangle: Rounded Corners 14">
            <a:extLst>
              <a:ext uri="{FF2B5EF4-FFF2-40B4-BE49-F238E27FC236}">
                <a16:creationId xmlns:a16="http://schemas.microsoft.com/office/drawing/2014/main" id="{E0A2CD9C-F18B-96F0-2079-9167EF8C30D1}"/>
              </a:ext>
            </a:extLst>
          </p:cNvPr>
          <p:cNvSpPr/>
          <p:nvPr/>
        </p:nvSpPr>
        <p:spPr>
          <a:xfrm>
            <a:off x="4402989" y="232000"/>
            <a:ext cx="4636297" cy="42208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2">
                    <a:lumMod val="75000"/>
                    <a:lumOff val="25000"/>
                  </a:schemeClr>
                </a:solidFill>
              </a:rPr>
              <a:t>Where is churn coming from ?</a:t>
            </a:r>
          </a:p>
        </p:txBody>
      </p:sp>
      <p:grpSp>
        <p:nvGrpSpPr>
          <p:cNvPr id="2" name="Group 1">
            <a:extLst>
              <a:ext uri="{FF2B5EF4-FFF2-40B4-BE49-F238E27FC236}">
                <a16:creationId xmlns:a16="http://schemas.microsoft.com/office/drawing/2014/main" id="{DF612CFE-ED25-335F-D4C7-38214C70DB20}"/>
              </a:ext>
            </a:extLst>
          </p:cNvPr>
          <p:cNvGrpSpPr/>
          <p:nvPr/>
        </p:nvGrpSpPr>
        <p:grpSpPr>
          <a:xfrm>
            <a:off x="2208700" y="977994"/>
            <a:ext cx="2431316" cy="5388232"/>
            <a:chOff x="2208700" y="1711480"/>
            <a:chExt cx="2431316" cy="4654746"/>
          </a:xfrm>
        </p:grpSpPr>
        <p:sp>
          <p:nvSpPr>
            <p:cNvPr id="65" name="Freeform: Shape 64">
              <a:extLst>
                <a:ext uri="{FF2B5EF4-FFF2-40B4-BE49-F238E27FC236}">
                  <a16:creationId xmlns:a16="http://schemas.microsoft.com/office/drawing/2014/main" id="{8461ABEC-6B37-1C43-4C0A-A5F17C91C33C}"/>
                </a:ext>
              </a:extLst>
            </p:cNvPr>
            <p:cNvSpPr/>
            <p:nvPr/>
          </p:nvSpPr>
          <p:spPr>
            <a:xfrm>
              <a:off x="2208700" y="1711480"/>
              <a:ext cx="2431316" cy="4644850"/>
            </a:xfrm>
            <a:custGeom>
              <a:avLst/>
              <a:gdLst>
                <a:gd name="connsiteX0" fmla="*/ 2143679 w 2167453"/>
                <a:gd name="connsiteY0" fmla="*/ 0 h 4278243"/>
                <a:gd name="connsiteX1" fmla="*/ 2167453 w 2167453"/>
                <a:gd name="connsiteY1" fmla="*/ 1201 h 4278243"/>
                <a:gd name="connsiteX2" fmla="*/ 2167453 w 2167453"/>
                <a:gd name="connsiteY2" fmla="*/ 757794 h 4278243"/>
                <a:gd name="connsiteX3" fmla="*/ 2143679 w 2167453"/>
                <a:gd name="connsiteY3" fmla="*/ 756593 h 4278243"/>
                <a:gd name="connsiteX4" fmla="*/ 378296 w 2167453"/>
                <a:gd name="connsiteY4" fmla="*/ 2521976 h 4278243"/>
                <a:gd name="connsiteX5" fmla="*/ 1787893 w 2167453"/>
                <a:gd name="connsiteY5" fmla="*/ 4251493 h 4278243"/>
                <a:gd name="connsiteX6" fmla="*/ 1963162 w 2167453"/>
                <a:gd name="connsiteY6" fmla="*/ 4278243 h 4278243"/>
                <a:gd name="connsiteX7" fmla="*/ 1924500 w 2167453"/>
                <a:gd name="connsiteY7" fmla="*/ 4276290 h 4278243"/>
                <a:gd name="connsiteX8" fmla="*/ 0 w 2167453"/>
                <a:gd name="connsiteY8" fmla="*/ 2143679 h 4278243"/>
                <a:gd name="connsiteX9" fmla="*/ 2143679 w 2167453"/>
                <a:gd name="connsiteY9" fmla="*/ 0 h 4278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7453" h="4278243">
                  <a:moveTo>
                    <a:pt x="2143679" y="0"/>
                  </a:moveTo>
                  <a:lnTo>
                    <a:pt x="2167453" y="1201"/>
                  </a:lnTo>
                  <a:lnTo>
                    <a:pt x="2167453" y="757794"/>
                  </a:lnTo>
                  <a:lnTo>
                    <a:pt x="2143679" y="756593"/>
                  </a:lnTo>
                  <a:cubicBezTo>
                    <a:pt x="1168685" y="756593"/>
                    <a:pt x="378296" y="1546982"/>
                    <a:pt x="378296" y="2521976"/>
                  </a:cubicBezTo>
                  <a:cubicBezTo>
                    <a:pt x="378296" y="3375096"/>
                    <a:pt x="983438" y="4086878"/>
                    <a:pt x="1787893" y="4251493"/>
                  </a:cubicBezTo>
                  <a:lnTo>
                    <a:pt x="1963162" y="4278243"/>
                  </a:lnTo>
                  <a:lnTo>
                    <a:pt x="1924500" y="4276290"/>
                  </a:lnTo>
                  <a:cubicBezTo>
                    <a:pt x="843537" y="4166513"/>
                    <a:pt x="0" y="3253605"/>
                    <a:pt x="0" y="2143679"/>
                  </a:cubicBezTo>
                  <a:cubicBezTo>
                    <a:pt x="0" y="959758"/>
                    <a:pt x="959758" y="0"/>
                    <a:pt x="2143679" y="0"/>
                  </a:cubicBezTo>
                  <a:close/>
                </a:path>
              </a:pathLst>
            </a:custGeom>
            <a:gradFill flip="none" rotWithShape="1">
              <a:gsLst>
                <a:gs pos="0">
                  <a:schemeClr val="accent4">
                    <a:lumMod val="40000"/>
                    <a:lumOff val="60000"/>
                  </a:schemeClr>
                </a:gs>
                <a:gs pos="46000">
                  <a:schemeClr val="accent4">
                    <a:lumMod val="95000"/>
                    <a:lumOff val="5000"/>
                  </a:schemeClr>
                </a:gs>
                <a:gs pos="100000">
                  <a:schemeClr val="accent4">
                    <a:lumMod val="60000"/>
                  </a:schemeClr>
                </a:gs>
              </a:gsLst>
              <a:path path="circle">
                <a:fillToRect l="50000" t="130000" r="50000" b="-30000"/>
              </a:path>
              <a:tileRect/>
            </a:gradFill>
            <a:ln>
              <a:noFill/>
            </a:ln>
            <a:effectLst>
              <a:outerShdw blurRad="50800" dist="38100" dir="10800000" algn="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97138" tIns="373102" rIns="1697139" bIns="4408261" numCol="1" spcCol="1270" anchor="ctr" anchorCtr="0">
              <a:noAutofit/>
            </a:bodyPr>
            <a:lstStyle/>
            <a:p>
              <a:pPr algn="ctr" defTabSz="755650">
                <a:lnSpc>
                  <a:spcPct val="90000"/>
                </a:lnSpc>
                <a:spcBef>
                  <a:spcPct val="0"/>
                </a:spcBef>
                <a:spcAft>
                  <a:spcPct val="35000"/>
                </a:spcAft>
              </a:pPr>
              <a:endParaRPr lang="en-GB" sz="1700" dirty="0"/>
            </a:p>
          </p:txBody>
        </p:sp>
        <p:sp>
          <p:nvSpPr>
            <p:cNvPr id="63" name="Freeform: Shape 62">
              <a:extLst>
                <a:ext uri="{FF2B5EF4-FFF2-40B4-BE49-F238E27FC236}">
                  <a16:creationId xmlns:a16="http://schemas.microsoft.com/office/drawing/2014/main" id="{B6E86249-E54D-48DC-353D-A93625C0E4B5}"/>
                </a:ext>
              </a:extLst>
            </p:cNvPr>
            <p:cNvSpPr/>
            <p:nvPr/>
          </p:nvSpPr>
          <p:spPr>
            <a:xfrm>
              <a:off x="3057399" y="3354331"/>
              <a:ext cx="1582617" cy="3006239"/>
            </a:xfrm>
            <a:custGeom>
              <a:avLst/>
              <a:gdLst>
                <a:gd name="connsiteX0" fmla="*/ 1387086 w 1410861"/>
                <a:gd name="connsiteY0" fmla="*/ 0 h 2768964"/>
                <a:gd name="connsiteX1" fmla="*/ 1410861 w 1410861"/>
                <a:gd name="connsiteY1" fmla="*/ 1201 h 2768964"/>
                <a:gd name="connsiteX2" fmla="*/ 1410861 w 1410861"/>
                <a:gd name="connsiteY2" fmla="*/ 757793 h 2768964"/>
                <a:gd name="connsiteX3" fmla="*/ 1387087 w 1410861"/>
                <a:gd name="connsiteY3" fmla="*/ 756592 h 2768964"/>
                <a:gd name="connsiteX4" fmla="*/ 378297 w 1410861"/>
                <a:gd name="connsiteY4" fmla="*/ 1765382 h 2768964"/>
                <a:gd name="connsiteX5" fmla="*/ 1183781 w 1410861"/>
                <a:gd name="connsiteY5" fmla="*/ 2753677 h 2768964"/>
                <a:gd name="connsiteX6" fmla="*/ 1283940 w 1410861"/>
                <a:gd name="connsiteY6" fmla="*/ 2768964 h 2768964"/>
                <a:gd name="connsiteX7" fmla="*/ 1245259 w 1410861"/>
                <a:gd name="connsiteY7" fmla="*/ 2767010 h 2768964"/>
                <a:gd name="connsiteX8" fmla="*/ 1107540 w 1410861"/>
                <a:gd name="connsiteY8" fmla="*/ 2745991 h 2768964"/>
                <a:gd name="connsiteX9" fmla="*/ 0 w 1410861"/>
                <a:gd name="connsiteY9" fmla="*/ 1387086 h 2768964"/>
                <a:gd name="connsiteX10" fmla="*/ 1387086 w 1410861"/>
                <a:gd name="connsiteY10" fmla="*/ 0 h 2768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0861" h="2768964">
                  <a:moveTo>
                    <a:pt x="1387086" y="0"/>
                  </a:moveTo>
                  <a:lnTo>
                    <a:pt x="1410861" y="1201"/>
                  </a:lnTo>
                  <a:lnTo>
                    <a:pt x="1410861" y="757793"/>
                  </a:lnTo>
                  <a:lnTo>
                    <a:pt x="1387087" y="756592"/>
                  </a:lnTo>
                  <a:cubicBezTo>
                    <a:pt x="829948" y="756592"/>
                    <a:pt x="378297" y="1208243"/>
                    <a:pt x="378297" y="1765382"/>
                  </a:cubicBezTo>
                  <a:cubicBezTo>
                    <a:pt x="378297" y="2252879"/>
                    <a:pt x="724092" y="2659611"/>
                    <a:pt x="1183781" y="2753677"/>
                  </a:cubicBezTo>
                  <a:lnTo>
                    <a:pt x="1283940" y="2768964"/>
                  </a:lnTo>
                  <a:lnTo>
                    <a:pt x="1245259" y="2767010"/>
                  </a:lnTo>
                  <a:lnTo>
                    <a:pt x="1107540" y="2745991"/>
                  </a:lnTo>
                  <a:cubicBezTo>
                    <a:pt x="475469" y="2616651"/>
                    <a:pt x="0" y="2057394"/>
                    <a:pt x="0" y="1387086"/>
                  </a:cubicBezTo>
                  <a:cubicBezTo>
                    <a:pt x="0" y="621020"/>
                    <a:pt x="621020" y="0"/>
                    <a:pt x="1387086" y="0"/>
                  </a:cubicBezTo>
                  <a:close/>
                </a:path>
              </a:pathLst>
            </a:custGeom>
            <a:gradFill>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gradFill>
            <a:ln>
              <a:noFill/>
            </a:ln>
            <a:effectLst>
              <a:outerShdw blurRad="50800" dist="38100" dir="10800000" algn="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97138" tIns="373102" rIns="1697139" bIns="4408261" numCol="1" spcCol="1270" anchor="ctr" anchorCtr="0">
              <a:noAutofit/>
            </a:bodyPr>
            <a:lstStyle/>
            <a:p>
              <a:pPr marL="0" lvl="0" indent="0" algn="ctr" defTabSz="755650">
                <a:lnSpc>
                  <a:spcPct val="90000"/>
                </a:lnSpc>
                <a:spcBef>
                  <a:spcPct val="0"/>
                </a:spcBef>
                <a:spcAft>
                  <a:spcPct val="35000"/>
                </a:spcAft>
                <a:buNone/>
              </a:pPr>
              <a:endParaRPr lang="en-GB" sz="1700" kern="1200" dirty="0"/>
            </a:p>
          </p:txBody>
        </p:sp>
        <p:sp>
          <p:nvSpPr>
            <p:cNvPr id="61" name="Freeform: Shape 60">
              <a:extLst>
                <a:ext uri="{FF2B5EF4-FFF2-40B4-BE49-F238E27FC236}">
                  <a16:creationId xmlns:a16="http://schemas.microsoft.com/office/drawing/2014/main" id="{25805199-7E5E-DAB2-DE57-6CAEBB134C27}"/>
                </a:ext>
              </a:extLst>
            </p:cNvPr>
            <p:cNvSpPr/>
            <p:nvPr/>
          </p:nvSpPr>
          <p:spPr>
            <a:xfrm>
              <a:off x="3906097" y="4997184"/>
              <a:ext cx="733918" cy="1369042"/>
            </a:xfrm>
            <a:custGeom>
              <a:avLst/>
              <a:gdLst>
                <a:gd name="connsiteX0" fmla="*/ 630494 w 654268"/>
                <a:gd name="connsiteY0" fmla="*/ 0 h 1260987"/>
                <a:gd name="connsiteX1" fmla="*/ 654268 w 654268"/>
                <a:gd name="connsiteY1" fmla="*/ 2397 h 1260987"/>
                <a:gd name="connsiteX2" fmla="*/ 654268 w 654268"/>
                <a:gd name="connsiteY2" fmla="*/ 1258592 h 1260987"/>
                <a:gd name="connsiteX3" fmla="*/ 630515 w 654268"/>
                <a:gd name="connsiteY3" fmla="*/ 1260986 h 1260987"/>
                <a:gd name="connsiteX4" fmla="*/ 630494 w 654268"/>
                <a:gd name="connsiteY4" fmla="*/ 1260987 h 1260987"/>
                <a:gd name="connsiteX5" fmla="*/ 630474 w 654268"/>
                <a:gd name="connsiteY5" fmla="*/ 1260986 h 1260987"/>
                <a:gd name="connsiteX6" fmla="*/ 503428 w 654268"/>
                <a:gd name="connsiteY6" fmla="*/ 1248179 h 1260987"/>
                <a:gd name="connsiteX7" fmla="*/ 0 w 654268"/>
                <a:gd name="connsiteY7" fmla="*/ 630494 h 1260987"/>
                <a:gd name="connsiteX8" fmla="*/ 630494 w 654268"/>
                <a:gd name="connsiteY8" fmla="*/ 0 h 1260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4268" h="1260987">
                  <a:moveTo>
                    <a:pt x="630494" y="0"/>
                  </a:moveTo>
                  <a:lnTo>
                    <a:pt x="654268" y="2397"/>
                  </a:lnTo>
                  <a:lnTo>
                    <a:pt x="654268" y="1258592"/>
                  </a:lnTo>
                  <a:lnTo>
                    <a:pt x="630515" y="1260986"/>
                  </a:lnTo>
                  <a:lnTo>
                    <a:pt x="630494" y="1260987"/>
                  </a:lnTo>
                  <a:lnTo>
                    <a:pt x="630474" y="1260986"/>
                  </a:lnTo>
                  <a:lnTo>
                    <a:pt x="503428" y="1248179"/>
                  </a:lnTo>
                  <a:cubicBezTo>
                    <a:pt x="216122" y="1189388"/>
                    <a:pt x="0" y="935180"/>
                    <a:pt x="0" y="630494"/>
                  </a:cubicBezTo>
                  <a:cubicBezTo>
                    <a:pt x="0" y="282282"/>
                    <a:pt x="282282" y="0"/>
                    <a:pt x="630494" y="0"/>
                  </a:cubicBezTo>
                  <a:close/>
                </a:path>
              </a:pathLst>
            </a:custGeom>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a:ln>
              <a:noFill/>
            </a:ln>
            <a:effectLst>
              <a:outerShdw blurRad="50800" dist="50800" dir="5400000" algn="ctr" rotWithShape="0">
                <a:schemeClr val="tx1"/>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97138" tIns="373102" rIns="1697139" bIns="4408261" numCol="1" spcCol="1270" anchor="ctr" anchorCtr="0">
              <a:noAutofit/>
            </a:bodyPr>
            <a:lstStyle/>
            <a:p>
              <a:pPr marL="0" lvl="0" indent="0" algn="ctr" defTabSz="755650">
                <a:lnSpc>
                  <a:spcPct val="90000"/>
                </a:lnSpc>
                <a:spcBef>
                  <a:spcPct val="0"/>
                </a:spcBef>
                <a:spcAft>
                  <a:spcPct val="35000"/>
                </a:spcAft>
                <a:buNone/>
              </a:pPr>
              <a:endParaRPr lang="en-GB" sz="1700" kern="1200" dirty="0">
                <a:solidFill>
                  <a:schemeClr val="accent1">
                    <a:lumMod val="20000"/>
                    <a:lumOff val="80000"/>
                  </a:schemeClr>
                </a:solidFill>
              </a:endParaRPr>
            </a:p>
          </p:txBody>
        </p:sp>
        <p:sp>
          <p:nvSpPr>
            <p:cNvPr id="42" name="Freeform: Shape 41">
              <a:extLst>
                <a:ext uri="{FF2B5EF4-FFF2-40B4-BE49-F238E27FC236}">
                  <a16:creationId xmlns:a16="http://schemas.microsoft.com/office/drawing/2014/main" id="{A6026835-83C7-BAF8-7AB1-EBAF1CB6D3DB}"/>
                </a:ext>
              </a:extLst>
            </p:cNvPr>
            <p:cNvSpPr/>
            <p:nvPr/>
          </p:nvSpPr>
          <p:spPr>
            <a:xfrm>
              <a:off x="2633049" y="2532906"/>
              <a:ext cx="2006967" cy="3825544"/>
            </a:xfrm>
            <a:custGeom>
              <a:avLst/>
              <a:gdLst>
                <a:gd name="connsiteX0" fmla="*/ 1765383 w 1789157"/>
                <a:gd name="connsiteY0" fmla="*/ 0 h 3523603"/>
                <a:gd name="connsiteX1" fmla="*/ 1789157 w 1789157"/>
                <a:gd name="connsiteY1" fmla="*/ 1201 h 3523603"/>
                <a:gd name="connsiteX2" fmla="*/ 1789157 w 1789157"/>
                <a:gd name="connsiteY2" fmla="*/ 757794 h 3523603"/>
                <a:gd name="connsiteX3" fmla="*/ 1765382 w 1789157"/>
                <a:gd name="connsiteY3" fmla="*/ 756593 h 3523603"/>
                <a:gd name="connsiteX4" fmla="*/ 378296 w 1789157"/>
                <a:gd name="connsiteY4" fmla="*/ 2143679 h 3523603"/>
                <a:gd name="connsiteX5" fmla="*/ 1485836 w 1789157"/>
                <a:gd name="connsiteY5" fmla="*/ 3502584 h 3523603"/>
                <a:gd name="connsiteX6" fmla="*/ 1623555 w 1789157"/>
                <a:gd name="connsiteY6" fmla="*/ 3523603 h 3523603"/>
                <a:gd name="connsiteX7" fmla="*/ 1584866 w 1789157"/>
                <a:gd name="connsiteY7" fmla="*/ 3521650 h 3523603"/>
                <a:gd name="connsiteX8" fmla="*/ 1409597 w 1789157"/>
                <a:gd name="connsiteY8" fmla="*/ 3494900 h 3523603"/>
                <a:gd name="connsiteX9" fmla="*/ 0 w 1789157"/>
                <a:gd name="connsiteY9" fmla="*/ 1765383 h 3523603"/>
                <a:gd name="connsiteX10" fmla="*/ 1765383 w 1789157"/>
                <a:gd name="connsiteY10" fmla="*/ 0 h 352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9157" h="3523603">
                  <a:moveTo>
                    <a:pt x="1765383" y="0"/>
                  </a:moveTo>
                  <a:lnTo>
                    <a:pt x="1789157" y="1201"/>
                  </a:lnTo>
                  <a:lnTo>
                    <a:pt x="1789157" y="757794"/>
                  </a:lnTo>
                  <a:lnTo>
                    <a:pt x="1765382" y="756593"/>
                  </a:lnTo>
                  <a:cubicBezTo>
                    <a:pt x="999316" y="756593"/>
                    <a:pt x="378296" y="1377613"/>
                    <a:pt x="378296" y="2143679"/>
                  </a:cubicBezTo>
                  <a:cubicBezTo>
                    <a:pt x="378296" y="2813987"/>
                    <a:pt x="853765" y="3373244"/>
                    <a:pt x="1485836" y="3502584"/>
                  </a:cubicBezTo>
                  <a:lnTo>
                    <a:pt x="1623555" y="3523603"/>
                  </a:lnTo>
                  <a:lnTo>
                    <a:pt x="1584866" y="3521650"/>
                  </a:lnTo>
                  <a:lnTo>
                    <a:pt x="1409597" y="3494900"/>
                  </a:lnTo>
                  <a:cubicBezTo>
                    <a:pt x="605142" y="3330285"/>
                    <a:pt x="0" y="2618503"/>
                    <a:pt x="0" y="1765383"/>
                  </a:cubicBezTo>
                  <a:cubicBezTo>
                    <a:pt x="0" y="790389"/>
                    <a:pt x="790389" y="0"/>
                    <a:pt x="1765383" y="0"/>
                  </a:cubicBezTo>
                  <a:close/>
                </a:path>
              </a:pathLst>
            </a:cu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a:noFill/>
            </a:ln>
            <a:effectLst>
              <a:outerShdw blurRad="50800" dist="38100" dir="10800000" algn="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97138" tIns="373102" rIns="1697139" bIns="4408261" numCol="1" spcCol="1270" anchor="ctr" anchorCtr="0">
              <a:noAutofit/>
            </a:bodyPr>
            <a:lstStyle/>
            <a:p>
              <a:pPr marL="0" lvl="0" indent="0" algn="ctr" defTabSz="755650">
                <a:lnSpc>
                  <a:spcPct val="90000"/>
                </a:lnSpc>
                <a:spcBef>
                  <a:spcPct val="0"/>
                </a:spcBef>
                <a:spcAft>
                  <a:spcPct val="35000"/>
                </a:spcAft>
                <a:buNone/>
              </a:pPr>
              <a:endParaRPr lang="en-GB" sz="1700" kern="1200" dirty="0"/>
            </a:p>
          </p:txBody>
        </p:sp>
        <p:sp>
          <p:nvSpPr>
            <p:cNvPr id="40" name="Freeform: Shape 39">
              <a:extLst>
                <a:ext uri="{FF2B5EF4-FFF2-40B4-BE49-F238E27FC236}">
                  <a16:creationId xmlns:a16="http://schemas.microsoft.com/office/drawing/2014/main" id="{7F500E7C-0524-F412-F618-F3A468709D6E}"/>
                </a:ext>
              </a:extLst>
            </p:cNvPr>
            <p:cNvSpPr/>
            <p:nvPr/>
          </p:nvSpPr>
          <p:spPr>
            <a:xfrm>
              <a:off x="3481748" y="4175758"/>
              <a:ext cx="1158267" cy="2190467"/>
            </a:xfrm>
            <a:custGeom>
              <a:avLst/>
              <a:gdLst>
                <a:gd name="connsiteX0" fmla="*/ 1008790 w 1032564"/>
                <a:gd name="connsiteY0" fmla="*/ 0 h 2017579"/>
                <a:gd name="connsiteX1" fmla="*/ 1032564 w 1032564"/>
                <a:gd name="connsiteY1" fmla="*/ 1201 h 2017579"/>
                <a:gd name="connsiteX2" fmla="*/ 1032564 w 1032564"/>
                <a:gd name="connsiteY2" fmla="*/ 758990 h 2017579"/>
                <a:gd name="connsiteX3" fmla="*/ 1008790 w 1032564"/>
                <a:gd name="connsiteY3" fmla="*/ 756593 h 2017579"/>
                <a:gd name="connsiteX4" fmla="*/ 378296 w 1032564"/>
                <a:gd name="connsiteY4" fmla="*/ 1387087 h 2017579"/>
                <a:gd name="connsiteX5" fmla="*/ 881724 w 1032564"/>
                <a:gd name="connsiteY5" fmla="*/ 2004772 h 2017579"/>
                <a:gd name="connsiteX6" fmla="*/ 1008770 w 1032564"/>
                <a:gd name="connsiteY6" fmla="*/ 2017579 h 2017579"/>
                <a:gd name="connsiteX7" fmla="*/ 905643 w 1032564"/>
                <a:gd name="connsiteY7" fmla="*/ 2012372 h 2017579"/>
                <a:gd name="connsiteX8" fmla="*/ 805484 w 1032564"/>
                <a:gd name="connsiteY8" fmla="*/ 1997085 h 2017579"/>
                <a:gd name="connsiteX9" fmla="*/ 0 w 1032564"/>
                <a:gd name="connsiteY9" fmla="*/ 1008790 h 2017579"/>
                <a:gd name="connsiteX10" fmla="*/ 1008790 w 1032564"/>
                <a:gd name="connsiteY10" fmla="*/ 0 h 2017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32564" h="2017579">
                  <a:moveTo>
                    <a:pt x="1008790" y="0"/>
                  </a:moveTo>
                  <a:lnTo>
                    <a:pt x="1032564" y="1201"/>
                  </a:lnTo>
                  <a:lnTo>
                    <a:pt x="1032564" y="758990"/>
                  </a:lnTo>
                  <a:lnTo>
                    <a:pt x="1008790" y="756593"/>
                  </a:lnTo>
                  <a:cubicBezTo>
                    <a:pt x="660578" y="756593"/>
                    <a:pt x="378296" y="1038875"/>
                    <a:pt x="378296" y="1387087"/>
                  </a:cubicBezTo>
                  <a:cubicBezTo>
                    <a:pt x="378296" y="1691773"/>
                    <a:pt x="594418" y="1945981"/>
                    <a:pt x="881724" y="2004772"/>
                  </a:cubicBezTo>
                  <a:lnTo>
                    <a:pt x="1008770" y="2017579"/>
                  </a:lnTo>
                  <a:lnTo>
                    <a:pt x="905643" y="2012372"/>
                  </a:lnTo>
                  <a:lnTo>
                    <a:pt x="805484" y="1997085"/>
                  </a:lnTo>
                  <a:cubicBezTo>
                    <a:pt x="345795" y="1903019"/>
                    <a:pt x="0" y="1496287"/>
                    <a:pt x="0" y="1008790"/>
                  </a:cubicBezTo>
                  <a:cubicBezTo>
                    <a:pt x="0" y="451651"/>
                    <a:pt x="451651" y="0"/>
                    <a:pt x="1008790" y="0"/>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outerShdw blurRad="50800" dist="38100" dir="10800000" algn="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97138" tIns="373102" rIns="1697139" bIns="4408261" numCol="1" spcCol="1270" anchor="ctr" anchorCtr="0">
              <a:noAutofit/>
            </a:bodyPr>
            <a:lstStyle/>
            <a:p>
              <a:pPr marL="0" lvl="0" indent="0" algn="ctr" defTabSz="755650">
                <a:lnSpc>
                  <a:spcPct val="90000"/>
                </a:lnSpc>
                <a:spcBef>
                  <a:spcPct val="0"/>
                </a:spcBef>
                <a:spcAft>
                  <a:spcPct val="35000"/>
                </a:spcAft>
                <a:buNone/>
              </a:pPr>
              <a:endParaRPr lang="en-GB" sz="1700" kern="1200" dirty="0"/>
            </a:p>
          </p:txBody>
        </p:sp>
      </p:grpSp>
      <p:sp>
        <p:nvSpPr>
          <p:cNvPr id="67" name="TextBox 66">
            <a:extLst>
              <a:ext uri="{FF2B5EF4-FFF2-40B4-BE49-F238E27FC236}">
                <a16:creationId xmlns:a16="http://schemas.microsoft.com/office/drawing/2014/main" id="{9D7E6CCE-9BB2-59DA-7B4E-101BB9F3ED9B}"/>
              </a:ext>
            </a:extLst>
          </p:cNvPr>
          <p:cNvSpPr txBox="1"/>
          <p:nvPr/>
        </p:nvSpPr>
        <p:spPr>
          <a:xfrm>
            <a:off x="5324690" y="5492217"/>
            <a:ext cx="4678862" cy="523220"/>
          </a:xfrm>
          <a:prstGeom prst="rect">
            <a:avLst/>
          </a:prstGeom>
          <a:noFill/>
        </p:spPr>
        <p:txBody>
          <a:bodyPr wrap="square" rtlCol="0">
            <a:spAutoFit/>
          </a:bodyPr>
          <a:lstStyle>
            <a:defPPr>
              <a:defRPr lang="en-US"/>
            </a:defPPr>
            <a:lvl1pPr>
              <a:defRPr sz="2800" b="0" spc="300">
                <a:solidFill>
                  <a:schemeClr val="tx2">
                    <a:lumMod val="75000"/>
                    <a:lumOff val="25000"/>
                  </a:schemeClr>
                </a:solidFill>
                <a:effectLst/>
              </a:defRPr>
            </a:lvl1pPr>
          </a:lstStyle>
          <a:p>
            <a:r>
              <a:rPr lang="en-GB" dirty="0"/>
              <a:t>Subscription Status</a:t>
            </a:r>
          </a:p>
        </p:txBody>
      </p:sp>
      <p:sp>
        <p:nvSpPr>
          <p:cNvPr id="68" name="TextBox 67">
            <a:extLst>
              <a:ext uri="{FF2B5EF4-FFF2-40B4-BE49-F238E27FC236}">
                <a16:creationId xmlns:a16="http://schemas.microsoft.com/office/drawing/2014/main" id="{CAE98832-4538-BC19-D228-C1673E1CE845}"/>
              </a:ext>
            </a:extLst>
          </p:cNvPr>
          <p:cNvSpPr txBox="1"/>
          <p:nvPr/>
        </p:nvSpPr>
        <p:spPr>
          <a:xfrm>
            <a:off x="4640015" y="5430662"/>
            <a:ext cx="744520" cy="584775"/>
          </a:xfrm>
          <a:prstGeom prst="rect">
            <a:avLst/>
          </a:prstGeom>
          <a:noFill/>
        </p:spPr>
        <p:txBody>
          <a:bodyPr wrap="square" rtlCol="0">
            <a:spAutoFit/>
          </a:bodyPr>
          <a:lstStyle>
            <a:defPPr>
              <a:defRPr lang="en-US"/>
            </a:defPPr>
            <a:lvl1pPr>
              <a:defRPr sz="3200" b="1">
                <a:solidFill>
                  <a:schemeClr val="tx2">
                    <a:lumMod val="50000"/>
                    <a:lumOff val="50000"/>
                  </a:schemeClr>
                </a:solidFill>
                <a:effectLst>
                  <a:outerShdw blurRad="50800" dist="38100" dir="18900000" algn="bl" rotWithShape="0">
                    <a:prstClr val="black">
                      <a:alpha val="40000"/>
                    </a:prstClr>
                  </a:outerShdw>
                </a:effectLst>
              </a:defRPr>
            </a:lvl1pPr>
          </a:lstStyle>
          <a:p>
            <a:r>
              <a:rPr lang="en-GB" dirty="0">
                <a:solidFill>
                  <a:schemeClr val="accent1">
                    <a:lumMod val="75000"/>
                  </a:schemeClr>
                </a:solidFill>
              </a:rPr>
              <a:t>01</a:t>
            </a:r>
          </a:p>
        </p:txBody>
      </p:sp>
      <p:sp>
        <p:nvSpPr>
          <p:cNvPr id="69" name="TextBox 68">
            <a:extLst>
              <a:ext uri="{FF2B5EF4-FFF2-40B4-BE49-F238E27FC236}">
                <a16:creationId xmlns:a16="http://schemas.microsoft.com/office/drawing/2014/main" id="{D566B91B-6AD0-A317-748E-B6F0EEBF250B}"/>
              </a:ext>
            </a:extLst>
          </p:cNvPr>
          <p:cNvSpPr txBox="1"/>
          <p:nvPr/>
        </p:nvSpPr>
        <p:spPr>
          <a:xfrm>
            <a:off x="5357308" y="4109344"/>
            <a:ext cx="4968151" cy="523220"/>
          </a:xfrm>
          <a:prstGeom prst="rect">
            <a:avLst/>
          </a:prstGeom>
          <a:noFill/>
        </p:spPr>
        <p:txBody>
          <a:bodyPr wrap="square" rtlCol="0">
            <a:spAutoFit/>
          </a:bodyPr>
          <a:lstStyle>
            <a:defPPr>
              <a:defRPr lang="en-US"/>
            </a:defPPr>
            <a:lvl1pPr>
              <a:defRPr sz="2800" b="0" spc="300">
                <a:solidFill>
                  <a:schemeClr val="tx2">
                    <a:lumMod val="75000"/>
                    <a:lumOff val="25000"/>
                  </a:schemeClr>
                </a:solidFill>
                <a:effectLst/>
              </a:defRPr>
            </a:lvl1pPr>
          </a:lstStyle>
          <a:p>
            <a:r>
              <a:rPr lang="en-GB" dirty="0"/>
              <a:t>Favourite Category</a:t>
            </a:r>
          </a:p>
        </p:txBody>
      </p:sp>
      <p:sp>
        <p:nvSpPr>
          <p:cNvPr id="70" name="TextBox 69">
            <a:extLst>
              <a:ext uri="{FF2B5EF4-FFF2-40B4-BE49-F238E27FC236}">
                <a16:creationId xmlns:a16="http://schemas.microsoft.com/office/drawing/2014/main" id="{A4E090F1-B94D-1389-1528-4A15A3C78349}"/>
              </a:ext>
            </a:extLst>
          </p:cNvPr>
          <p:cNvSpPr txBox="1"/>
          <p:nvPr/>
        </p:nvSpPr>
        <p:spPr>
          <a:xfrm>
            <a:off x="4640015" y="4047789"/>
            <a:ext cx="788122" cy="584775"/>
          </a:xfrm>
          <a:prstGeom prst="rect">
            <a:avLst/>
          </a:prstGeom>
          <a:noFill/>
        </p:spPr>
        <p:txBody>
          <a:bodyPr wrap="square" rtlCol="0">
            <a:spAutoFit/>
          </a:bodyPr>
          <a:lstStyle>
            <a:defPPr>
              <a:defRPr lang="en-US"/>
            </a:defPPr>
            <a:lvl1pPr>
              <a:defRPr sz="3200" b="1">
                <a:solidFill>
                  <a:schemeClr val="tx2">
                    <a:lumMod val="50000"/>
                    <a:lumOff val="50000"/>
                  </a:schemeClr>
                </a:solidFill>
                <a:effectLst>
                  <a:outerShdw blurRad="50800" dist="38100" dir="18900000" algn="bl" rotWithShape="0">
                    <a:prstClr val="black">
                      <a:alpha val="40000"/>
                    </a:prstClr>
                  </a:outerShdw>
                </a:effectLst>
              </a:defRPr>
            </a:lvl1pPr>
          </a:lstStyle>
          <a:p>
            <a:r>
              <a:rPr lang="en-GB" dirty="0">
                <a:solidFill>
                  <a:schemeClr val="accent1">
                    <a:lumMod val="75000"/>
                  </a:schemeClr>
                </a:solidFill>
              </a:rPr>
              <a:t>02</a:t>
            </a:r>
          </a:p>
        </p:txBody>
      </p:sp>
      <p:sp>
        <p:nvSpPr>
          <p:cNvPr id="71" name="TextBox 70">
            <a:extLst>
              <a:ext uri="{FF2B5EF4-FFF2-40B4-BE49-F238E27FC236}">
                <a16:creationId xmlns:a16="http://schemas.microsoft.com/office/drawing/2014/main" id="{4DBCAF6B-0627-407D-6BA2-9D5FB03CA01D}"/>
              </a:ext>
            </a:extLst>
          </p:cNvPr>
          <p:cNvSpPr txBox="1"/>
          <p:nvPr/>
        </p:nvSpPr>
        <p:spPr>
          <a:xfrm>
            <a:off x="5357308" y="3158992"/>
            <a:ext cx="4968151" cy="523220"/>
          </a:xfrm>
          <a:prstGeom prst="rect">
            <a:avLst/>
          </a:prstGeom>
          <a:noFill/>
        </p:spPr>
        <p:txBody>
          <a:bodyPr wrap="square" rtlCol="0">
            <a:spAutoFit/>
          </a:bodyPr>
          <a:lstStyle>
            <a:defPPr>
              <a:defRPr lang="en-US"/>
            </a:defPPr>
            <a:lvl1pPr>
              <a:defRPr sz="2800" b="0" spc="300">
                <a:solidFill>
                  <a:schemeClr val="tx2">
                    <a:lumMod val="75000"/>
                    <a:lumOff val="25000"/>
                  </a:schemeClr>
                </a:solidFill>
                <a:effectLst/>
              </a:defRPr>
            </a:lvl1pPr>
          </a:lstStyle>
          <a:p>
            <a:r>
              <a:rPr lang="en-GB" dirty="0"/>
              <a:t>Acquisition Channel</a:t>
            </a:r>
          </a:p>
        </p:txBody>
      </p:sp>
      <p:sp>
        <p:nvSpPr>
          <p:cNvPr id="72" name="TextBox 71">
            <a:extLst>
              <a:ext uri="{FF2B5EF4-FFF2-40B4-BE49-F238E27FC236}">
                <a16:creationId xmlns:a16="http://schemas.microsoft.com/office/drawing/2014/main" id="{BA323880-4728-56D4-6E6D-337349F6F6D0}"/>
              </a:ext>
            </a:extLst>
          </p:cNvPr>
          <p:cNvSpPr txBox="1"/>
          <p:nvPr/>
        </p:nvSpPr>
        <p:spPr>
          <a:xfrm>
            <a:off x="4640015" y="3097437"/>
            <a:ext cx="666552" cy="584775"/>
          </a:xfrm>
          <a:prstGeom prst="rect">
            <a:avLst/>
          </a:prstGeom>
          <a:noFill/>
        </p:spPr>
        <p:txBody>
          <a:bodyPr wrap="square" rtlCol="0">
            <a:spAutoFit/>
          </a:bodyPr>
          <a:lstStyle>
            <a:defPPr>
              <a:defRPr lang="en-US"/>
            </a:defPPr>
            <a:lvl1pPr>
              <a:defRPr sz="3200" b="1">
                <a:solidFill>
                  <a:schemeClr val="tx2">
                    <a:lumMod val="50000"/>
                    <a:lumOff val="50000"/>
                  </a:schemeClr>
                </a:solidFill>
                <a:effectLst>
                  <a:outerShdw blurRad="50800" dist="38100" dir="18900000" algn="bl" rotWithShape="0">
                    <a:prstClr val="black">
                      <a:alpha val="40000"/>
                    </a:prstClr>
                  </a:outerShdw>
                </a:effectLst>
              </a:defRPr>
            </a:lvl1pPr>
          </a:lstStyle>
          <a:p>
            <a:r>
              <a:rPr lang="en-GB" dirty="0">
                <a:solidFill>
                  <a:schemeClr val="accent1">
                    <a:lumMod val="75000"/>
                  </a:schemeClr>
                </a:solidFill>
              </a:rPr>
              <a:t>03</a:t>
            </a:r>
          </a:p>
        </p:txBody>
      </p:sp>
      <p:sp>
        <p:nvSpPr>
          <p:cNvPr id="73" name="TextBox 72">
            <a:extLst>
              <a:ext uri="{FF2B5EF4-FFF2-40B4-BE49-F238E27FC236}">
                <a16:creationId xmlns:a16="http://schemas.microsoft.com/office/drawing/2014/main" id="{A4113979-94B0-D461-C26F-44E92FDD9BDC}"/>
              </a:ext>
            </a:extLst>
          </p:cNvPr>
          <p:cNvSpPr txBox="1"/>
          <p:nvPr/>
        </p:nvSpPr>
        <p:spPr>
          <a:xfrm>
            <a:off x="5324690" y="2160174"/>
            <a:ext cx="3558616" cy="523220"/>
          </a:xfrm>
          <a:prstGeom prst="rect">
            <a:avLst/>
          </a:prstGeom>
          <a:noFill/>
        </p:spPr>
        <p:txBody>
          <a:bodyPr wrap="square" rtlCol="0">
            <a:spAutoFit/>
          </a:bodyPr>
          <a:lstStyle>
            <a:defPPr>
              <a:defRPr lang="en-US"/>
            </a:defPPr>
            <a:lvl1pPr>
              <a:defRPr sz="2800" b="0" spc="300">
                <a:solidFill>
                  <a:schemeClr val="tx2">
                    <a:lumMod val="75000"/>
                    <a:lumOff val="25000"/>
                  </a:schemeClr>
                </a:solidFill>
                <a:effectLst/>
              </a:defRPr>
            </a:lvl1pPr>
          </a:lstStyle>
          <a:p>
            <a:r>
              <a:rPr lang="en-GB" dirty="0"/>
              <a:t>Region</a:t>
            </a:r>
          </a:p>
        </p:txBody>
      </p:sp>
      <p:sp>
        <p:nvSpPr>
          <p:cNvPr id="74" name="TextBox 73">
            <a:extLst>
              <a:ext uri="{FF2B5EF4-FFF2-40B4-BE49-F238E27FC236}">
                <a16:creationId xmlns:a16="http://schemas.microsoft.com/office/drawing/2014/main" id="{399D9E53-0DDC-B5C0-47B6-E5B757C006A4}"/>
              </a:ext>
            </a:extLst>
          </p:cNvPr>
          <p:cNvSpPr txBox="1"/>
          <p:nvPr/>
        </p:nvSpPr>
        <p:spPr>
          <a:xfrm>
            <a:off x="4640015" y="2098619"/>
            <a:ext cx="645375" cy="584775"/>
          </a:xfrm>
          <a:prstGeom prst="rect">
            <a:avLst/>
          </a:prstGeom>
          <a:noFill/>
        </p:spPr>
        <p:txBody>
          <a:bodyPr wrap="square" rtlCol="0">
            <a:spAutoFit/>
          </a:bodyPr>
          <a:lstStyle>
            <a:defPPr>
              <a:defRPr lang="en-US"/>
            </a:defPPr>
            <a:lvl1pPr>
              <a:defRPr sz="3200" b="1">
                <a:solidFill>
                  <a:schemeClr val="tx2">
                    <a:lumMod val="50000"/>
                    <a:lumOff val="50000"/>
                  </a:schemeClr>
                </a:solidFill>
                <a:effectLst>
                  <a:outerShdw blurRad="50800" dist="38100" dir="18900000" algn="bl" rotWithShape="0">
                    <a:prstClr val="black">
                      <a:alpha val="40000"/>
                    </a:prstClr>
                  </a:outerShdw>
                </a:effectLst>
              </a:defRPr>
            </a:lvl1pPr>
          </a:lstStyle>
          <a:p>
            <a:r>
              <a:rPr lang="en-GB" dirty="0">
                <a:solidFill>
                  <a:schemeClr val="accent1">
                    <a:lumMod val="75000"/>
                  </a:schemeClr>
                </a:solidFill>
              </a:rPr>
              <a:t>04</a:t>
            </a:r>
          </a:p>
        </p:txBody>
      </p:sp>
      <p:sp>
        <p:nvSpPr>
          <p:cNvPr id="75" name="TextBox 74">
            <a:extLst>
              <a:ext uri="{FF2B5EF4-FFF2-40B4-BE49-F238E27FC236}">
                <a16:creationId xmlns:a16="http://schemas.microsoft.com/office/drawing/2014/main" id="{0358394F-96D6-1932-D8AE-65A31543501B}"/>
              </a:ext>
            </a:extLst>
          </p:cNvPr>
          <p:cNvSpPr txBox="1"/>
          <p:nvPr/>
        </p:nvSpPr>
        <p:spPr>
          <a:xfrm>
            <a:off x="5306567" y="1178633"/>
            <a:ext cx="4384512" cy="523220"/>
          </a:xfrm>
          <a:prstGeom prst="rect">
            <a:avLst/>
          </a:prstGeom>
          <a:noFill/>
        </p:spPr>
        <p:txBody>
          <a:bodyPr wrap="square" rtlCol="0">
            <a:spAutoFit/>
          </a:bodyPr>
          <a:lstStyle>
            <a:defPPr>
              <a:defRPr lang="en-US"/>
            </a:defPPr>
            <a:lvl1pPr>
              <a:defRPr sz="2800" b="0" spc="600">
                <a:solidFill>
                  <a:schemeClr val="tx2">
                    <a:lumMod val="50000"/>
                    <a:lumOff val="50000"/>
                  </a:schemeClr>
                </a:solidFill>
                <a:effectLst/>
              </a:defRPr>
            </a:lvl1pPr>
          </a:lstStyle>
          <a:p>
            <a:r>
              <a:rPr lang="en-GB" spc="300" dirty="0">
                <a:solidFill>
                  <a:schemeClr val="tx2">
                    <a:lumMod val="75000"/>
                    <a:lumOff val="25000"/>
                  </a:schemeClr>
                </a:solidFill>
              </a:rPr>
              <a:t>Lifetime Duration</a:t>
            </a:r>
          </a:p>
        </p:txBody>
      </p:sp>
      <p:sp>
        <p:nvSpPr>
          <p:cNvPr id="76" name="TextBox 75">
            <a:extLst>
              <a:ext uri="{FF2B5EF4-FFF2-40B4-BE49-F238E27FC236}">
                <a16:creationId xmlns:a16="http://schemas.microsoft.com/office/drawing/2014/main" id="{98A7F4E5-AD99-C600-016C-6A52C7727274}"/>
              </a:ext>
            </a:extLst>
          </p:cNvPr>
          <p:cNvSpPr txBox="1"/>
          <p:nvPr/>
        </p:nvSpPr>
        <p:spPr>
          <a:xfrm>
            <a:off x="4640015" y="1117078"/>
            <a:ext cx="684675" cy="584775"/>
          </a:xfrm>
          <a:prstGeom prst="rect">
            <a:avLst/>
          </a:prstGeom>
          <a:noFill/>
        </p:spPr>
        <p:txBody>
          <a:bodyPr wrap="square" rtlCol="0">
            <a:spAutoFit/>
          </a:bodyPr>
          <a:lstStyle>
            <a:defPPr>
              <a:defRPr lang="en-US"/>
            </a:defPPr>
            <a:lvl1pPr>
              <a:defRPr sz="3200" b="1">
                <a:solidFill>
                  <a:schemeClr val="tx2">
                    <a:lumMod val="50000"/>
                    <a:lumOff val="50000"/>
                  </a:schemeClr>
                </a:solidFill>
                <a:effectLst>
                  <a:outerShdw blurRad="50800" dist="38100" dir="18900000" algn="bl" rotWithShape="0">
                    <a:prstClr val="black">
                      <a:alpha val="40000"/>
                    </a:prstClr>
                  </a:outerShdw>
                </a:effectLst>
              </a:defRPr>
            </a:lvl1pPr>
          </a:lstStyle>
          <a:p>
            <a:r>
              <a:rPr lang="en-GB" dirty="0">
                <a:solidFill>
                  <a:schemeClr val="accent1">
                    <a:lumMod val="75000"/>
                  </a:schemeClr>
                </a:solidFill>
              </a:rPr>
              <a:t>05</a:t>
            </a:r>
          </a:p>
        </p:txBody>
      </p:sp>
    </p:spTree>
    <p:extLst>
      <p:ext uri="{BB962C8B-B14F-4D97-AF65-F5344CB8AC3E}">
        <p14:creationId xmlns:p14="http://schemas.microsoft.com/office/powerpoint/2010/main" val="3879068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07D9D-30E3-98EA-88A3-68067FD4EE4A}"/>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079956E-4BA1-3E7C-B1F1-517E9040085F}"/>
              </a:ext>
            </a:extLst>
          </p:cNvPr>
          <p:cNvSpPr/>
          <p:nvPr/>
        </p:nvSpPr>
        <p:spPr>
          <a:xfrm>
            <a:off x="269630" y="158261"/>
            <a:ext cx="11723077" cy="6453553"/>
          </a:xfrm>
          <a:prstGeom prst="roundRect">
            <a:avLst>
              <a:gd name="adj" fmla="val 5223"/>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CB7D01C9-E52D-7D66-CE55-B1F4AC853F2D}"/>
              </a:ext>
            </a:extLst>
          </p:cNvPr>
          <p:cNvSpPr/>
          <p:nvPr/>
        </p:nvSpPr>
        <p:spPr>
          <a:xfrm>
            <a:off x="1449568" y="158260"/>
            <a:ext cx="10543139" cy="6453553"/>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grpSp>
        <p:nvGrpSpPr>
          <p:cNvPr id="3" name="Group 2">
            <a:extLst>
              <a:ext uri="{FF2B5EF4-FFF2-40B4-BE49-F238E27FC236}">
                <a16:creationId xmlns:a16="http://schemas.microsoft.com/office/drawing/2014/main" id="{E0E04CB6-31ED-ABF5-2936-1D63D07730E0}"/>
              </a:ext>
            </a:extLst>
          </p:cNvPr>
          <p:cNvGrpSpPr/>
          <p:nvPr/>
        </p:nvGrpSpPr>
        <p:grpSpPr>
          <a:xfrm>
            <a:off x="516193" y="246186"/>
            <a:ext cx="855407" cy="815698"/>
            <a:chOff x="1571740" y="755582"/>
            <a:chExt cx="1118229" cy="1052107"/>
          </a:xfrm>
        </p:grpSpPr>
        <p:grpSp>
          <p:nvGrpSpPr>
            <p:cNvPr id="48" name="Group 47">
              <a:extLst>
                <a:ext uri="{FF2B5EF4-FFF2-40B4-BE49-F238E27FC236}">
                  <a16:creationId xmlns:a16="http://schemas.microsoft.com/office/drawing/2014/main" id="{2776E9C2-0395-BEF2-3E75-804D5B874CBA}"/>
                </a:ext>
              </a:extLst>
            </p:cNvPr>
            <p:cNvGrpSpPr/>
            <p:nvPr/>
          </p:nvGrpSpPr>
          <p:grpSpPr>
            <a:xfrm>
              <a:off x="1571740" y="755582"/>
              <a:ext cx="1118229" cy="1052107"/>
              <a:chOff x="1238865" y="1443039"/>
              <a:chExt cx="1917290" cy="1985961"/>
            </a:xfrm>
          </p:grpSpPr>
          <p:sp>
            <p:nvSpPr>
              <p:cNvPr id="49" name="Oval 48">
                <a:extLst>
                  <a:ext uri="{FF2B5EF4-FFF2-40B4-BE49-F238E27FC236}">
                    <a16:creationId xmlns:a16="http://schemas.microsoft.com/office/drawing/2014/main" id="{141E1711-F486-84A5-3390-4C242EFC641A}"/>
                  </a:ext>
                </a:extLst>
              </p:cNvPr>
              <p:cNvSpPr/>
              <p:nvPr/>
            </p:nvSpPr>
            <p:spPr>
              <a:xfrm>
                <a:off x="1238865" y="1443039"/>
                <a:ext cx="1917290" cy="1985961"/>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Oval 49">
                <a:extLst>
                  <a:ext uri="{FF2B5EF4-FFF2-40B4-BE49-F238E27FC236}">
                    <a16:creationId xmlns:a16="http://schemas.microsoft.com/office/drawing/2014/main" id="{D3210B0E-B46F-1296-05C5-7F98F815F1C7}"/>
                  </a:ext>
                </a:extLst>
              </p:cNvPr>
              <p:cNvSpPr/>
              <p:nvPr/>
            </p:nvSpPr>
            <p:spPr>
              <a:xfrm>
                <a:off x="1333423" y="1545431"/>
                <a:ext cx="1728173" cy="1781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50">
                <a:extLst>
                  <a:ext uri="{FF2B5EF4-FFF2-40B4-BE49-F238E27FC236}">
                    <a16:creationId xmlns:a16="http://schemas.microsoft.com/office/drawing/2014/main" id="{C4C899A8-017D-0CA6-420B-90FAE0AB4F36}"/>
                  </a:ext>
                </a:extLst>
              </p:cNvPr>
              <p:cNvSpPr/>
              <p:nvPr/>
            </p:nvSpPr>
            <p:spPr>
              <a:xfrm>
                <a:off x="1421184" y="1647283"/>
                <a:ext cx="1552651" cy="1577470"/>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2" name="TextBox 23">
              <a:extLst>
                <a:ext uri="{FF2B5EF4-FFF2-40B4-BE49-F238E27FC236}">
                  <a16:creationId xmlns:a16="http://schemas.microsoft.com/office/drawing/2014/main" id="{A8265D38-CA42-96EB-630E-B9B22C2B9031}"/>
                </a:ext>
              </a:extLst>
            </p:cNvPr>
            <p:cNvSpPr txBox="1"/>
            <p:nvPr/>
          </p:nvSpPr>
          <p:spPr>
            <a:xfrm>
              <a:off x="1886333" y="908417"/>
              <a:ext cx="489041" cy="50025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2800" b="1" i="0" u="none" strike="noStrike" dirty="0">
                  <a:solidFill>
                    <a:schemeClr val="tx1"/>
                  </a:solidFill>
                  <a:latin typeface="Aptos Narrow"/>
                  <a:ea typeface="+mn-ea"/>
                  <a:cs typeface="+mn-cs"/>
                </a:rPr>
                <a:t>6</a:t>
              </a:r>
            </a:p>
          </p:txBody>
        </p:sp>
      </p:grpSp>
      <p:sp>
        <p:nvSpPr>
          <p:cNvPr id="15" name="Rectangle: Rounded Corners 14">
            <a:extLst>
              <a:ext uri="{FF2B5EF4-FFF2-40B4-BE49-F238E27FC236}">
                <a16:creationId xmlns:a16="http://schemas.microsoft.com/office/drawing/2014/main" id="{8CF41520-1E57-9CED-23EA-1831B374AF6E}"/>
              </a:ext>
            </a:extLst>
          </p:cNvPr>
          <p:cNvSpPr/>
          <p:nvPr/>
        </p:nvSpPr>
        <p:spPr>
          <a:xfrm>
            <a:off x="4402989" y="232000"/>
            <a:ext cx="4636297" cy="42208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2">
                    <a:lumMod val="75000"/>
                    <a:lumOff val="25000"/>
                  </a:schemeClr>
                </a:solidFill>
              </a:rPr>
              <a:t>Where is churn coming from ?</a:t>
            </a:r>
          </a:p>
        </p:txBody>
      </p:sp>
      <p:sp>
        <p:nvSpPr>
          <p:cNvPr id="10" name="Freeform: Shape 9">
            <a:extLst>
              <a:ext uri="{FF2B5EF4-FFF2-40B4-BE49-F238E27FC236}">
                <a16:creationId xmlns:a16="http://schemas.microsoft.com/office/drawing/2014/main" id="{03BC3272-6DA1-3DA4-2909-A71775D7FB3A}"/>
              </a:ext>
            </a:extLst>
          </p:cNvPr>
          <p:cNvSpPr/>
          <p:nvPr/>
        </p:nvSpPr>
        <p:spPr>
          <a:xfrm>
            <a:off x="1594849" y="904677"/>
            <a:ext cx="733918" cy="1369042"/>
          </a:xfrm>
          <a:custGeom>
            <a:avLst/>
            <a:gdLst>
              <a:gd name="connsiteX0" fmla="*/ 630494 w 654268"/>
              <a:gd name="connsiteY0" fmla="*/ 0 h 1260987"/>
              <a:gd name="connsiteX1" fmla="*/ 654268 w 654268"/>
              <a:gd name="connsiteY1" fmla="*/ 2397 h 1260987"/>
              <a:gd name="connsiteX2" fmla="*/ 654268 w 654268"/>
              <a:gd name="connsiteY2" fmla="*/ 1258592 h 1260987"/>
              <a:gd name="connsiteX3" fmla="*/ 630515 w 654268"/>
              <a:gd name="connsiteY3" fmla="*/ 1260986 h 1260987"/>
              <a:gd name="connsiteX4" fmla="*/ 630494 w 654268"/>
              <a:gd name="connsiteY4" fmla="*/ 1260987 h 1260987"/>
              <a:gd name="connsiteX5" fmla="*/ 630474 w 654268"/>
              <a:gd name="connsiteY5" fmla="*/ 1260986 h 1260987"/>
              <a:gd name="connsiteX6" fmla="*/ 503428 w 654268"/>
              <a:gd name="connsiteY6" fmla="*/ 1248179 h 1260987"/>
              <a:gd name="connsiteX7" fmla="*/ 0 w 654268"/>
              <a:gd name="connsiteY7" fmla="*/ 630494 h 1260987"/>
              <a:gd name="connsiteX8" fmla="*/ 630494 w 654268"/>
              <a:gd name="connsiteY8" fmla="*/ 0 h 1260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4268" h="1260987">
                <a:moveTo>
                  <a:pt x="630494" y="0"/>
                </a:moveTo>
                <a:lnTo>
                  <a:pt x="654268" y="2397"/>
                </a:lnTo>
                <a:lnTo>
                  <a:pt x="654268" y="1258592"/>
                </a:lnTo>
                <a:lnTo>
                  <a:pt x="630515" y="1260986"/>
                </a:lnTo>
                <a:lnTo>
                  <a:pt x="630494" y="1260987"/>
                </a:lnTo>
                <a:lnTo>
                  <a:pt x="630474" y="1260986"/>
                </a:lnTo>
                <a:lnTo>
                  <a:pt x="503428" y="1248179"/>
                </a:lnTo>
                <a:cubicBezTo>
                  <a:pt x="216122" y="1189388"/>
                  <a:pt x="0" y="935180"/>
                  <a:pt x="0" y="630494"/>
                </a:cubicBezTo>
                <a:cubicBezTo>
                  <a:pt x="0" y="282282"/>
                  <a:pt x="282282" y="0"/>
                  <a:pt x="630494" y="0"/>
                </a:cubicBezTo>
                <a:close/>
              </a:path>
            </a:pathLst>
          </a:custGeom>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a:ln>
            <a:noFill/>
          </a:ln>
          <a:effectLst>
            <a:outerShdw blurRad="50800" dist="50800" dir="5400000" algn="ctr" rotWithShape="0">
              <a:schemeClr val="tx1"/>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97138" tIns="373102" rIns="1697139" bIns="4408261" numCol="1" spcCol="1270" anchor="ctr" anchorCtr="0">
            <a:noAutofit/>
          </a:bodyPr>
          <a:lstStyle/>
          <a:p>
            <a:pPr marL="0" lvl="0" indent="0" algn="ctr" defTabSz="755650">
              <a:lnSpc>
                <a:spcPct val="90000"/>
              </a:lnSpc>
              <a:spcBef>
                <a:spcPct val="0"/>
              </a:spcBef>
              <a:spcAft>
                <a:spcPct val="35000"/>
              </a:spcAft>
              <a:buNone/>
            </a:pPr>
            <a:endParaRPr lang="en-GB" sz="1700" kern="1200" dirty="0">
              <a:solidFill>
                <a:schemeClr val="accent1">
                  <a:lumMod val="20000"/>
                  <a:lumOff val="80000"/>
                </a:schemeClr>
              </a:solidFill>
            </a:endParaRPr>
          </a:p>
        </p:txBody>
      </p:sp>
      <p:sp>
        <p:nvSpPr>
          <p:cNvPr id="11" name="Rectangle 10">
            <a:extLst>
              <a:ext uri="{FF2B5EF4-FFF2-40B4-BE49-F238E27FC236}">
                <a16:creationId xmlns:a16="http://schemas.microsoft.com/office/drawing/2014/main" id="{8F20A31F-CF48-DB9F-D2FC-11FE4D3E4B78}"/>
              </a:ext>
            </a:extLst>
          </p:cNvPr>
          <p:cNvSpPr/>
          <p:nvPr/>
        </p:nvSpPr>
        <p:spPr>
          <a:xfrm>
            <a:off x="2309626" y="904678"/>
            <a:ext cx="5030678" cy="5510869"/>
          </a:xfrm>
          <a:prstGeom prst="rect">
            <a:avLst/>
          </a:prstGeom>
          <a:gradFill>
            <a:gsLst>
              <a:gs pos="80000">
                <a:schemeClr val="accent4">
                  <a:lumMod val="89000"/>
                </a:schemeClr>
              </a:gs>
              <a:gs pos="57000">
                <a:schemeClr val="accent4">
                  <a:lumMod val="75000"/>
                </a:schemeClr>
              </a:gs>
              <a:gs pos="28000">
                <a:schemeClr val="accent4">
                  <a:lumMod val="70000"/>
                </a:schemeClr>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5F9C88CB-98B3-D827-EAC9-8557709D5102}"/>
              </a:ext>
            </a:extLst>
          </p:cNvPr>
          <p:cNvSpPr txBox="1"/>
          <p:nvPr/>
        </p:nvSpPr>
        <p:spPr>
          <a:xfrm>
            <a:off x="1662215" y="1296810"/>
            <a:ext cx="744520" cy="584775"/>
          </a:xfrm>
          <a:prstGeom prst="rect">
            <a:avLst/>
          </a:prstGeom>
          <a:noFill/>
        </p:spPr>
        <p:txBody>
          <a:bodyPr wrap="square" rtlCol="0">
            <a:spAutoFit/>
          </a:bodyPr>
          <a:lstStyle>
            <a:defPPr>
              <a:defRPr lang="en-US"/>
            </a:defPPr>
            <a:lvl1pPr>
              <a:defRPr sz="3200" b="1">
                <a:solidFill>
                  <a:schemeClr val="tx2">
                    <a:lumMod val="50000"/>
                    <a:lumOff val="50000"/>
                  </a:schemeClr>
                </a:solidFill>
                <a:effectLst>
                  <a:outerShdw blurRad="50800" dist="38100" dir="18900000" algn="bl" rotWithShape="0">
                    <a:prstClr val="black">
                      <a:alpha val="40000"/>
                    </a:prstClr>
                  </a:outerShdw>
                </a:effectLst>
              </a:defRPr>
            </a:lvl1pPr>
          </a:lstStyle>
          <a:p>
            <a:r>
              <a:rPr lang="en-GB" dirty="0">
                <a:solidFill>
                  <a:schemeClr val="bg2"/>
                </a:solidFill>
              </a:rPr>
              <a:t>01</a:t>
            </a:r>
          </a:p>
        </p:txBody>
      </p:sp>
      <p:sp>
        <p:nvSpPr>
          <p:cNvPr id="13" name="TextBox 12">
            <a:extLst>
              <a:ext uri="{FF2B5EF4-FFF2-40B4-BE49-F238E27FC236}">
                <a16:creationId xmlns:a16="http://schemas.microsoft.com/office/drawing/2014/main" id="{920CDEEE-80B5-E615-DC14-1E11D972BAA8}"/>
              </a:ext>
            </a:extLst>
          </p:cNvPr>
          <p:cNvSpPr txBox="1"/>
          <p:nvPr/>
        </p:nvSpPr>
        <p:spPr>
          <a:xfrm>
            <a:off x="3169674" y="1019828"/>
            <a:ext cx="3310583" cy="523220"/>
          </a:xfrm>
          <a:prstGeom prst="rect">
            <a:avLst/>
          </a:prstGeom>
          <a:noFill/>
        </p:spPr>
        <p:txBody>
          <a:bodyPr wrap="square" rtlCol="0">
            <a:spAutoFit/>
          </a:bodyPr>
          <a:lstStyle>
            <a:defPPr>
              <a:defRPr lang="en-US"/>
            </a:defPPr>
            <a:lvl1pPr>
              <a:defRPr sz="2800" b="0" spc="600">
                <a:solidFill>
                  <a:schemeClr val="tx2">
                    <a:lumMod val="50000"/>
                    <a:lumOff val="50000"/>
                  </a:schemeClr>
                </a:solidFill>
                <a:effectLst/>
              </a:defRPr>
            </a:lvl1pPr>
          </a:lstStyle>
          <a:p>
            <a:r>
              <a:rPr lang="en-GB" spc="0" dirty="0">
                <a:solidFill>
                  <a:schemeClr val="bg1">
                    <a:lumMod val="95000"/>
                  </a:schemeClr>
                </a:solidFill>
              </a:rPr>
              <a:t>Subscription Status</a:t>
            </a:r>
          </a:p>
        </p:txBody>
      </p:sp>
      <p:graphicFrame>
        <p:nvGraphicFramePr>
          <p:cNvPr id="14" name="Chart 13">
            <a:extLst>
              <a:ext uri="{FF2B5EF4-FFF2-40B4-BE49-F238E27FC236}">
                <a16:creationId xmlns:a16="http://schemas.microsoft.com/office/drawing/2014/main" id="{0F7A477E-5B1B-44C9-8DD5-F38899A0CECD}"/>
              </a:ext>
            </a:extLst>
          </p:cNvPr>
          <p:cNvGraphicFramePr>
            <a:graphicFrameLocks/>
          </p:cNvGraphicFramePr>
          <p:nvPr>
            <p:extLst>
              <p:ext uri="{D42A27DB-BD31-4B8C-83A1-F6EECF244321}">
                <p14:modId xmlns:p14="http://schemas.microsoft.com/office/powerpoint/2010/main" val="831193708"/>
              </p:ext>
            </p:extLst>
          </p:nvPr>
        </p:nvGraphicFramePr>
        <p:xfrm>
          <a:off x="7963767" y="904677"/>
          <a:ext cx="3837213" cy="551087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a:extLst>
              <a:ext uri="{FF2B5EF4-FFF2-40B4-BE49-F238E27FC236}">
                <a16:creationId xmlns:a16="http://schemas.microsoft.com/office/drawing/2014/main" id="{A847A443-3FBB-9405-DCEE-088F56D4D10D}"/>
              </a:ext>
            </a:extLst>
          </p:cNvPr>
          <p:cNvSpPr txBox="1"/>
          <p:nvPr/>
        </p:nvSpPr>
        <p:spPr>
          <a:xfrm>
            <a:off x="2664312" y="1881585"/>
            <a:ext cx="4503404" cy="1200329"/>
          </a:xfrm>
          <a:prstGeom prst="rect">
            <a:avLst/>
          </a:prstGeom>
          <a:noFill/>
        </p:spPr>
        <p:txBody>
          <a:bodyPr wrap="square" rtlCol="0">
            <a:spAutoFit/>
          </a:bodyPr>
          <a:lstStyle/>
          <a:p>
            <a:pPr marL="285750" indent="-285750">
              <a:buFont typeface="Arial" panose="020B0604020202020204" pitchFamily="34" charset="0"/>
              <a:buChar char="•"/>
            </a:pPr>
            <a:r>
              <a:rPr lang="en-GB" dirty="0">
                <a:solidFill>
                  <a:schemeClr val="bg1">
                    <a:lumMod val="95000"/>
                  </a:schemeClr>
                </a:solidFill>
              </a:rPr>
              <a:t>Most customers on ‘Free’ subscription are churned customers and also the highest amount of active customers are on ‘Free’ subscription.</a:t>
            </a:r>
          </a:p>
        </p:txBody>
      </p:sp>
      <p:sp>
        <p:nvSpPr>
          <p:cNvPr id="18" name="TextBox 17">
            <a:extLst>
              <a:ext uri="{FF2B5EF4-FFF2-40B4-BE49-F238E27FC236}">
                <a16:creationId xmlns:a16="http://schemas.microsoft.com/office/drawing/2014/main" id="{AB00D0C2-8A83-BF2F-9CA1-EB96EE5706B4}"/>
              </a:ext>
            </a:extLst>
          </p:cNvPr>
          <p:cNvSpPr txBox="1"/>
          <p:nvPr/>
        </p:nvSpPr>
        <p:spPr>
          <a:xfrm>
            <a:off x="2664312" y="3828331"/>
            <a:ext cx="4503404" cy="1477328"/>
          </a:xfrm>
          <a:prstGeom prst="rect">
            <a:avLst/>
          </a:prstGeom>
          <a:noFill/>
        </p:spPr>
        <p:txBody>
          <a:bodyPr wrap="square" rtlCol="0">
            <a:spAutoFit/>
          </a:bodyPr>
          <a:lstStyle/>
          <a:p>
            <a:pPr marL="285750" indent="-285750">
              <a:buFont typeface="Arial" panose="020B0604020202020204" pitchFamily="34" charset="0"/>
              <a:buChar char="•"/>
            </a:pPr>
            <a:r>
              <a:rPr lang="en-GB" dirty="0">
                <a:solidFill>
                  <a:schemeClr val="bg1">
                    <a:lumMod val="95000"/>
                  </a:schemeClr>
                </a:solidFill>
              </a:rPr>
              <a:t>Subscription Status does not reflect the increase in churn rate as the other groups ( Basic &amp; Premium) also show more churned customers than active customers.</a:t>
            </a:r>
          </a:p>
        </p:txBody>
      </p:sp>
      <p:sp>
        <p:nvSpPr>
          <p:cNvPr id="20" name="TextBox 16">
            <a:extLst>
              <a:ext uri="{FF2B5EF4-FFF2-40B4-BE49-F238E27FC236}">
                <a16:creationId xmlns:a16="http://schemas.microsoft.com/office/drawing/2014/main" id="{1E401B68-0AD6-4722-AF2D-9A398903969F}"/>
              </a:ext>
            </a:extLst>
          </p:cNvPr>
          <p:cNvSpPr txBox="1"/>
          <p:nvPr/>
        </p:nvSpPr>
        <p:spPr>
          <a:xfrm>
            <a:off x="8055081" y="941546"/>
            <a:ext cx="2542070" cy="35526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defPPr>
              <a:defRPr lang="en-US"/>
            </a:defPPr>
            <a:lvl1pPr indent="0">
              <a:defRPr b="1" baseline="0">
                <a:solidFill>
                  <a:schemeClr val="accent1"/>
                </a:solidFill>
              </a:defRPr>
            </a:lvl1pPr>
            <a:lvl2pPr indent="0">
              <a:defRPr sz="1100"/>
            </a:lvl2pPr>
            <a:lvl3pPr indent="0">
              <a:defRPr sz="1100"/>
            </a:lvl3pPr>
            <a:lvl4pPr indent="0">
              <a:defRPr sz="1100"/>
            </a:lvl4pPr>
            <a:lvl5pPr indent="0">
              <a:defRPr sz="1100"/>
            </a:lvl5pPr>
            <a:lvl6pPr indent="0">
              <a:defRPr sz="1100"/>
            </a:lvl6pPr>
            <a:lvl7pPr indent="0">
              <a:defRPr sz="1100"/>
            </a:lvl7pPr>
            <a:lvl8pPr indent="0">
              <a:defRPr sz="1100"/>
            </a:lvl8pPr>
            <a:lvl9pPr indent="0">
              <a:defRPr sz="1100"/>
            </a:lvl9pPr>
          </a:lstStyle>
          <a:p>
            <a:r>
              <a:rPr lang="en-GB" dirty="0"/>
              <a:t>Subscription Status</a:t>
            </a:r>
          </a:p>
        </p:txBody>
      </p:sp>
    </p:spTree>
    <p:extLst>
      <p:ext uri="{BB962C8B-B14F-4D97-AF65-F5344CB8AC3E}">
        <p14:creationId xmlns:p14="http://schemas.microsoft.com/office/powerpoint/2010/main" val="88796300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644A5-8F23-DEDF-4B3C-2A3BD96CBD99}"/>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64B7BF2-C2A0-7D91-D704-74DF1836686C}"/>
              </a:ext>
            </a:extLst>
          </p:cNvPr>
          <p:cNvSpPr/>
          <p:nvPr/>
        </p:nvSpPr>
        <p:spPr>
          <a:xfrm>
            <a:off x="269630" y="158261"/>
            <a:ext cx="11723077" cy="6453553"/>
          </a:xfrm>
          <a:prstGeom prst="roundRect">
            <a:avLst>
              <a:gd name="adj" fmla="val 5223"/>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BB6671AF-C91F-8807-4317-3281C0881E80}"/>
              </a:ext>
            </a:extLst>
          </p:cNvPr>
          <p:cNvSpPr/>
          <p:nvPr/>
        </p:nvSpPr>
        <p:spPr>
          <a:xfrm>
            <a:off x="1449568" y="158260"/>
            <a:ext cx="10543139" cy="6453553"/>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grpSp>
        <p:nvGrpSpPr>
          <p:cNvPr id="3" name="Group 2">
            <a:extLst>
              <a:ext uri="{FF2B5EF4-FFF2-40B4-BE49-F238E27FC236}">
                <a16:creationId xmlns:a16="http://schemas.microsoft.com/office/drawing/2014/main" id="{52423DFA-1BAB-F4EA-0723-95F931CF470D}"/>
              </a:ext>
            </a:extLst>
          </p:cNvPr>
          <p:cNvGrpSpPr/>
          <p:nvPr/>
        </p:nvGrpSpPr>
        <p:grpSpPr>
          <a:xfrm>
            <a:off x="516193" y="246186"/>
            <a:ext cx="855407" cy="815698"/>
            <a:chOff x="1571740" y="755582"/>
            <a:chExt cx="1118229" cy="1052107"/>
          </a:xfrm>
        </p:grpSpPr>
        <p:grpSp>
          <p:nvGrpSpPr>
            <p:cNvPr id="48" name="Group 47">
              <a:extLst>
                <a:ext uri="{FF2B5EF4-FFF2-40B4-BE49-F238E27FC236}">
                  <a16:creationId xmlns:a16="http://schemas.microsoft.com/office/drawing/2014/main" id="{7D7BE346-FE39-9402-FE89-055BF264A921}"/>
                </a:ext>
              </a:extLst>
            </p:cNvPr>
            <p:cNvGrpSpPr/>
            <p:nvPr/>
          </p:nvGrpSpPr>
          <p:grpSpPr>
            <a:xfrm>
              <a:off x="1571740" y="755582"/>
              <a:ext cx="1118229" cy="1052107"/>
              <a:chOff x="1238865" y="1443039"/>
              <a:chExt cx="1917290" cy="1985961"/>
            </a:xfrm>
          </p:grpSpPr>
          <p:sp>
            <p:nvSpPr>
              <p:cNvPr id="49" name="Oval 48">
                <a:extLst>
                  <a:ext uri="{FF2B5EF4-FFF2-40B4-BE49-F238E27FC236}">
                    <a16:creationId xmlns:a16="http://schemas.microsoft.com/office/drawing/2014/main" id="{7144052C-6602-9B2F-E07B-A65BF7233ECB}"/>
                  </a:ext>
                </a:extLst>
              </p:cNvPr>
              <p:cNvSpPr/>
              <p:nvPr/>
            </p:nvSpPr>
            <p:spPr>
              <a:xfrm>
                <a:off x="1238865" y="1443039"/>
                <a:ext cx="1917290" cy="1985961"/>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Oval 49">
                <a:extLst>
                  <a:ext uri="{FF2B5EF4-FFF2-40B4-BE49-F238E27FC236}">
                    <a16:creationId xmlns:a16="http://schemas.microsoft.com/office/drawing/2014/main" id="{8E230956-7D94-BCEA-7189-439A2C44229E}"/>
                  </a:ext>
                </a:extLst>
              </p:cNvPr>
              <p:cNvSpPr/>
              <p:nvPr/>
            </p:nvSpPr>
            <p:spPr>
              <a:xfrm>
                <a:off x="1333423" y="1545431"/>
                <a:ext cx="1728173" cy="1781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50">
                <a:extLst>
                  <a:ext uri="{FF2B5EF4-FFF2-40B4-BE49-F238E27FC236}">
                    <a16:creationId xmlns:a16="http://schemas.microsoft.com/office/drawing/2014/main" id="{8F7FC13C-B375-B993-9242-049B4F6BDF3D}"/>
                  </a:ext>
                </a:extLst>
              </p:cNvPr>
              <p:cNvSpPr/>
              <p:nvPr/>
            </p:nvSpPr>
            <p:spPr>
              <a:xfrm>
                <a:off x="1421184" y="1647283"/>
                <a:ext cx="1552651" cy="1577470"/>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2" name="TextBox 23">
              <a:extLst>
                <a:ext uri="{FF2B5EF4-FFF2-40B4-BE49-F238E27FC236}">
                  <a16:creationId xmlns:a16="http://schemas.microsoft.com/office/drawing/2014/main" id="{09E03431-08E8-1050-33BE-542ACEDA92B3}"/>
                </a:ext>
              </a:extLst>
            </p:cNvPr>
            <p:cNvSpPr txBox="1"/>
            <p:nvPr/>
          </p:nvSpPr>
          <p:spPr>
            <a:xfrm>
              <a:off x="1886333" y="908417"/>
              <a:ext cx="489041" cy="50025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2800" b="1" dirty="0">
                  <a:solidFill>
                    <a:schemeClr val="tx1"/>
                  </a:solidFill>
                  <a:latin typeface="Aptos Narrow"/>
                </a:rPr>
                <a:t>7</a:t>
              </a:r>
              <a:endParaRPr lang="en-US" sz="2800" b="1" i="0" u="none" strike="noStrike" dirty="0">
                <a:solidFill>
                  <a:schemeClr val="tx1"/>
                </a:solidFill>
                <a:latin typeface="Aptos Narrow"/>
                <a:ea typeface="+mn-ea"/>
                <a:cs typeface="+mn-cs"/>
              </a:endParaRPr>
            </a:p>
          </p:txBody>
        </p:sp>
      </p:grpSp>
      <p:sp>
        <p:nvSpPr>
          <p:cNvPr id="15" name="Rectangle: Rounded Corners 14">
            <a:extLst>
              <a:ext uri="{FF2B5EF4-FFF2-40B4-BE49-F238E27FC236}">
                <a16:creationId xmlns:a16="http://schemas.microsoft.com/office/drawing/2014/main" id="{9D360624-CB2C-DED5-48B4-0E41949708E3}"/>
              </a:ext>
            </a:extLst>
          </p:cNvPr>
          <p:cNvSpPr/>
          <p:nvPr/>
        </p:nvSpPr>
        <p:spPr>
          <a:xfrm>
            <a:off x="4402989" y="232000"/>
            <a:ext cx="4636297" cy="42208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2">
                    <a:lumMod val="75000"/>
                    <a:lumOff val="25000"/>
                  </a:schemeClr>
                </a:solidFill>
              </a:rPr>
              <a:t>Where is churn coming from ?</a:t>
            </a:r>
          </a:p>
        </p:txBody>
      </p:sp>
      <p:sp>
        <p:nvSpPr>
          <p:cNvPr id="10" name="Freeform: Shape 9">
            <a:extLst>
              <a:ext uri="{FF2B5EF4-FFF2-40B4-BE49-F238E27FC236}">
                <a16:creationId xmlns:a16="http://schemas.microsoft.com/office/drawing/2014/main" id="{3124450F-4E6A-E95A-5689-18F0E8FCFBDF}"/>
              </a:ext>
            </a:extLst>
          </p:cNvPr>
          <p:cNvSpPr/>
          <p:nvPr/>
        </p:nvSpPr>
        <p:spPr>
          <a:xfrm>
            <a:off x="1594849" y="904677"/>
            <a:ext cx="733918" cy="1369042"/>
          </a:xfrm>
          <a:custGeom>
            <a:avLst/>
            <a:gdLst>
              <a:gd name="connsiteX0" fmla="*/ 630494 w 654268"/>
              <a:gd name="connsiteY0" fmla="*/ 0 h 1260987"/>
              <a:gd name="connsiteX1" fmla="*/ 654268 w 654268"/>
              <a:gd name="connsiteY1" fmla="*/ 2397 h 1260987"/>
              <a:gd name="connsiteX2" fmla="*/ 654268 w 654268"/>
              <a:gd name="connsiteY2" fmla="*/ 1258592 h 1260987"/>
              <a:gd name="connsiteX3" fmla="*/ 630515 w 654268"/>
              <a:gd name="connsiteY3" fmla="*/ 1260986 h 1260987"/>
              <a:gd name="connsiteX4" fmla="*/ 630494 w 654268"/>
              <a:gd name="connsiteY4" fmla="*/ 1260987 h 1260987"/>
              <a:gd name="connsiteX5" fmla="*/ 630474 w 654268"/>
              <a:gd name="connsiteY5" fmla="*/ 1260986 h 1260987"/>
              <a:gd name="connsiteX6" fmla="*/ 503428 w 654268"/>
              <a:gd name="connsiteY6" fmla="*/ 1248179 h 1260987"/>
              <a:gd name="connsiteX7" fmla="*/ 0 w 654268"/>
              <a:gd name="connsiteY7" fmla="*/ 630494 h 1260987"/>
              <a:gd name="connsiteX8" fmla="*/ 630494 w 654268"/>
              <a:gd name="connsiteY8" fmla="*/ 0 h 1260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4268" h="1260987">
                <a:moveTo>
                  <a:pt x="630494" y="0"/>
                </a:moveTo>
                <a:lnTo>
                  <a:pt x="654268" y="2397"/>
                </a:lnTo>
                <a:lnTo>
                  <a:pt x="654268" y="1258592"/>
                </a:lnTo>
                <a:lnTo>
                  <a:pt x="630515" y="1260986"/>
                </a:lnTo>
                <a:lnTo>
                  <a:pt x="630494" y="1260987"/>
                </a:lnTo>
                <a:lnTo>
                  <a:pt x="630474" y="1260986"/>
                </a:lnTo>
                <a:lnTo>
                  <a:pt x="503428" y="1248179"/>
                </a:lnTo>
                <a:cubicBezTo>
                  <a:pt x="216122" y="1189388"/>
                  <a:pt x="0" y="935180"/>
                  <a:pt x="0" y="630494"/>
                </a:cubicBezTo>
                <a:cubicBezTo>
                  <a:pt x="0" y="282282"/>
                  <a:pt x="282282" y="0"/>
                  <a:pt x="630494" y="0"/>
                </a:cubicBezTo>
                <a:close/>
              </a:path>
            </a:pathLst>
          </a:custGeom>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a:ln>
            <a:noFill/>
          </a:ln>
          <a:effectLst>
            <a:outerShdw blurRad="50800" dist="50800" dir="5400000" algn="ctr" rotWithShape="0">
              <a:schemeClr val="tx1"/>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97138" tIns="373102" rIns="1697139" bIns="4408261" numCol="1" spcCol="1270" anchor="ctr" anchorCtr="0">
            <a:noAutofit/>
          </a:bodyPr>
          <a:lstStyle/>
          <a:p>
            <a:pPr marL="0" lvl="0" indent="0" algn="ctr" defTabSz="755650">
              <a:lnSpc>
                <a:spcPct val="90000"/>
              </a:lnSpc>
              <a:spcBef>
                <a:spcPct val="0"/>
              </a:spcBef>
              <a:spcAft>
                <a:spcPct val="35000"/>
              </a:spcAft>
              <a:buNone/>
            </a:pPr>
            <a:endParaRPr lang="en-GB" sz="1700" kern="1200" dirty="0">
              <a:solidFill>
                <a:schemeClr val="accent1">
                  <a:lumMod val="20000"/>
                  <a:lumOff val="80000"/>
                </a:schemeClr>
              </a:solidFill>
            </a:endParaRPr>
          </a:p>
        </p:txBody>
      </p:sp>
      <p:sp>
        <p:nvSpPr>
          <p:cNvPr id="11" name="Rectangle 10">
            <a:extLst>
              <a:ext uri="{FF2B5EF4-FFF2-40B4-BE49-F238E27FC236}">
                <a16:creationId xmlns:a16="http://schemas.microsoft.com/office/drawing/2014/main" id="{3790FE2B-4400-8B48-6CE7-70E3C7D95523}"/>
              </a:ext>
            </a:extLst>
          </p:cNvPr>
          <p:cNvSpPr/>
          <p:nvPr/>
        </p:nvSpPr>
        <p:spPr>
          <a:xfrm>
            <a:off x="2309626" y="904678"/>
            <a:ext cx="5030678" cy="5510869"/>
          </a:xfrm>
          <a:prstGeom prst="rect">
            <a:avLst/>
          </a:prstGeom>
          <a:gradFill>
            <a:gsLst>
              <a:gs pos="80000">
                <a:schemeClr val="accent4">
                  <a:lumMod val="89000"/>
                </a:schemeClr>
              </a:gs>
              <a:gs pos="57000">
                <a:schemeClr val="accent4">
                  <a:lumMod val="75000"/>
                </a:schemeClr>
              </a:gs>
              <a:gs pos="28000">
                <a:schemeClr val="accent4">
                  <a:lumMod val="70000"/>
                </a:schemeClr>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171E422D-40A8-C02D-7EB2-AC03A9432DA9}"/>
              </a:ext>
            </a:extLst>
          </p:cNvPr>
          <p:cNvSpPr txBox="1"/>
          <p:nvPr/>
        </p:nvSpPr>
        <p:spPr>
          <a:xfrm>
            <a:off x="1662215" y="1296810"/>
            <a:ext cx="744520" cy="584775"/>
          </a:xfrm>
          <a:prstGeom prst="rect">
            <a:avLst/>
          </a:prstGeom>
          <a:noFill/>
        </p:spPr>
        <p:txBody>
          <a:bodyPr wrap="square" rtlCol="0">
            <a:spAutoFit/>
          </a:bodyPr>
          <a:lstStyle>
            <a:defPPr>
              <a:defRPr lang="en-US"/>
            </a:defPPr>
            <a:lvl1pPr>
              <a:defRPr sz="3200" b="1">
                <a:solidFill>
                  <a:schemeClr val="tx2">
                    <a:lumMod val="50000"/>
                    <a:lumOff val="50000"/>
                  </a:schemeClr>
                </a:solidFill>
                <a:effectLst>
                  <a:outerShdw blurRad="50800" dist="38100" dir="18900000" algn="bl" rotWithShape="0">
                    <a:prstClr val="black">
                      <a:alpha val="40000"/>
                    </a:prstClr>
                  </a:outerShdw>
                </a:effectLst>
              </a:defRPr>
            </a:lvl1pPr>
          </a:lstStyle>
          <a:p>
            <a:r>
              <a:rPr lang="en-GB" dirty="0">
                <a:solidFill>
                  <a:schemeClr val="bg2"/>
                </a:solidFill>
              </a:rPr>
              <a:t>02</a:t>
            </a:r>
          </a:p>
        </p:txBody>
      </p:sp>
      <p:sp>
        <p:nvSpPr>
          <p:cNvPr id="18" name="TextBox 17">
            <a:extLst>
              <a:ext uri="{FF2B5EF4-FFF2-40B4-BE49-F238E27FC236}">
                <a16:creationId xmlns:a16="http://schemas.microsoft.com/office/drawing/2014/main" id="{988F32D8-97F1-4E37-81A2-FD71B338A4F4}"/>
              </a:ext>
            </a:extLst>
          </p:cNvPr>
          <p:cNvSpPr txBox="1"/>
          <p:nvPr/>
        </p:nvSpPr>
        <p:spPr>
          <a:xfrm>
            <a:off x="2664312" y="3828331"/>
            <a:ext cx="4503404" cy="1477328"/>
          </a:xfrm>
          <a:prstGeom prst="rect">
            <a:avLst/>
          </a:prstGeom>
          <a:noFill/>
        </p:spPr>
        <p:txBody>
          <a:bodyPr wrap="square" rtlCol="0">
            <a:spAutoFit/>
          </a:bodyPr>
          <a:lstStyle/>
          <a:p>
            <a:pPr marL="285750" indent="-285750">
              <a:buFont typeface="Arial" panose="020B0604020202020204" pitchFamily="34" charset="0"/>
              <a:buChar char="•"/>
            </a:pPr>
            <a:r>
              <a:rPr lang="en-GB" dirty="0">
                <a:solidFill>
                  <a:schemeClr val="bg1">
                    <a:lumMod val="95000"/>
                  </a:schemeClr>
                </a:solidFill>
              </a:rPr>
              <a:t>As shown in the column chart, all categories has very high churned customers compared to active customers indicating dissatisfaction in all product category.</a:t>
            </a:r>
          </a:p>
        </p:txBody>
      </p:sp>
      <p:sp>
        <p:nvSpPr>
          <p:cNvPr id="2" name="TextBox 1">
            <a:extLst>
              <a:ext uri="{FF2B5EF4-FFF2-40B4-BE49-F238E27FC236}">
                <a16:creationId xmlns:a16="http://schemas.microsoft.com/office/drawing/2014/main" id="{377752BB-9700-CFF3-6755-93BBF6AE2CB6}"/>
              </a:ext>
            </a:extLst>
          </p:cNvPr>
          <p:cNvSpPr txBox="1"/>
          <p:nvPr/>
        </p:nvSpPr>
        <p:spPr>
          <a:xfrm>
            <a:off x="3188825" y="1036481"/>
            <a:ext cx="3115371" cy="523220"/>
          </a:xfrm>
          <a:prstGeom prst="rect">
            <a:avLst/>
          </a:prstGeom>
          <a:noFill/>
        </p:spPr>
        <p:txBody>
          <a:bodyPr wrap="square" rtlCol="0">
            <a:spAutoFit/>
          </a:bodyPr>
          <a:lstStyle>
            <a:defPPr>
              <a:defRPr lang="en-US"/>
            </a:defPPr>
            <a:lvl1pPr>
              <a:defRPr sz="2800" b="0" spc="0">
                <a:solidFill>
                  <a:schemeClr val="bg1">
                    <a:lumMod val="95000"/>
                  </a:schemeClr>
                </a:solidFill>
                <a:effectLst/>
              </a:defRPr>
            </a:lvl1pPr>
          </a:lstStyle>
          <a:p>
            <a:r>
              <a:rPr lang="en-GB" dirty="0"/>
              <a:t>Favourite Category</a:t>
            </a:r>
          </a:p>
        </p:txBody>
      </p:sp>
      <p:graphicFrame>
        <p:nvGraphicFramePr>
          <p:cNvPr id="5" name="Chart 4">
            <a:extLst>
              <a:ext uri="{FF2B5EF4-FFF2-40B4-BE49-F238E27FC236}">
                <a16:creationId xmlns:a16="http://schemas.microsoft.com/office/drawing/2014/main" id="{E57E2D3D-B349-462A-BF41-5F8AA808F485}"/>
              </a:ext>
            </a:extLst>
          </p:cNvPr>
          <p:cNvGraphicFramePr>
            <a:graphicFrameLocks/>
          </p:cNvGraphicFramePr>
          <p:nvPr>
            <p:extLst>
              <p:ext uri="{D42A27DB-BD31-4B8C-83A1-F6EECF244321}">
                <p14:modId xmlns:p14="http://schemas.microsoft.com/office/powerpoint/2010/main" val="3366497582"/>
              </p:ext>
            </p:extLst>
          </p:nvPr>
        </p:nvGraphicFramePr>
        <p:xfrm>
          <a:off x="7503261" y="1061884"/>
          <a:ext cx="4489446" cy="50292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18">
            <a:extLst>
              <a:ext uri="{FF2B5EF4-FFF2-40B4-BE49-F238E27FC236}">
                <a16:creationId xmlns:a16="http://schemas.microsoft.com/office/drawing/2014/main" id="{B620295E-C2C6-4D4B-867C-BC357CFE47B7}"/>
              </a:ext>
            </a:extLst>
          </p:cNvPr>
          <p:cNvSpPr txBox="1"/>
          <p:nvPr/>
        </p:nvSpPr>
        <p:spPr>
          <a:xfrm>
            <a:off x="2704008" y="1881585"/>
            <a:ext cx="4636296" cy="1200329"/>
          </a:xfrm>
          <a:prstGeom prst="rect">
            <a:avLst/>
          </a:prstGeom>
          <a:noFill/>
        </p:spPr>
        <p:txBody>
          <a:bodyPr wrap="square" rtlCol="0">
            <a:spAutoFit/>
          </a:bodyPr>
          <a:lstStyle>
            <a:defPPr>
              <a:defRPr lang="en-US"/>
            </a:defPPr>
            <a:lvl1pPr marL="285750" indent="-285750">
              <a:buFont typeface="Arial" panose="020B0604020202020204" pitchFamily="34" charset="0"/>
              <a:buChar char="•"/>
              <a:defRPr>
                <a:solidFill>
                  <a:schemeClr val="bg1">
                    <a:lumMod val="95000"/>
                  </a:schemeClr>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fld id="{D1C4A99E-EA18-4ECC-BF64-483358FDF8DA}" type="TxLink">
              <a:rPr lang="en-US"/>
              <a:pPr/>
              <a:t>Clothing category has the highest number of churned customers (243) while Books has the highest number of active customers (96) which is very low</a:t>
            </a:fld>
            <a:endParaRPr lang="en-GB" dirty="0"/>
          </a:p>
        </p:txBody>
      </p:sp>
      <p:sp>
        <p:nvSpPr>
          <p:cNvPr id="7" name="TextBox 19">
            <a:extLst>
              <a:ext uri="{FF2B5EF4-FFF2-40B4-BE49-F238E27FC236}">
                <a16:creationId xmlns:a16="http://schemas.microsoft.com/office/drawing/2014/main" id="{AFA5F319-37EE-4E51-88D1-EBC386656DE0}"/>
              </a:ext>
            </a:extLst>
          </p:cNvPr>
          <p:cNvSpPr txBox="1"/>
          <p:nvPr/>
        </p:nvSpPr>
        <p:spPr>
          <a:xfrm>
            <a:off x="7503261" y="1233861"/>
            <a:ext cx="2045153" cy="32385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GB" sz="1800" b="1" baseline="0" dirty="0">
                <a:solidFill>
                  <a:schemeClr val="accent1"/>
                </a:solidFill>
              </a:rPr>
              <a:t>Favorite Category</a:t>
            </a:r>
          </a:p>
        </p:txBody>
      </p:sp>
    </p:spTree>
    <p:extLst>
      <p:ext uri="{BB962C8B-B14F-4D97-AF65-F5344CB8AC3E}">
        <p14:creationId xmlns:p14="http://schemas.microsoft.com/office/powerpoint/2010/main" val="86492452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83742-BDAD-18DA-025E-4535116067D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C5C9771-1F6E-0B43-5D20-B3A1E445B31D}"/>
              </a:ext>
            </a:extLst>
          </p:cNvPr>
          <p:cNvSpPr/>
          <p:nvPr/>
        </p:nvSpPr>
        <p:spPr>
          <a:xfrm>
            <a:off x="269630" y="158261"/>
            <a:ext cx="11723077" cy="6453553"/>
          </a:xfrm>
          <a:prstGeom prst="roundRect">
            <a:avLst>
              <a:gd name="adj" fmla="val 5223"/>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3EA4EA70-CAE7-C850-BB31-010C1025F719}"/>
              </a:ext>
            </a:extLst>
          </p:cNvPr>
          <p:cNvSpPr/>
          <p:nvPr/>
        </p:nvSpPr>
        <p:spPr>
          <a:xfrm>
            <a:off x="1449568" y="158260"/>
            <a:ext cx="10543139" cy="6453553"/>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grpSp>
        <p:nvGrpSpPr>
          <p:cNvPr id="3" name="Group 2">
            <a:extLst>
              <a:ext uri="{FF2B5EF4-FFF2-40B4-BE49-F238E27FC236}">
                <a16:creationId xmlns:a16="http://schemas.microsoft.com/office/drawing/2014/main" id="{765D617D-E381-D1F9-C1BE-42F2C76C79F4}"/>
              </a:ext>
            </a:extLst>
          </p:cNvPr>
          <p:cNvGrpSpPr/>
          <p:nvPr/>
        </p:nvGrpSpPr>
        <p:grpSpPr>
          <a:xfrm>
            <a:off x="516193" y="246186"/>
            <a:ext cx="855407" cy="815698"/>
            <a:chOff x="1571740" y="755582"/>
            <a:chExt cx="1118229" cy="1052107"/>
          </a:xfrm>
        </p:grpSpPr>
        <p:grpSp>
          <p:nvGrpSpPr>
            <p:cNvPr id="48" name="Group 47">
              <a:extLst>
                <a:ext uri="{FF2B5EF4-FFF2-40B4-BE49-F238E27FC236}">
                  <a16:creationId xmlns:a16="http://schemas.microsoft.com/office/drawing/2014/main" id="{07DCA86B-7B10-014D-999E-13F3F74B1A5B}"/>
                </a:ext>
              </a:extLst>
            </p:cNvPr>
            <p:cNvGrpSpPr/>
            <p:nvPr/>
          </p:nvGrpSpPr>
          <p:grpSpPr>
            <a:xfrm>
              <a:off x="1571740" y="755582"/>
              <a:ext cx="1118229" cy="1052107"/>
              <a:chOff x="1238865" y="1443039"/>
              <a:chExt cx="1917290" cy="1985961"/>
            </a:xfrm>
          </p:grpSpPr>
          <p:sp>
            <p:nvSpPr>
              <p:cNvPr id="49" name="Oval 48">
                <a:extLst>
                  <a:ext uri="{FF2B5EF4-FFF2-40B4-BE49-F238E27FC236}">
                    <a16:creationId xmlns:a16="http://schemas.microsoft.com/office/drawing/2014/main" id="{E7A6F9AB-D2C1-1D76-BA76-7C21306D015D}"/>
                  </a:ext>
                </a:extLst>
              </p:cNvPr>
              <p:cNvSpPr/>
              <p:nvPr/>
            </p:nvSpPr>
            <p:spPr>
              <a:xfrm>
                <a:off x="1238865" y="1443039"/>
                <a:ext cx="1917290" cy="1985961"/>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Oval 49">
                <a:extLst>
                  <a:ext uri="{FF2B5EF4-FFF2-40B4-BE49-F238E27FC236}">
                    <a16:creationId xmlns:a16="http://schemas.microsoft.com/office/drawing/2014/main" id="{1324BD0E-9CBA-95D4-ACF5-A749FBD0E85A}"/>
                  </a:ext>
                </a:extLst>
              </p:cNvPr>
              <p:cNvSpPr/>
              <p:nvPr/>
            </p:nvSpPr>
            <p:spPr>
              <a:xfrm>
                <a:off x="1333423" y="1545431"/>
                <a:ext cx="1728173" cy="1781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50">
                <a:extLst>
                  <a:ext uri="{FF2B5EF4-FFF2-40B4-BE49-F238E27FC236}">
                    <a16:creationId xmlns:a16="http://schemas.microsoft.com/office/drawing/2014/main" id="{B85D917D-F34A-7FA8-A405-837135AECA06}"/>
                  </a:ext>
                </a:extLst>
              </p:cNvPr>
              <p:cNvSpPr/>
              <p:nvPr/>
            </p:nvSpPr>
            <p:spPr>
              <a:xfrm>
                <a:off x="1421184" y="1647283"/>
                <a:ext cx="1552651" cy="1577470"/>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2" name="TextBox 23">
              <a:extLst>
                <a:ext uri="{FF2B5EF4-FFF2-40B4-BE49-F238E27FC236}">
                  <a16:creationId xmlns:a16="http://schemas.microsoft.com/office/drawing/2014/main" id="{FAC6E501-8EED-2D74-C844-C1278F6604CA}"/>
                </a:ext>
              </a:extLst>
            </p:cNvPr>
            <p:cNvSpPr txBox="1"/>
            <p:nvPr/>
          </p:nvSpPr>
          <p:spPr>
            <a:xfrm>
              <a:off x="1886333" y="908417"/>
              <a:ext cx="489041" cy="50025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2800" b="1" dirty="0">
                  <a:solidFill>
                    <a:schemeClr val="tx1"/>
                  </a:solidFill>
                  <a:latin typeface="Aptos Narrow"/>
                </a:rPr>
                <a:t>8</a:t>
              </a:r>
              <a:endParaRPr lang="en-US" sz="2800" b="1" i="0" u="none" strike="noStrike" dirty="0">
                <a:solidFill>
                  <a:schemeClr val="tx1"/>
                </a:solidFill>
                <a:latin typeface="Aptos Narrow"/>
                <a:ea typeface="+mn-ea"/>
                <a:cs typeface="+mn-cs"/>
              </a:endParaRPr>
            </a:p>
          </p:txBody>
        </p:sp>
      </p:grpSp>
      <p:sp>
        <p:nvSpPr>
          <p:cNvPr id="15" name="Rectangle: Rounded Corners 14">
            <a:extLst>
              <a:ext uri="{FF2B5EF4-FFF2-40B4-BE49-F238E27FC236}">
                <a16:creationId xmlns:a16="http://schemas.microsoft.com/office/drawing/2014/main" id="{9319ECD6-161B-138B-EE95-AA842C3C89BA}"/>
              </a:ext>
            </a:extLst>
          </p:cNvPr>
          <p:cNvSpPr/>
          <p:nvPr/>
        </p:nvSpPr>
        <p:spPr>
          <a:xfrm>
            <a:off x="4402989" y="232000"/>
            <a:ext cx="4636297" cy="42208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2">
                    <a:lumMod val="75000"/>
                    <a:lumOff val="25000"/>
                  </a:schemeClr>
                </a:solidFill>
              </a:rPr>
              <a:t>Where is churn coming from ?</a:t>
            </a:r>
          </a:p>
        </p:txBody>
      </p:sp>
      <p:grpSp>
        <p:nvGrpSpPr>
          <p:cNvPr id="17" name="Group 16">
            <a:extLst>
              <a:ext uri="{FF2B5EF4-FFF2-40B4-BE49-F238E27FC236}">
                <a16:creationId xmlns:a16="http://schemas.microsoft.com/office/drawing/2014/main" id="{BAE22444-019E-6FE3-E4A6-6ECFB421AD20}"/>
              </a:ext>
            </a:extLst>
          </p:cNvPr>
          <p:cNvGrpSpPr/>
          <p:nvPr/>
        </p:nvGrpSpPr>
        <p:grpSpPr>
          <a:xfrm>
            <a:off x="1594849" y="904677"/>
            <a:ext cx="811886" cy="1369042"/>
            <a:chOff x="1594849" y="904677"/>
            <a:chExt cx="811886" cy="1369042"/>
          </a:xfrm>
        </p:grpSpPr>
        <p:sp>
          <p:nvSpPr>
            <p:cNvPr id="10" name="Freeform: Shape 9">
              <a:extLst>
                <a:ext uri="{FF2B5EF4-FFF2-40B4-BE49-F238E27FC236}">
                  <a16:creationId xmlns:a16="http://schemas.microsoft.com/office/drawing/2014/main" id="{936006CA-8C82-CB84-0D00-106038F9E55C}"/>
                </a:ext>
              </a:extLst>
            </p:cNvPr>
            <p:cNvSpPr/>
            <p:nvPr/>
          </p:nvSpPr>
          <p:spPr>
            <a:xfrm>
              <a:off x="1594849" y="904677"/>
              <a:ext cx="733918" cy="1369042"/>
            </a:xfrm>
            <a:custGeom>
              <a:avLst/>
              <a:gdLst>
                <a:gd name="connsiteX0" fmla="*/ 630494 w 654268"/>
                <a:gd name="connsiteY0" fmla="*/ 0 h 1260987"/>
                <a:gd name="connsiteX1" fmla="*/ 654268 w 654268"/>
                <a:gd name="connsiteY1" fmla="*/ 2397 h 1260987"/>
                <a:gd name="connsiteX2" fmla="*/ 654268 w 654268"/>
                <a:gd name="connsiteY2" fmla="*/ 1258592 h 1260987"/>
                <a:gd name="connsiteX3" fmla="*/ 630515 w 654268"/>
                <a:gd name="connsiteY3" fmla="*/ 1260986 h 1260987"/>
                <a:gd name="connsiteX4" fmla="*/ 630494 w 654268"/>
                <a:gd name="connsiteY4" fmla="*/ 1260987 h 1260987"/>
                <a:gd name="connsiteX5" fmla="*/ 630474 w 654268"/>
                <a:gd name="connsiteY5" fmla="*/ 1260986 h 1260987"/>
                <a:gd name="connsiteX6" fmla="*/ 503428 w 654268"/>
                <a:gd name="connsiteY6" fmla="*/ 1248179 h 1260987"/>
                <a:gd name="connsiteX7" fmla="*/ 0 w 654268"/>
                <a:gd name="connsiteY7" fmla="*/ 630494 h 1260987"/>
                <a:gd name="connsiteX8" fmla="*/ 630494 w 654268"/>
                <a:gd name="connsiteY8" fmla="*/ 0 h 1260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4268" h="1260987">
                  <a:moveTo>
                    <a:pt x="630494" y="0"/>
                  </a:moveTo>
                  <a:lnTo>
                    <a:pt x="654268" y="2397"/>
                  </a:lnTo>
                  <a:lnTo>
                    <a:pt x="654268" y="1258592"/>
                  </a:lnTo>
                  <a:lnTo>
                    <a:pt x="630515" y="1260986"/>
                  </a:lnTo>
                  <a:lnTo>
                    <a:pt x="630494" y="1260987"/>
                  </a:lnTo>
                  <a:lnTo>
                    <a:pt x="630474" y="1260986"/>
                  </a:lnTo>
                  <a:lnTo>
                    <a:pt x="503428" y="1248179"/>
                  </a:lnTo>
                  <a:cubicBezTo>
                    <a:pt x="216122" y="1189388"/>
                    <a:pt x="0" y="935180"/>
                    <a:pt x="0" y="630494"/>
                  </a:cubicBezTo>
                  <a:cubicBezTo>
                    <a:pt x="0" y="282282"/>
                    <a:pt x="282282" y="0"/>
                    <a:pt x="630494" y="0"/>
                  </a:cubicBezTo>
                  <a:close/>
                </a:path>
              </a:pathLst>
            </a:custGeom>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a:ln>
              <a:noFill/>
            </a:ln>
            <a:effectLst>
              <a:outerShdw blurRad="50800" dist="50800" dir="5400000" algn="ctr" rotWithShape="0">
                <a:schemeClr val="tx1"/>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97138" tIns="373102" rIns="1697139" bIns="4408261" numCol="1" spcCol="1270" anchor="ctr" anchorCtr="0">
              <a:noAutofit/>
            </a:bodyPr>
            <a:lstStyle/>
            <a:p>
              <a:pPr marL="0" lvl="0" indent="0" algn="ctr" defTabSz="755650">
                <a:lnSpc>
                  <a:spcPct val="90000"/>
                </a:lnSpc>
                <a:spcBef>
                  <a:spcPct val="0"/>
                </a:spcBef>
                <a:spcAft>
                  <a:spcPct val="35000"/>
                </a:spcAft>
                <a:buNone/>
              </a:pPr>
              <a:endParaRPr lang="en-GB" sz="1700" kern="1200" dirty="0">
                <a:solidFill>
                  <a:schemeClr val="accent1">
                    <a:lumMod val="20000"/>
                    <a:lumOff val="80000"/>
                  </a:schemeClr>
                </a:solidFill>
              </a:endParaRPr>
            </a:p>
          </p:txBody>
        </p:sp>
        <p:sp>
          <p:nvSpPr>
            <p:cNvPr id="12" name="TextBox 11">
              <a:extLst>
                <a:ext uri="{FF2B5EF4-FFF2-40B4-BE49-F238E27FC236}">
                  <a16:creationId xmlns:a16="http://schemas.microsoft.com/office/drawing/2014/main" id="{B0464FCF-A604-D03D-59B1-29C98B075832}"/>
                </a:ext>
              </a:extLst>
            </p:cNvPr>
            <p:cNvSpPr txBox="1"/>
            <p:nvPr/>
          </p:nvSpPr>
          <p:spPr>
            <a:xfrm>
              <a:off x="1662215" y="1296810"/>
              <a:ext cx="744520" cy="584775"/>
            </a:xfrm>
            <a:prstGeom prst="rect">
              <a:avLst/>
            </a:prstGeom>
            <a:noFill/>
          </p:spPr>
          <p:txBody>
            <a:bodyPr wrap="square" rtlCol="0">
              <a:spAutoFit/>
            </a:bodyPr>
            <a:lstStyle>
              <a:defPPr>
                <a:defRPr lang="en-US"/>
              </a:defPPr>
              <a:lvl1pPr>
                <a:defRPr sz="3200" b="1">
                  <a:solidFill>
                    <a:schemeClr val="tx2">
                      <a:lumMod val="50000"/>
                      <a:lumOff val="50000"/>
                    </a:schemeClr>
                  </a:solidFill>
                  <a:effectLst>
                    <a:outerShdw blurRad="50800" dist="38100" dir="18900000" algn="bl" rotWithShape="0">
                      <a:prstClr val="black">
                        <a:alpha val="40000"/>
                      </a:prstClr>
                    </a:outerShdw>
                  </a:effectLst>
                </a:defRPr>
              </a:lvl1pPr>
            </a:lstStyle>
            <a:p>
              <a:r>
                <a:rPr lang="en-GB" dirty="0">
                  <a:solidFill>
                    <a:schemeClr val="bg2"/>
                  </a:solidFill>
                </a:rPr>
                <a:t>03</a:t>
              </a:r>
            </a:p>
          </p:txBody>
        </p:sp>
      </p:grpSp>
      <p:grpSp>
        <p:nvGrpSpPr>
          <p:cNvPr id="19" name="Group 18">
            <a:extLst>
              <a:ext uri="{FF2B5EF4-FFF2-40B4-BE49-F238E27FC236}">
                <a16:creationId xmlns:a16="http://schemas.microsoft.com/office/drawing/2014/main" id="{D97D9E6D-0B82-3744-9230-AC3DAB7F0684}"/>
              </a:ext>
            </a:extLst>
          </p:cNvPr>
          <p:cNvGrpSpPr/>
          <p:nvPr/>
        </p:nvGrpSpPr>
        <p:grpSpPr>
          <a:xfrm>
            <a:off x="2309626" y="904678"/>
            <a:ext cx="5030678" cy="5510869"/>
            <a:chOff x="2309626" y="904678"/>
            <a:chExt cx="5030678" cy="5510869"/>
          </a:xfrm>
        </p:grpSpPr>
        <p:sp>
          <p:nvSpPr>
            <p:cNvPr id="11" name="Rectangle 10">
              <a:extLst>
                <a:ext uri="{FF2B5EF4-FFF2-40B4-BE49-F238E27FC236}">
                  <a16:creationId xmlns:a16="http://schemas.microsoft.com/office/drawing/2014/main" id="{B82EAB1C-3364-FF3E-8749-E03BF5D6E4C5}"/>
                </a:ext>
              </a:extLst>
            </p:cNvPr>
            <p:cNvSpPr/>
            <p:nvPr/>
          </p:nvSpPr>
          <p:spPr>
            <a:xfrm>
              <a:off x="2309626" y="904678"/>
              <a:ext cx="5030678" cy="5510869"/>
            </a:xfrm>
            <a:prstGeom prst="rect">
              <a:avLst/>
            </a:prstGeom>
            <a:gradFill>
              <a:gsLst>
                <a:gs pos="80000">
                  <a:schemeClr val="accent4">
                    <a:lumMod val="89000"/>
                  </a:schemeClr>
                </a:gs>
                <a:gs pos="57000">
                  <a:schemeClr val="accent4">
                    <a:lumMod val="75000"/>
                  </a:schemeClr>
                </a:gs>
                <a:gs pos="28000">
                  <a:schemeClr val="accent4">
                    <a:lumMod val="70000"/>
                  </a:schemeClr>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26AEBE7F-5E5F-E14E-BF48-1227DD4F5B65}"/>
                </a:ext>
              </a:extLst>
            </p:cNvPr>
            <p:cNvSpPr txBox="1"/>
            <p:nvPr/>
          </p:nvSpPr>
          <p:spPr>
            <a:xfrm>
              <a:off x="2664312" y="3828331"/>
              <a:ext cx="4503404" cy="1477328"/>
            </a:xfrm>
            <a:prstGeom prst="rect">
              <a:avLst/>
            </a:prstGeom>
            <a:noFill/>
          </p:spPr>
          <p:txBody>
            <a:bodyPr wrap="square" rtlCol="0">
              <a:spAutoFit/>
            </a:bodyPr>
            <a:lstStyle/>
            <a:p>
              <a:pPr marL="285750" indent="-285750">
                <a:buFont typeface="Arial" panose="020B0604020202020204" pitchFamily="34" charset="0"/>
                <a:buChar char="•"/>
              </a:pPr>
              <a:r>
                <a:rPr lang="en-GB" dirty="0">
                  <a:solidFill>
                    <a:schemeClr val="bg1">
                      <a:lumMod val="95000"/>
                    </a:schemeClr>
                  </a:solidFill>
                </a:rPr>
                <a:t>As shown in the column chart, all categories has very high churned customers compared to active customers indicating dissatisfaction in all product category.</a:t>
              </a:r>
            </a:p>
          </p:txBody>
        </p:sp>
        <p:sp>
          <p:nvSpPr>
            <p:cNvPr id="8" name="TextBox 7">
              <a:extLst>
                <a:ext uri="{FF2B5EF4-FFF2-40B4-BE49-F238E27FC236}">
                  <a16:creationId xmlns:a16="http://schemas.microsoft.com/office/drawing/2014/main" id="{0370DD1E-15E8-C23F-5FAC-4F13E5E1B61C}"/>
                </a:ext>
              </a:extLst>
            </p:cNvPr>
            <p:cNvSpPr txBox="1"/>
            <p:nvPr/>
          </p:nvSpPr>
          <p:spPr>
            <a:xfrm>
              <a:off x="3214252" y="1019828"/>
              <a:ext cx="3363529" cy="523220"/>
            </a:xfrm>
            <a:prstGeom prst="rect">
              <a:avLst/>
            </a:prstGeom>
            <a:noFill/>
          </p:spPr>
          <p:txBody>
            <a:bodyPr wrap="square" rtlCol="0">
              <a:spAutoFit/>
            </a:bodyPr>
            <a:lstStyle>
              <a:defPPr>
                <a:defRPr lang="en-US"/>
              </a:defPPr>
              <a:lvl1pPr>
                <a:defRPr sz="2800" b="0" spc="0">
                  <a:solidFill>
                    <a:schemeClr val="bg1">
                      <a:lumMod val="95000"/>
                    </a:schemeClr>
                  </a:solidFill>
                  <a:effectLst/>
                </a:defRPr>
              </a:lvl1pPr>
            </a:lstStyle>
            <a:p>
              <a:r>
                <a:rPr lang="en-GB" dirty="0"/>
                <a:t>Acquisition Channel</a:t>
              </a:r>
            </a:p>
          </p:txBody>
        </p:sp>
        <p:sp>
          <p:nvSpPr>
            <p:cNvPr id="13" name="TextBox 9">
              <a:extLst>
                <a:ext uri="{FF2B5EF4-FFF2-40B4-BE49-F238E27FC236}">
                  <a16:creationId xmlns:a16="http://schemas.microsoft.com/office/drawing/2014/main" id="{C829ADFF-F2BA-4851-975E-686F4C28DC57}"/>
                </a:ext>
              </a:extLst>
            </p:cNvPr>
            <p:cNvSpPr txBox="1"/>
            <p:nvPr/>
          </p:nvSpPr>
          <p:spPr>
            <a:xfrm>
              <a:off x="2664312" y="1793638"/>
              <a:ext cx="4503404" cy="1200329"/>
            </a:xfrm>
            <a:prstGeom prst="rect">
              <a:avLst/>
            </a:prstGeom>
            <a:noFill/>
          </p:spPr>
          <p:txBody>
            <a:bodyPr wrap="square" rtlCol="0">
              <a:spAutoFit/>
            </a:bodyPr>
            <a:lstStyle>
              <a:defPPr>
                <a:defRPr lang="en-US"/>
              </a:defPPr>
              <a:lvl1pPr marL="285750" indent="-285750">
                <a:buFont typeface="Arial" panose="020B0604020202020204" pitchFamily="34" charset="0"/>
                <a:buChar char="•"/>
                <a:defRPr>
                  <a:solidFill>
                    <a:schemeClr val="bg1">
                      <a:lumMod val="95000"/>
                    </a:schemeClr>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fld id="{00992C83-A1D3-4C94-BAF5-1BE4A126B37C}" type="TxLink">
                <a:rPr lang="en-US"/>
                <a:pPr/>
                <a:t>Acquisition Channel :  'Others'  has the highest number of churned customers. And also 'Others' has the highest number of active customers.</a:t>
              </a:fld>
              <a:endParaRPr lang="en-GB" dirty="0"/>
            </a:p>
          </p:txBody>
        </p:sp>
      </p:grpSp>
      <p:grpSp>
        <p:nvGrpSpPr>
          <p:cNvPr id="20" name="Group 19">
            <a:extLst>
              <a:ext uri="{FF2B5EF4-FFF2-40B4-BE49-F238E27FC236}">
                <a16:creationId xmlns:a16="http://schemas.microsoft.com/office/drawing/2014/main" id="{66B0847A-A1CE-E83A-3506-40F662E536C4}"/>
              </a:ext>
            </a:extLst>
          </p:cNvPr>
          <p:cNvGrpSpPr/>
          <p:nvPr/>
        </p:nvGrpSpPr>
        <p:grpSpPr>
          <a:xfrm>
            <a:off x="7503261" y="1019828"/>
            <a:ext cx="4421897" cy="5175117"/>
            <a:chOff x="7503261" y="1019828"/>
            <a:chExt cx="4421897" cy="5175117"/>
          </a:xfrm>
        </p:grpSpPr>
        <p:graphicFrame>
          <p:nvGraphicFramePr>
            <p:cNvPr id="16" name="Chart 15">
              <a:extLst>
                <a:ext uri="{FF2B5EF4-FFF2-40B4-BE49-F238E27FC236}">
                  <a16:creationId xmlns:a16="http://schemas.microsoft.com/office/drawing/2014/main" id="{76B331E4-62B3-4437-8EC2-76CBFC5D454B}"/>
                </a:ext>
              </a:extLst>
            </p:cNvPr>
            <p:cNvGraphicFramePr>
              <a:graphicFrameLocks/>
            </p:cNvGraphicFramePr>
            <p:nvPr>
              <p:extLst>
                <p:ext uri="{D42A27DB-BD31-4B8C-83A1-F6EECF244321}">
                  <p14:modId xmlns:p14="http://schemas.microsoft.com/office/powerpoint/2010/main" val="3532069969"/>
                </p:ext>
              </p:extLst>
            </p:nvPr>
          </p:nvGraphicFramePr>
          <p:xfrm>
            <a:off x="7525190" y="1019828"/>
            <a:ext cx="4399968" cy="5175117"/>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a:extLst>
                <a:ext uri="{FF2B5EF4-FFF2-40B4-BE49-F238E27FC236}">
                  <a16:creationId xmlns:a16="http://schemas.microsoft.com/office/drawing/2014/main" id="{D4220B67-0F15-81F9-067E-8F77D4E07B22}"/>
                </a:ext>
              </a:extLst>
            </p:cNvPr>
            <p:cNvSpPr txBox="1"/>
            <p:nvPr/>
          </p:nvSpPr>
          <p:spPr>
            <a:xfrm>
              <a:off x="7503261" y="1061884"/>
              <a:ext cx="2379113" cy="36933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defPPr>
                <a:defRPr lang="en-US"/>
              </a:defPPr>
              <a:lvl1pPr indent="0">
                <a:defRPr b="1" baseline="0">
                  <a:solidFill>
                    <a:schemeClr val="accent1"/>
                  </a:solidFill>
                </a:defRPr>
              </a:lvl1pPr>
              <a:lvl2pPr indent="0">
                <a:defRPr sz="1100">
                  <a:solidFill>
                    <a:schemeClr val="dk1"/>
                  </a:solidFill>
                </a:defRPr>
              </a:lvl2pPr>
              <a:lvl3pPr indent="0">
                <a:defRPr sz="1100">
                  <a:solidFill>
                    <a:schemeClr val="dk1"/>
                  </a:solidFill>
                </a:defRPr>
              </a:lvl3pPr>
              <a:lvl4pPr indent="0">
                <a:defRPr sz="1100">
                  <a:solidFill>
                    <a:schemeClr val="dk1"/>
                  </a:solidFill>
                </a:defRPr>
              </a:lvl4pPr>
              <a:lvl5pPr indent="0">
                <a:defRPr sz="1100">
                  <a:solidFill>
                    <a:schemeClr val="dk1"/>
                  </a:solidFill>
                </a:defRPr>
              </a:lvl5pPr>
              <a:lvl6pPr indent="0">
                <a:defRPr sz="1100">
                  <a:solidFill>
                    <a:schemeClr val="dk1"/>
                  </a:solidFill>
                </a:defRPr>
              </a:lvl6pPr>
              <a:lvl7pPr indent="0">
                <a:defRPr sz="1100">
                  <a:solidFill>
                    <a:schemeClr val="dk1"/>
                  </a:solidFill>
                </a:defRPr>
              </a:lvl7pPr>
              <a:lvl8pPr indent="0">
                <a:defRPr sz="1100">
                  <a:solidFill>
                    <a:schemeClr val="dk1"/>
                  </a:solidFill>
                </a:defRPr>
              </a:lvl8pPr>
              <a:lvl9pPr indent="0">
                <a:defRPr sz="1100">
                  <a:solidFill>
                    <a:schemeClr val="dk1"/>
                  </a:solidFill>
                </a:defRPr>
              </a:lvl9pPr>
            </a:lstStyle>
            <a:p>
              <a:r>
                <a:rPr lang="en-GB" dirty="0"/>
                <a:t>Acquisition Channel</a:t>
              </a:r>
            </a:p>
          </p:txBody>
        </p:sp>
      </p:grpSp>
    </p:spTree>
    <p:extLst>
      <p:ext uri="{BB962C8B-B14F-4D97-AF65-F5344CB8AC3E}">
        <p14:creationId xmlns:p14="http://schemas.microsoft.com/office/powerpoint/2010/main" val="167949347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D1D9F-53FD-E435-F6F2-221718D7764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52E3D63-F364-94BC-0090-E5D74EF3564F}"/>
              </a:ext>
            </a:extLst>
          </p:cNvPr>
          <p:cNvSpPr/>
          <p:nvPr/>
        </p:nvSpPr>
        <p:spPr>
          <a:xfrm>
            <a:off x="269630" y="158261"/>
            <a:ext cx="11723077" cy="6453553"/>
          </a:xfrm>
          <a:prstGeom prst="roundRect">
            <a:avLst>
              <a:gd name="adj" fmla="val 5223"/>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9673C7C4-E43C-5B38-F793-53E983763F62}"/>
              </a:ext>
            </a:extLst>
          </p:cNvPr>
          <p:cNvSpPr/>
          <p:nvPr/>
        </p:nvSpPr>
        <p:spPr>
          <a:xfrm>
            <a:off x="1449568" y="158260"/>
            <a:ext cx="10543139" cy="6453553"/>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grpSp>
        <p:nvGrpSpPr>
          <p:cNvPr id="3" name="Group 2">
            <a:extLst>
              <a:ext uri="{FF2B5EF4-FFF2-40B4-BE49-F238E27FC236}">
                <a16:creationId xmlns:a16="http://schemas.microsoft.com/office/drawing/2014/main" id="{898FC704-59A9-8FB7-A670-0CF31CEC913E}"/>
              </a:ext>
            </a:extLst>
          </p:cNvPr>
          <p:cNvGrpSpPr/>
          <p:nvPr/>
        </p:nvGrpSpPr>
        <p:grpSpPr>
          <a:xfrm>
            <a:off x="516193" y="246186"/>
            <a:ext cx="855407" cy="815698"/>
            <a:chOff x="1571740" y="755582"/>
            <a:chExt cx="1118229" cy="1052107"/>
          </a:xfrm>
        </p:grpSpPr>
        <p:grpSp>
          <p:nvGrpSpPr>
            <p:cNvPr id="48" name="Group 47">
              <a:extLst>
                <a:ext uri="{FF2B5EF4-FFF2-40B4-BE49-F238E27FC236}">
                  <a16:creationId xmlns:a16="http://schemas.microsoft.com/office/drawing/2014/main" id="{A36297A5-CA99-E3CF-F226-1851FE074B5C}"/>
                </a:ext>
              </a:extLst>
            </p:cNvPr>
            <p:cNvGrpSpPr/>
            <p:nvPr/>
          </p:nvGrpSpPr>
          <p:grpSpPr>
            <a:xfrm>
              <a:off x="1571740" y="755582"/>
              <a:ext cx="1118229" cy="1052107"/>
              <a:chOff x="1238865" y="1443039"/>
              <a:chExt cx="1917290" cy="1985961"/>
            </a:xfrm>
          </p:grpSpPr>
          <p:sp>
            <p:nvSpPr>
              <p:cNvPr id="49" name="Oval 48">
                <a:extLst>
                  <a:ext uri="{FF2B5EF4-FFF2-40B4-BE49-F238E27FC236}">
                    <a16:creationId xmlns:a16="http://schemas.microsoft.com/office/drawing/2014/main" id="{7438D870-2680-040B-E198-AECCC8CEADD0}"/>
                  </a:ext>
                </a:extLst>
              </p:cNvPr>
              <p:cNvSpPr/>
              <p:nvPr/>
            </p:nvSpPr>
            <p:spPr>
              <a:xfrm>
                <a:off x="1238865" y="1443039"/>
                <a:ext cx="1917290" cy="1985961"/>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Oval 49">
                <a:extLst>
                  <a:ext uri="{FF2B5EF4-FFF2-40B4-BE49-F238E27FC236}">
                    <a16:creationId xmlns:a16="http://schemas.microsoft.com/office/drawing/2014/main" id="{AEF166FB-0BA3-3802-A59F-94656A404759}"/>
                  </a:ext>
                </a:extLst>
              </p:cNvPr>
              <p:cNvSpPr/>
              <p:nvPr/>
            </p:nvSpPr>
            <p:spPr>
              <a:xfrm>
                <a:off x="1333423" y="1545431"/>
                <a:ext cx="1728173" cy="1781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50">
                <a:extLst>
                  <a:ext uri="{FF2B5EF4-FFF2-40B4-BE49-F238E27FC236}">
                    <a16:creationId xmlns:a16="http://schemas.microsoft.com/office/drawing/2014/main" id="{73EFD5E2-6977-5C95-8D3D-617F533A3C70}"/>
                  </a:ext>
                </a:extLst>
              </p:cNvPr>
              <p:cNvSpPr/>
              <p:nvPr/>
            </p:nvSpPr>
            <p:spPr>
              <a:xfrm>
                <a:off x="1421184" y="1647283"/>
                <a:ext cx="1552651" cy="1577470"/>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2" name="TextBox 23">
              <a:extLst>
                <a:ext uri="{FF2B5EF4-FFF2-40B4-BE49-F238E27FC236}">
                  <a16:creationId xmlns:a16="http://schemas.microsoft.com/office/drawing/2014/main" id="{8BE28C34-0B35-C5EA-EE1C-4E885142D460}"/>
                </a:ext>
              </a:extLst>
            </p:cNvPr>
            <p:cNvSpPr txBox="1"/>
            <p:nvPr/>
          </p:nvSpPr>
          <p:spPr>
            <a:xfrm>
              <a:off x="1886333" y="908417"/>
              <a:ext cx="489041" cy="50025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2800" b="1" dirty="0">
                  <a:solidFill>
                    <a:schemeClr val="tx1"/>
                  </a:solidFill>
                  <a:latin typeface="Aptos Narrow"/>
                </a:rPr>
                <a:t>9</a:t>
              </a:r>
              <a:endParaRPr lang="en-US" sz="2800" b="1" i="0" u="none" strike="noStrike" dirty="0">
                <a:solidFill>
                  <a:schemeClr val="tx1"/>
                </a:solidFill>
                <a:latin typeface="Aptos Narrow"/>
                <a:ea typeface="+mn-ea"/>
                <a:cs typeface="+mn-cs"/>
              </a:endParaRPr>
            </a:p>
          </p:txBody>
        </p:sp>
      </p:grpSp>
      <p:sp>
        <p:nvSpPr>
          <p:cNvPr id="15" name="Rectangle: Rounded Corners 14">
            <a:extLst>
              <a:ext uri="{FF2B5EF4-FFF2-40B4-BE49-F238E27FC236}">
                <a16:creationId xmlns:a16="http://schemas.microsoft.com/office/drawing/2014/main" id="{58F2D8C2-6154-8552-775F-EF3A81F37F2F}"/>
              </a:ext>
            </a:extLst>
          </p:cNvPr>
          <p:cNvSpPr/>
          <p:nvPr/>
        </p:nvSpPr>
        <p:spPr>
          <a:xfrm>
            <a:off x="4402989" y="232000"/>
            <a:ext cx="4636297" cy="42208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2">
                    <a:lumMod val="75000"/>
                    <a:lumOff val="25000"/>
                  </a:schemeClr>
                </a:solidFill>
              </a:rPr>
              <a:t>Where is churn coming from ?</a:t>
            </a:r>
          </a:p>
        </p:txBody>
      </p:sp>
      <p:grpSp>
        <p:nvGrpSpPr>
          <p:cNvPr id="17" name="Group 16">
            <a:extLst>
              <a:ext uri="{FF2B5EF4-FFF2-40B4-BE49-F238E27FC236}">
                <a16:creationId xmlns:a16="http://schemas.microsoft.com/office/drawing/2014/main" id="{B9E8C0B2-2E23-00FD-E9AD-03B881C85CDE}"/>
              </a:ext>
            </a:extLst>
          </p:cNvPr>
          <p:cNvGrpSpPr/>
          <p:nvPr/>
        </p:nvGrpSpPr>
        <p:grpSpPr>
          <a:xfrm>
            <a:off x="1594849" y="904677"/>
            <a:ext cx="811886" cy="1369042"/>
            <a:chOff x="1594849" y="904677"/>
            <a:chExt cx="811886" cy="1369042"/>
          </a:xfrm>
        </p:grpSpPr>
        <p:sp>
          <p:nvSpPr>
            <p:cNvPr id="10" name="Freeform: Shape 9">
              <a:extLst>
                <a:ext uri="{FF2B5EF4-FFF2-40B4-BE49-F238E27FC236}">
                  <a16:creationId xmlns:a16="http://schemas.microsoft.com/office/drawing/2014/main" id="{46153BC5-CF29-B620-D59E-4DDFB30667FE}"/>
                </a:ext>
              </a:extLst>
            </p:cNvPr>
            <p:cNvSpPr/>
            <p:nvPr/>
          </p:nvSpPr>
          <p:spPr>
            <a:xfrm>
              <a:off x="1594849" y="904677"/>
              <a:ext cx="733918" cy="1369042"/>
            </a:xfrm>
            <a:custGeom>
              <a:avLst/>
              <a:gdLst>
                <a:gd name="connsiteX0" fmla="*/ 630494 w 654268"/>
                <a:gd name="connsiteY0" fmla="*/ 0 h 1260987"/>
                <a:gd name="connsiteX1" fmla="*/ 654268 w 654268"/>
                <a:gd name="connsiteY1" fmla="*/ 2397 h 1260987"/>
                <a:gd name="connsiteX2" fmla="*/ 654268 w 654268"/>
                <a:gd name="connsiteY2" fmla="*/ 1258592 h 1260987"/>
                <a:gd name="connsiteX3" fmla="*/ 630515 w 654268"/>
                <a:gd name="connsiteY3" fmla="*/ 1260986 h 1260987"/>
                <a:gd name="connsiteX4" fmla="*/ 630494 w 654268"/>
                <a:gd name="connsiteY4" fmla="*/ 1260987 h 1260987"/>
                <a:gd name="connsiteX5" fmla="*/ 630474 w 654268"/>
                <a:gd name="connsiteY5" fmla="*/ 1260986 h 1260987"/>
                <a:gd name="connsiteX6" fmla="*/ 503428 w 654268"/>
                <a:gd name="connsiteY6" fmla="*/ 1248179 h 1260987"/>
                <a:gd name="connsiteX7" fmla="*/ 0 w 654268"/>
                <a:gd name="connsiteY7" fmla="*/ 630494 h 1260987"/>
                <a:gd name="connsiteX8" fmla="*/ 630494 w 654268"/>
                <a:gd name="connsiteY8" fmla="*/ 0 h 1260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4268" h="1260987">
                  <a:moveTo>
                    <a:pt x="630494" y="0"/>
                  </a:moveTo>
                  <a:lnTo>
                    <a:pt x="654268" y="2397"/>
                  </a:lnTo>
                  <a:lnTo>
                    <a:pt x="654268" y="1258592"/>
                  </a:lnTo>
                  <a:lnTo>
                    <a:pt x="630515" y="1260986"/>
                  </a:lnTo>
                  <a:lnTo>
                    <a:pt x="630494" y="1260987"/>
                  </a:lnTo>
                  <a:lnTo>
                    <a:pt x="630474" y="1260986"/>
                  </a:lnTo>
                  <a:lnTo>
                    <a:pt x="503428" y="1248179"/>
                  </a:lnTo>
                  <a:cubicBezTo>
                    <a:pt x="216122" y="1189388"/>
                    <a:pt x="0" y="935180"/>
                    <a:pt x="0" y="630494"/>
                  </a:cubicBezTo>
                  <a:cubicBezTo>
                    <a:pt x="0" y="282282"/>
                    <a:pt x="282282" y="0"/>
                    <a:pt x="630494" y="0"/>
                  </a:cubicBezTo>
                  <a:close/>
                </a:path>
              </a:pathLst>
            </a:custGeom>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a:ln>
              <a:noFill/>
            </a:ln>
            <a:effectLst>
              <a:outerShdw blurRad="50800" dist="50800" dir="5400000" algn="ctr" rotWithShape="0">
                <a:schemeClr val="tx1"/>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97138" tIns="373102" rIns="1697139" bIns="4408261" numCol="1" spcCol="1270" anchor="ctr" anchorCtr="0">
              <a:noAutofit/>
            </a:bodyPr>
            <a:lstStyle/>
            <a:p>
              <a:pPr marL="0" lvl="0" indent="0" algn="ctr" defTabSz="755650">
                <a:lnSpc>
                  <a:spcPct val="90000"/>
                </a:lnSpc>
                <a:spcBef>
                  <a:spcPct val="0"/>
                </a:spcBef>
                <a:spcAft>
                  <a:spcPct val="35000"/>
                </a:spcAft>
                <a:buNone/>
              </a:pPr>
              <a:endParaRPr lang="en-GB" sz="1700" kern="1200" dirty="0">
                <a:solidFill>
                  <a:schemeClr val="accent1">
                    <a:lumMod val="20000"/>
                    <a:lumOff val="80000"/>
                  </a:schemeClr>
                </a:solidFill>
              </a:endParaRPr>
            </a:p>
          </p:txBody>
        </p:sp>
        <p:sp>
          <p:nvSpPr>
            <p:cNvPr id="12" name="TextBox 11">
              <a:extLst>
                <a:ext uri="{FF2B5EF4-FFF2-40B4-BE49-F238E27FC236}">
                  <a16:creationId xmlns:a16="http://schemas.microsoft.com/office/drawing/2014/main" id="{AEA1FCA4-60E2-41AE-2A7F-3AEA1E9CA32C}"/>
                </a:ext>
              </a:extLst>
            </p:cNvPr>
            <p:cNvSpPr txBox="1"/>
            <p:nvPr/>
          </p:nvSpPr>
          <p:spPr>
            <a:xfrm>
              <a:off x="1662215" y="1296810"/>
              <a:ext cx="744520" cy="584775"/>
            </a:xfrm>
            <a:prstGeom prst="rect">
              <a:avLst/>
            </a:prstGeom>
            <a:noFill/>
          </p:spPr>
          <p:txBody>
            <a:bodyPr wrap="square" rtlCol="0">
              <a:spAutoFit/>
            </a:bodyPr>
            <a:lstStyle>
              <a:defPPr>
                <a:defRPr lang="en-US"/>
              </a:defPPr>
              <a:lvl1pPr>
                <a:defRPr sz="3200" b="1">
                  <a:solidFill>
                    <a:schemeClr val="tx2">
                      <a:lumMod val="50000"/>
                      <a:lumOff val="50000"/>
                    </a:schemeClr>
                  </a:solidFill>
                  <a:effectLst>
                    <a:outerShdw blurRad="50800" dist="38100" dir="18900000" algn="bl" rotWithShape="0">
                      <a:prstClr val="black">
                        <a:alpha val="40000"/>
                      </a:prstClr>
                    </a:outerShdw>
                  </a:effectLst>
                </a:defRPr>
              </a:lvl1pPr>
            </a:lstStyle>
            <a:p>
              <a:r>
                <a:rPr lang="en-GB" dirty="0">
                  <a:solidFill>
                    <a:schemeClr val="bg2"/>
                  </a:solidFill>
                </a:rPr>
                <a:t>04</a:t>
              </a:r>
            </a:p>
          </p:txBody>
        </p:sp>
      </p:grpSp>
      <p:grpSp>
        <p:nvGrpSpPr>
          <p:cNvPr id="19" name="Group 18">
            <a:extLst>
              <a:ext uri="{FF2B5EF4-FFF2-40B4-BE49-F238E27FC236}">
                <a16:creationId xmlns:a16="http://schemas.microsoft.com/office/drawing/2014/main" id="{954093E3-7559-F5FF-9E17-B58B3045DB25}"/>
              </a:ext>
            </a:extLst>
          </p:cNvPr>
          <p:cNvGrpSpPr/>
          <p:nvPr/>
        </p:nvGrpSpPr>
        <p:grpSpPr>
          <a:xfrm>
            <a:off x="2309626" y="904678"/>
            <a:ext cx="5030678" cy="5510869"/>
            <a:chOff x="2309626" y="904678"/>
            <a:chExt cx="5030678" cy="5510869"/>
          </a:xfrm>
        </p:grpSpPr>
        <p:sp>
          <p:nvSpPr>
            <p:cNvPr id="11" name="Rectangle 10">
              <a:extLst>
                <a:ext uri="{FF2B5EF4-FFF2-40B4-BE49-F238E27FC236}">
                  <a16:creationId xmlns:a16="http://schemas.microsoft.com/office/drawing/2014/main" id="{A8EAE5D1-BFA7-FCC2-C4F3-957EF36AB48C}"/>
                </a:ext>
              </a:extLst>
            </p:cNvPr>
            <p:cNvSpPr/>
            <p:nvPr/>
          </p:nvSpPr>
          <p:spPr>
            <a:xfrm>
              <a:off x="2309626" y="904678"/>
              <a:ext cx="5030678" cy="5510869"/>
            </a:xfrm>
            <a:prstGeom prst="rect">
              <a:avLst/>
            </a:prstGeom>
            <a:gradFill>
              <a:gsLst>
                <a:gs pos="80000">
                  <a:schemeClr val="accent4">
                    <a:lumMod val="89000"/>
                  </a:schemeClr>
                </a:gs>
                <a:gs pos="57000">
                  <a:schemeClr val="accent4">
                    <a:lumMod val="75000"/>
                  </a:schemeClr>
                </a:gs>
                <a:gs pos="28000">
                  <a:schemeClr val="accent4">
                    <a:lumMod val="70000"/>
                  </a:schemeClr>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50BA748E-EBD7-8D90-3837-EA7A0CB850F0}"/>
                </a:ext>
              </a:extLst>
            </p:cNvPr>
            <p:cNvSpPr txBox="1"/>
            <p:nvPr/>
          </p:nvSpPr>
          <p:spPr>
            <a:xfrm>
              <a:off x="2664312" y="3828331"/>
              <a:ext cx="4503404" cy="1200329"/>
            </a:xfrm>
            <a:prstGeom prst="rect">
              <a:avLst/>
            </a:prstGeom>
            <a:noFill/>
          </p:spPr>
          <p:txBody>
            <a:bodyPr wrap="square" rtlCol="0">
              <a:spAutoFit/>
            </a:bodyPr>
            <a:lstStyle/>
            <a:p>
              <a:pPr marL="285750" indent="-285750">
                <a:buFont typeface="Arial" panose="020B0604020202020204" pitchFamily="34" charset="0"/>
                <a:buChar char="•"/>
              </a:pPr>
              <a:r>
                <a:rPr lang="en-GB" dirty="0">
                  <a:solidFill>
                    <a:schemeClr val="bg1">
                      <a:lumMod val="95000"/>
                    </a:schemeClr>
                  </a:solidFill>
                </a:rPr>
                <a:t>As shown in the column chart, despite the central region having the highest ‘Active’ customers, churned customers still remain high and so in all regions.</a:t>
              </a:r>
            </a:p>
          </p:txBody>
        </p:sp>
        <p:sp>
          <p:nvSpPr>
            <p:cNvPr id="13" name="TextBox 9">
              <a:extLst>
                <a:ext uri="{FF2B5EF4-FFF2-40B4-BE49-F238E27FC236}">
                  <a16:creationId xmlns:a16="http://schemas.microsoft.com/office/drawing/2014/main" id="{3EE9A88D-326E-7545-E7BA-2D936C9BA533}"/>
                </a:ext>
              </a:extLst>
            </p:cNvPr>
            <p:cNvSpPr txBox="1"/>
            <p:nvPr/>
          </p:nvSpPr>
          <p:spPr>
            <a:xfrm>
              <a:off x="2664312" y="1793638"/>
              <a:ext cx="4503404" cy="1200329"/>
            </a:xfrm>
            <a:prstGeom prst="rect">
              <a:avLst/>
            </a:prstGeom>
            <a:noFill/>
          </p:spPr>
          <p:txBody>
            <a:bodyPr wrap="square" rtlCol="0">
              <a:spAutoFit/>
            </a:bodyPr>
            <a:lstStyle>
              <a:defPPr>
                <a:defRPr lang="en-US"/>
              </a:defPPr>
              <a:lvl1pPr marL="285750" indent="-285750">
                <a:buFont typeface="Arial" panose="020B0604020202020204" pitchFamily="34" charset="0"/>
                <a:buChar char="•"/>
                <a:defRPr>
                  <a:solidFill>
                    <a:schemeClr val="bg1">
                      <a:lumMod val="95000"/>
                    </a:schemeClr>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t>The western region has the highest amount of churned customers with high difference compared to their active customers. </a:t>
              </a:r>
            </a:p>
          </p:txBody>
        </p:sp>
      </p:grpSp>
      <p:graphicFrame>
        <p:nvGraphicFramePr>
          <p:cNvPr id="5" name="Chart 4">
            <a:extLst>
              <a:ext uri="{FF2B5EF4-FFF2-40B4-BE49-F238E27FC236}">
                <a16:creationId xmlns:a16="http://schemas.microsoft.com/office/drawing/2014/main" id="{091BD2B9-B694-2A71-8C39-7CEF8B695C79}"/>
              </a:ext>
            </a:extLst>
          </p:cNvPr>
          <p:cNvGraphicFramePr>
            <a:graphicFrameLocks/>
          </p:cNvGraphicFramePr>
          <p:nvPr>
            <p:extLst>
              <p:ext uri="{D42A27DB-BD31-4B8C-83A1-F6EECF244321}">
                <p14:modId xmlns:p14="http://schemas.microsoft.com/office/powerpoint/2010/main" val="2399949121"/>
              </p:ext>
            </p:extLst>
          </p:nvPr>
        </p:nvGraphicFramePr>
        <p:xfrm>
          <a:off x="7522403" y="1019359"/>
          <a:ext cx="4399968" cy="5114155"/>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a:extLst>
              <a:ext uri="{FF2B5EF4-FFF2-40B4-BE49-F238E27FC236}">
                <a16:creationId xmlns:a16="http://schemas.microsoft.com/office/drawing/2014/main" id="{46C2B08E-78CE-C4B8-E6EB-459EC6AE58F9}"/>
              </a:ext>
            </a:extLst>
          </p:cNvPr>
          <p:cNvSpPr txBox="1"/>
          <p:nvPr/>
        </p:nvSpPr>
        <p:spPr>
          <a:xfrm>
            <a:off x="7503261" y="1061884"/>
            <a:ext cx="2379113" cy="36933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defPPr>
              <a:defRPr lang="en-US"/>
            </a:defPPr>
            <a:lvl1pPr indent="0">
              <a:defRPr b="1" baseline="0">
                <a:solidFill>
                  <a:schemeClr val="accent1"/>
                </a:solidFill>
              </a:defRPr>
            </a:lvl1pPr>
            <a:lvl2pPr indent="0">
              <a:defRPr sz="1100">
                <a:solidFill>
                  <a:schemeClr val="dk1"/>
                </a:solidFill>
              </a:defRPr>
            </a:lvl2pPr>
            <a:lvl3pPr indent="0">
              <a:defRPr sz="1100">
                <a:solidFill>
                  <a:schemeClr val="dk1"/>
                </a:solidFill>
              </a:defRPr>
            </a:lvl3pPr>
            <a:lvl4pPr indent="0">
              <a:defRPr sz="1100">
                <a:solidFill>
                  <a:schemeClr val="dk1"/>
                </a:solidFill>
              </a:defRPr>
            </a:lvl4pPr>
            <a:lvl5pPr indent="0">
              <a:defRPr sz="1100">
                <a:solidFill>
                  <a:schemeClr val="dk1"/>
                </a:solidFill>
              </a:defRPr>
            </a:lvl5pPr>
            <a:lvl6pPr indent="0">
              <a:defRPr sz="1100">
                <a:solidFill>
                  <a:schemeClr val="dk1"/>
                </a:solidFill>
              </a:defRPr>
            </a:lvl6pPr>
            <a:lvl7pPr indent="0">
              <a:defRPr sz="1100">
                <a:solidFill>
                  <a:schemeClr val="dk1"/>
                </a:solidFill>
              </a:defRPr>
            </a:lvl7pPr>
            <a:lvl8pPr indent="0">
              <a:defRPr sz="1100">
                <a:solidFill>
                  <a:schemeClr val="dk1"/>
                </a:solidFill>
              </a:defRPr>
            </a:lvl8pPr>
            <a:lvl9pPr indent="0">
              <a:defRPr sz="1100">
                <a:solidFill>
                  <a:schemeClr val="dk1"/>
                </a:solidFill>
              </a:defRPr>
            </a:lvl9pPr>
          </a:lstStyle>
          <a:p>
            <a:r>
              <a:rPr lang="en-GB" dirty="0"/>
              <a:t>Regional Breakdown</a:t>
            </a:r>
          </a:p>
        </p:txBody>
      </p:sp>
      <p:sp>
        <p:nvSpPr>
          <p:cNvPr id="2" name="TextBox 1">
            <a:extLst>
              <a:ext uri="{FF2B5EF4-FFF2-40B4-BE49-F238E27FC236}">
                <a16:creationId xmlns:a16="http://schemas.microsoft.com/office/drawing/2014/main" id="{CBF7787D-59B4-4138-1712-24ABA915E794}"/>
              </a:ext>
            </a:extLst>
          </p:cNvPr>
          <p:cNvSpPr txBox="1"/>
          <p:nvPr/>
        </p:nvSpPr>
        <p:spPr>
          <a:xfrm>
            <a:off x="4021827" y="1019359"/>
            <a:ext cx="1266283" cy="523220"/>
          </a:xfrm>
          <a:prstGeom prst="rect">
            <a:avLst/>
          </a:prstGeom>
          <a:noFill/>
        </p:spPr>
        <p:txBody>
          <a:bodyPr wrap="square" rtlCol="0">
            <a:spAutoFit/>
          </a:bodyPr>
          <a:lstStyle>
            <a:defPPr>
              <a:defRPr lang="en-US"/>
            </a:defPPr>
            <a:lvl1pPr>
              <a:defRPr sz="2800" b="0" spc="0">
                <a:solidFill>
                  <a:schemeClr val="bg1">
                    <a:lumMod val="95000"/>
                  </a:schemeClr>
                </a:solidFill>
                <a:effectLst/>
              </a:defRPr>
            </a:lvl1pPr>
          </a:lstStyle>
          <a:p>
            <a:r>
              <a:rPr lang="en-GB" dirty="0"/>
              <a:t>Region</a:t>
            </a:r>
          </a:p>
        </p:txBody>
      </p:sp>
    </p:spTree>
    <p:extLst>
      <p:ext uri="{BB962C8B-B14F-4D97-AF65-F5344CB8AC3E}">
        <p14:creationId xmlns:p14="http://schemas.microsoft.com/office/powerpoint/2010/main" val="58290017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872297-2321-1F22-0F89-9C3D31F03733}"/>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2EA1DFA-0C04-D4E1-C9F6-A4735C22AADF}"/>
              </a:ext>
            </a:extLst>
          </p:cNvPr>
          <p:cNvSpPr/>
          <p:nvPr/>
        </p:nvSpPr>
        <p:spPr>
          <a:xfrm>
            <a:off x="269630" y="158261"/>
            <a:ext cx="11723077" cy="6453553"/>
          </a:xfrm>
          <a:prstGeom prst="roundRect">
            <a:avLst>
              <a:gd name="adj" fmla="val 5223"/>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3094686A-7480-1063-4DE7-8A82718B01EA}"/>
              </a:ext>
            </a:extLst>
          </p:cNvPr>
          <p:cNvSpPr/>
          <p:nvPr/>
        </p:nvSpPr>
        <p:spPr>
          <a:xfrm>
            <a:off x="1449568" y="158260"/>
            <a:ext cx="10543139" cy="6453553"/>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grpSp>
        <p:nvGrpSpPr>
          <p:cNvPr id="3" name="Group 2">
            <a:extLst>
              <a:ext uri="{FF2B5EF4-FFF2-40B4-BE49-F238E27FC236}">
                <a16:creationId xmlns:a16="http://schemas.microsoft.com/office/drawing/2014/main" id="{ED2E15D5-9A0C-C06F-71D5-EF4961257997}"/>
              </a:ext>
            </a:extLst>
          </p:cNvPr>
          <p:cNvGrpSpPr/>
          <p:nvPr/>
        </p:nvGrpSpPr>
        <p:grpSpPr>
          <a:xfrm>
            <a:off x="516193" y="246186"/>
            <a:ext cx="855407" cy="815698"/>
            <a:chOff x="1571740" y="755582"/>
            <a:chExt cx="1118229" cy="1052107"/>
          </a:xfrm>
        </p:grpSpPr>
        <p:grpSp>
          <p:nvGrpSpPr>
            <p:cNvPr id="48" name="Group 47">
              <a:extLst>
                <a:ext uri="{FF2B5EF4-FFF2-40B4-BE49-F238E27FC236}">
                  <a16:creationId xmlns:a16="http://schemas.microsoft.com/office/drawing/2014/main" id="{7E018519-2314-F654-FE0B-483B1BCB2C29}"/>
                </a:ext>
              </a:extLst>
            </p:cNvPr>
            <p:cNvGrpSpPr/>
            <p:nvPr/>
          </p:nvGrpSpPr>
          <p:grpSpPr>
            <a:xfrm>
              <a:off x="1571740" y="755582"/>
              <a:ext cx="1118229" cy="1052107"/>
              <a:chOff x="1238865" y="1443039"/>
              <a:chExt cx="1917290" cy="1985961"/>
            </a:xfrm>
          </p:grpSpPr>
          <p:sp>
            <p:nvSpPr>
              <p:cNvPr id="49" name="Oval 48">
                <a:extLst>
                  <a:ext uri="{FF2B5EF4-FFF2-40B4-BE49-F238E27FC236}">
                    <a16:creationId xmlns:a16="http://schemas.microsoft.com/office/drawing/2014/main" id="{3D97151B-1088-484B-5387-E1FF87EBE043}"/>
                  </a:ext>
                </a:extLst>
              </p:cNvPr>
              <p:cNvSpPr/>
              <p:nvPr/>
            </p:nvSpPr>
            <p:spPr>
              <a:xfrm>
                <a:off x="1238865" y="1443039"/>
                <a:ext cx="1917290" cy="1985961"/>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Oval 49">
                <a:extLst>
                  <a:ext uri="{FF2B5EF4-FFF2-40B4-BE49-F238E27FC236}">
                    <a16:creationId xmlns:a16="http://schemas.microsoft.com/office/drawing/2014/main" id="{3A180246-38CB-3180-A3CD-BA1B4A18DD3B}"/>
                  </a:ext>
                </a:extLst>
              </p:cNvPr>
              <p:cNvSpPr/>
              <p:nvPr/>
            </p:nvSpPr>
            <p:spPr>
              <a:xfrm>
                <a:off x="1333423" y="1545431"/>
                <a:ext cx="1728173" cy="1781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50">
                <a:extLst>
                  <a:ext uri="{FF2B5EF4-FFF2-40B4-BE49-F238E27FC236}">
                    <a16:creationId xmlns:a16="http://schemas.microsoft.com/office/drawing/2014/main" id="{3490CE4C-F6F9-D61A-E42E-3F7EC4C9B974}"/>
                  </a:ext>
                </a:extLst>
              </p:cNvPr>
              <p:cNvSpPr/>
              <p:nvPr/>
            </p:nvSpPr>
            <p:spPr>
              <a:xfrm>
                <a:off x="1421184" y="1647283"/>
                <a:ext cx="1552651" cy="1577470"/>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2" name="TextBox 23">
              <a:extLst>
                <a:ext uri="{FF2B5EF4-FFF2-40B4-BE49-F238E27FC236}">
                  <a16:creationId xmlns:a16="http://schemas.microsoft.com/office/drawing/2014/main" id="{D56DBE20-5018-B6A6-6F03-D7079A423010}"/>
                </a:ext>
              </a:extLst>
            </p:cNvPr>
            <p:cNvSpPr txBox="1"/>
            <p:nvPr/>
          </p:nvSpPr>
          <p:spPr>
            <a:xfrm>
              <a:off x="1756611" y="957781"/>
              <a:ext cx="748486" cy="50025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2800" b="1" i="0" u="none" strike="noStrike" dirty="0">
                  <a:solidFill>
                    <a:schemeClr val="tx1"/>
                  </a:solidFill>
                  <a:latin typeface="Aptos Narrow"/>
                  <a:ea typeface="+mn-ea"/>
                  <a:cs typeface="+mn-cs"/>
                </a:rPr>
                <a:t>10</a:t>
              </a:r>
            </a:p>
          </p:txBody>
        </p:sp>
      </p:grpSp>
      <p:sp>
        <p:nvSpPr>
          <p:cNvPr id="15" name="Rectangle: Rounded Corners 14">
            <a:extLst>
              <a:ext uri="{FF2B5EF4-FFF2-40B4-BE49-F238E27FC236}">
                <a16:creationId xmlns:a16="http://schemas.microsoft.com/office/drawing/2014/main" id="{E88B8F3B-22FF-9335-3EF3-152E5C635F11}"/>
              </a:ext>
            </a:extLst>
          </p:cNvPr>
          <p:cNvSpPr/>
          <p:nvPr/>
        </p:nvSpPr>
        <p:spPr>
          <a:xfrm>
            <a:off x="4402989" y="232000"/>
            <a:ext cx="4636297" cy="42208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2">
                    <a:lumMod val="75000"/>
                    <a:lumOff val="25000"/>
                  </a:schemeClr>
                </a:solidFill>
              </a:rPr>
              <a:t>Where is churn coming from ?</a:t>
            </a:r>
          </a:p>
        </p:txBody>
      </p:sp>
      <p:grpSp>
        <p:nvGrpSpPr>
          <p:cNvPr id="17" name="Group 16">
            <a:extLst>
              <a:ext uri="{FF2B5EF4-FFF2-40B4-BE49-F238E27FC236}">
                <a16:creationId xmlns:a16="http://schemas.microsoft.com/office/drawing/2014/main" id="{594E716A-4681-E674-10A8-E2235B833980}"/>
              </a:ext>
            </a:extLst>
          </p:cNvPr>
          <p:cNvGrpSpPr/>
          <p:nvPr/>
        </p:nvGrpSpPr>
        <p:grpSpPr>
          <a:xfrm>
            <a:off x="1594849" y="904677"/>
            <a:ext cx="811886" cy="1369042"/>
            <a:chOff x="1594849" y="904677"/>
            <a:chExt cx="811886" cy="1369042"/>
          </a:xfrm>
        </p:grpSpPr>
        <p:sp>
          <p:nvSpPr>
            <p:cNvPr id="10" name="Freeform: Shape 9">
              <a:extLst>
                <a:ext uri="{FF2B5EF4-FFF2-40B4-BE49-F238E27FC236}">
                  <a16:creationId xmlns:a16="http://schemas.microsoft.com/office/drawing/2014/main" id="{194A24B8-0DC4-547E-9145-A8DACB22A8B5}"/>
                </a:ext>
              </a:extLst>
            </p:cNvPr>
            <p:cNvSpPr/>
            <p:nvPr/>
          </p:nvSpPr>
          <p:spPr>
            <a:xfrm>
              <a:off x="1594849" y="904677"/>
              <a:ext cx="733918" cy="1369042"/>
            </a:xfrm>
            <a:custGeom>
              <a:avLst/>
              <a:gdLst>
                <a:gd name="connsiteX0" fmla="*/ 630494 w 654268"/>
                <a:gd name="connsiteY0" fmla="*/ 0 h 1260987"/>
                <a:gd name="connsiteX1" fmla="*/ 654268 w 654268"/>
                <a:gd name="connsiteY1" fmla="*/ 2397 h 1260987"/>
                <a:gd name="connsiteX2" fmla="*/ 654268 w 654268"/>
                <a:gd name="connsiteY2" fmla="*/ 1258592 h 1260987"/>
                <a:gd name="connsiteX3" fmla="*/ 630515 w 654268"/>
                <a:gd name="connsiteY3" fmla="*/ 1260986 h 1260987"/>
                <a:gd name="connsiteX4" fmla="*/ 630494 w 654268"/>
                <a:gd name="connsiteY4" fmla="*/ 1260987 h 1260987"/>
                <a:gd name="connsiteX5" fmla="*/ 630474 w 654268"/>
                <a:gd name="connsiteY5" fmla="*/ 1260986 h 1260987"/>
                <a:gd name="connsiteX6" fmla="*/ 503428 w 654268"/>
                <a:gd name="connsiteY6" fmla="*/ 1248179 h 1260987"/>
                <a:gd name="connsiteX7" fmla="*/ 0 w 654268"/>
                <a:gd name="connsiteY7" fmla="*/ 630494 h 1260987"/>
                <a:gd name="connsiteX8" fmla="*/ 630494 w 654268"/>
                <a:gd name="connsiteY8" fmla="*/ 0 h 1260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4268" h="1260987">
                  <a:moveTo>
                    <a:pt x="630494" y="0"/>
                  </a:moveTo>
                  <a:lnTo>
                    <a:pt x="654268" y="2397"/>
                  </a:lnTo>
                  <a:lnTo>
                    <a:pt x="654268" y="1258592"/>
                  </a:lnTo>
                  <a:lnTo>
                    <a:pt x="630515" y="1260986"/>
                  </a:lnTo>
                  <a:lnTo>
                    <a:pt x="630494" y="1260987"/>
                  </a:lnTo>
                  <a:lnTo>
                    <a:pt x="630474" y="1260986"/>
                  </a:lnTo>
                  <a:lnTo>
                    <a:pt x="503428" y="1248179"/>
                  </a:lnTo>
                  <a:cubicBezTo>
                    <a:pt x="216122" y="1189388"/>
                    <a:pt x="0" y="935180"/>
                    <a:pt x="0" y="630494"/>
                  </a:cubicBezTo>
                  <a:cubicBezTo>
                    <a:pt x="0" y="282282"/>
                    <a:pt x="282282" y="0"/>
                    <a:pt x="630494" y="0"/>
                  </a:cubicBezTo>
                  <a:close/>
                </a:path>
              </a:pathLst>
            </a:custGeom>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a:ln>
              <a:noFill/>
            </a:ln>
            <a:effectLst>
              <a:outerShdw blurRad="50800" dist="50800" dir="5400000" algn="ctr" rotWithShape="0">
                <a:schemeClr val="tx1"/>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97138" tIns="373102" rIns="1697139" bIns="4408261" numCol="1" spcCol="1270" anchor="ctr" anchorCtr="0">
              <a:noAutofit/>
            </a:bodyPr>
            <a:lstStyle/>
            <a:p>
              <a:pPr marL="0" lvl="0" indent="0" algn="ctr" defTabSz="755650">
                <a:lnSpc>
                  <a:spcPct val="90000"/>
                </a:lnSpc>
                <a:spcBef>
                  <a:spcPct val="0"/>
                </a:spcBef>
                <a:spcAft>
                  <a:spcPct val="35000"/>
                </a:spcAft>
                <a:buNone/>
              </a:pPr>
              <a:endParaRPr lang="en-GB" sz="1700" kern="1200" dirty="0">
                <a:solidFill>
                  <a:schemeClr val="accent1">
                    <a:lumMod val="20000"/>
                    <a:lumOff val="80000"/>
                  </a:schemeClr>
                </a:solidFill>
              </a:endParaRPr>
            </a:p>
          </p:txBody>
        </p:sp>
        <p:sp>
          <p:nvSpPr>
            <p:cNvPr id="12" name="TextBox 11">
              <a:extLst>
                <a:ext uri="{FF2B5EF4-FFF2-40B4-BE49-F238E27FC236}">
                  <a16:creationId xmlns:a16="http://schemas.microsoft.com/office/drawing/2014/main" id="{73E2C129-5001-0C91-0C95-E6E701716885}"/>
                </a:ext>
              </a:extLst>
            </p:cNvPr>
            <p:cNvSpPr txBox="1"/>
            <p:nvPr/>
          </p:nvSpPr>
          <p:spPr>
            <a:xfrm>
              <a:off x="1662215" y="1296810"/>
              <a:ext cx="744520" cy="584775"/>
            </a:xfrm>
            <a:prstGeom prst="rect">
              <a:avLst/>
            </a:prstGeom>
            <a:noFill/>
          </p:spPr>
          <p:txBody>
            <a:bodyPr wrap="square" rtlCol="0">
              <a:spAutoFit/>
            </a:bodyPr>
            <a:lstStyle>
              <a:defPPr>
                <a:defRPr lang="en-US"/>
              </a:defPPr>
              <a:lvl1pPr>
                <a:defRPr sz="3200" b="1">
                  <a:solidFill>
                    <a:schemeClr val="tx2">
                      <a:lumMod val="50000"/>
                      <a:lumOff val="50000"/>
                    </a:schemeClr>
                  </a:solidFill>
                  <a:effectLst>
                    <a:outerShdw blurRad="50800" dist="38100" dir="18900000" algn="bl" rotWithShape="0">
                      <a:prstClr val="black">
                        <a:alpha val="40000"/>
                      </a:prstClr>
                    </a:outerShdw>
                  </a:effectLst>
                </a:defRPr>
              </a:lvl1pPr>
            </a:lstStyle>
            <a:p>
              <a:r>
                <a:rPr lang="en-GB" dirty="0">
                  <a:solidFill>
                    <a:schemeClr val="bg2"/>
                  </a:solidFill>
                </a:rPr>
                <a:t>05</a:t>
              </a:r>
            </a:p>
          </p:txBody>
        </p:sp>
      </p:grpSp>
      <p:grpSp>
        <p:nvGrpSpPr>
          <p:cNvPr id="19" name="Group 18">
            <a:extLst>
              <a:ext uri="{FF2B5EF4-FFF2-40B4-BE49-F238E27FC236}">
                <a16:creationId xmlns:a16="http://schemas.microsoft.com/office/drawing/2014/main" id="{239F31A6-8946-4055-2EC0-9D0DBAAEDED3}"/>
              </a:ext>
            </a:extLst>
          </p:cNvPr>
          <p:cNvGrpSpPr/>
          <p:nvPr/>
        </p:nvGrpSpPr>
        <p:grpSpPr>
          <a:xfrm>
            <a:off x="2309626" y="904678"/>
            <a:ext cx="5030678" cy="5510869"/>
            <a:chOff x="2309626" y="904678"/>
            <a:chExt cx="5030678" cy="5510869"/>
          </a:xfrm>
        </p:grpSpPr>
        <p:sp>
          <p:nvSpPr>
            <p:cNvPr id="11" name="Rectangle 10">
              <a:extLst>
                <a:ext uri="{FF2B5EF4-FFF2-40B4-BE49-F238E27FC236}">
                  <a16:creationId xmlns:a16="http://schemas.microsoft.com/office/drawing/2014/main" id="{05A1E879-65F2-F2C5-22E7-06F6CBD632B6}"/>
                </a:ext>
              </a:extLst>
            </p:cNvPr>
            <p:cNvSpPr/>
            <p:nvPr/>
          </p:nvSpPr>
          <p:spPr>
            <a:xfrm>
              <a:off x="2309626" y="904678"/>
              <a:ext cx="5030678" cy="5510869"/>
            </a:xfrm>
            <a:prstGeom prst="rect">
              <a:avLst/>
            </a:prstGeom>
            <a:gradFill>
              <a:gsLst>
                <a:gs pos="80000">
                  <a:schemeClr val="accent4">
                    <a:lumMod val="89000"/>
                  </a:schemeClr>
                </a:gs>
                <a:gs pos="57000">
                  <a:schemeClr val="accent4">
                    <a:lumMod val="75000"/>
                  </a:schemeClr>
                </a:gs>
                <a:gs pos="28000">
                  <a:schemeClr val="accent4">
                    <a:lumMod val="70000"/>
                  </a:schemeClr>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35BFB323-23D5-6DD3-D243-84ECC758E9A5}"/>
                </a:ext>
              </a:extLst>
            </p:cNvPr>
            <p:cNvSpPr txBox="1"/>
            <p:nvPr/>
          </p:nvSpPr>
          <p:spPr>
            <a:xfrm>
              <a:off x="2664312" y="3828331"/>
              <a:ext cx="4503404" cy="2308324"/>
            </a:xfrm>
            <a:prstGeom prst="rect">
              <a:avLst/>
            </a:prstGeom>
            <a:noFill/>
          </p:spPr>
          <p:txBody>
            <a:bodyPr wrap="square" rtlCol="0">
              <a:spAutoFit/>
            </a:bodyPr>
            <a:lstStyle/>
            <a:p>
              <a:pPr marL="285750" indent="-285750">
                <a:buFont typeface="Arial" panose="020B0604020202020204" pitchFamily="34" charset="0"/>
                <a:buChar char="•"/>
              </a:pPr>
              <a:r>
                <a:rPr lang="en-GB" dirty="0">
                  <a:solidFill>
                    <a:schemeClr val="bg1">
                      <a:lumMod val="95000"/>
                    </a:schemeClr>
                  </a:solidFill>
                </a:rPr>
                <a:t>Based on ‘Gender’, ‘Others’ category has the highest churned customers with an average lifetime duration (1255.20). There is persistent more churned customers with more average lifetime duration in all genders. This shows dissatisfaction to products and services across all genders.</a:t>
              </a:r>
            </a:p>
          </p:txBody>
        </p:sp>
        <p:sp>
          <p:nvSpPr>
            <p:cNvPr id="13" name="TextBox 9">
              <a:extLst>
                <a:ext uri="{FF2B5EF4-FFF2-40B4-BE49-F238E27FC236}">
                  <a16:creationId xmlns:a16="http://schemas.microsoft.com/office/drawing/2014/main" id="{BF2D68AC-B0EE-04EC-49E0-6E981BBBD8AF}"/>
                </a:ext>
              </a:extLst>
            </p:cNvPr>
            <p:cNvSpPr txBox="1"/>
            <p:nvPr/>
          </p:nvSpPr>
          <p:spPr>
            <a:xfrm>
              <a:off x="2664312" y="1793638"/>
              <a:ext cx="4503404" cy="1200329"/>
            </a:xfrm>
            <a:prstGeom prst="rect">
              <a:avLst/>
            </a:prstGeom>
            <a:noFill/>
          </p:spPr>
          <p:txBody>
            <a:bodyPr wrap="square" rtlCol="0">
              <a:spAutoFit/>
            </a:bodyPr>
            <a:lstStyle>
              <a:defPPr>
                <a:defRPr lang="en-US"/>
              </a:defPPr>
              <a:lvl1pPr marL="285750" indent="-285750">
                <a:buFont typeface="Arial" panose="020B0604020202020204" pitchFamily="34" charset="0"/>
                <a:buChar char="•"/>
                <a:defRPr>
                  <a:solidFill>
                    <a:schemeClr val="bg1">
                      <a:lumMod val="95000"/>
                    </a:schemeClr>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dirty="0"/>
                <a:t>Churned customers have more average lifetime duration (1260.5 days) compared to ‘Active’ customers suggesting loss of loyal customers.</a:t>
              </a:r>
            </a:p>
          </p:txBody>
        </p:sp>
      </p:grpSp>
      <p:sp>
        <p:nvSpPr>
          <p:cNvPr id="2" name="TextBox 1">
            <a:extLst>
              <a:ext uri="{FF2B5EF4-FFF2-40B4-BE49-F238E27FC236}">
                <a16:creationId xmlns:a16="http://schemas.microsoft.com/office/drawing/2014/main" id="{4CA39BD7-B2A7-6CEF-8F27-8C306A7F1862}"/>
              </a:ext>
            </a:extLst>
          </p:cNvPr>
          <p:cNvSpPr txBox="1"/>
          <p:nvPr/>
        </p:nvSpPr>
        <p:spPr>
          <a:xfrm>
            <a:off x="3339381" y="984665"/>
            <a:ext cx="2878539" cy="523220"/>
          </a:xfrm>
          <a:prstGeom prst="rect">
            <a:avLst/>
          </a:prstGeom>
          <a:noFill/>
        </p:spPr>
        <p:txBody>
          <a:bodyPr wrap="square" rtlCol="0">
            <a:spAutoFit/>
          </a:bodyPr>
          <a:lstStyle>
            <a:defPPr>
              <a:defRPr lang="en-US"/>
            </a:defPPr>
            <a:lvl1pPr>
              <a:defRPr sz="2800" b="0" spc="0">
                <a:solidFill>
                  <a:schemeClr val="bg1">
                    <a:lumMod val="95000"/>
                  </a:schemeClr>
                </a:solidFill>
                <a:effectLst/>
              </a:defRPr>
            </a:lvl1pPr>
          </a:lstStyle>
          <a:p>
            <a:r>
              <a:rPr lang="en-GB" dirty="0"/>
              <a:t>Lifetime Duration</a:t>
            </a:r>
          </a:p>
        </p:txBody>
      </p:sp>
      <p:graphicFrame>
        <p:nvGraphicFramePr>
          <p:cNvPr id="5" name="Chart 4">
            <a:extLst>
              <a:ext uri="{FF2B5EF4-FFF2-40B4-BE49-F238E27FC236}">
                <a16:creationId xmlns:a16="http://schemas.microsoft.com/office/drawing/2014/main" id="{E7762DA6-2BE3-414C-8E20-96F4C6B69821}"/>
              </a:ext>
            </a:extLst>
          </p:cNvPr>
          <p:cNvGraphicFramePr>
            <a:graphicFrameLocks/>
          </p:cNvGraphicFramePr>
          <p:nvPr>
            <p:extLst>
              <p:ext uri="{D42A27DB-BD31-4B8C-83A1-F6EECF244321}">
                <p14:modId xmlns:p14="http://schemas.microsoft.com/office/powerpoint/2010/main" val="2082173812"/>
              </p:ext>
            </p:extLst>
          </p:nvPr>
        </p:nvGraphicFramePr>
        <p:xfrm>
          <a:off x="7861518" y="1641410"/>
          <a:ext cx="3609974" cy="3664249"/>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4EB949F3-DD37-F344-6890-9E2B12AE62EA}"/>
              </a:ext>
            </a:extLst>
          </p:cNvPr>
          <p:cNvSpPr txBox="1"/>
          <p:nvPr/>
        </p:nvSpPr>
        <p:spPr>
          <a:xfrm>
            <a:off x="7600016" y="984665"/>
            <a:ext cx="2878539" cy="36933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defPPr>
              <a:defRPr lang="en-US"/>
            </a:defPPr>
            <a:lvl1pPr indent="0">
              <a:defRPr b="1" baseline="0">
                <a:solidFill>
                  <a:schemeClr val="accent1"/>
                </a:solidFill>
              </a:defRPr>
            </a:lvl1pPr>
            <a:lvl2pPr indent="0">
              <a:defRPr sz="1100">
                <a:solidFill>
                  <a:schemeClr val="dk1"/>
                </a:solidFill>
              </a:defRPr>
            </a:lvl2pPr>
            <a:lvl3pPr indent="0">
              <a:defRPr sz="1100">
                <a:solidFill>
                  <a:schemeClr val="dk1"/>
                </a:solidFill>
              </a:defRPr>
            </a:lvl3pPr>
            <a:lvl4pPr indent="0">
              <a:defRPr sz="1100">
                <a:solidFill>
                  <a:schemeClr val="dk1"/>
                </a:solidFill>
              </a:defRPr>
            </a:lvl4pPr>
            <a:lvl5pPr indent="0">
              <a:defRPr sz="1100">
                <a:solidFill>
                  <a:schemeClr val="dk1"/>
                </a:solidFill>
              </a:defRPr>
            </a:lvl5pPr>
            <a:lvl6pPr indent="0">
              <a:defRPr sz="1100">
                <a:solidFill>
                  <a:schemeClr val="dk1"/>
                </a:solidFill>
              </a:defRPr>
            </a:lvl6pPr>
            <a:lvl7pPr indent="0">
              <a:defRPr sz="1100">
                <a:solidFill>
                  <a:schemeClr val="dk1"/>
                </a:solidFill>
              </a:defRPr>
            </a:lvl7pPr>
            <a:lvl8pPr indent="0">
              <a:defRPr sz="1100">
                <a:solidFill>
                  <a:schemeClr val="dk1"/>
                </a:solidFill>
              </a:defRPr>
            </a:lvl8pPr>
            <a:lvl9pPr indent="0">
              <a:defRPr sz="1100">
                <a:solidFill>
                  <a:schemeClr val="dk1"/>
                </a:solidFill>
              </a:defRPr>
            </a:lvl9pPr>
          </a:lstStyle>
          <a:p>
            <a:r>
              <a:rPr lang="en-GB" dirty="0"/>
              <a:t>Lifetime Duration</a:t>
            </a:r>
          </a:p>
        </p:txBody>
      </p:sp>
    </p:spTree>
    <p:extLst>
      <p:ext uri="{BB962C8B-B14F-4D97-AF65-F5344CB8AC3E}">
        <p14:creationId xmlns:p14="http://schemas.microsoft.com/office/powerpoint/2010/main" val="375267228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84B550-3DF6-A9FA-0B9F-E39AA8206C3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C971D59-5FF6-5CED-0AE8-D13D9DB5C745}"/>
              </a:ext>
            </a:extLst>
          </p:cNvPr>
          <p:cNvSpPr/>
          <p:nvPr/>
        </p:nvSpPr>
        <p:spPr>
          <a:xfrm>
            <a:off x="269630" y="158261"/>
            <a:ext cx="11723077" cy="6453553"/>
          </a:xfrm>
          <a:prstGeom prst="roundRect">
            <a:avLst>
              <a:gd name="adj" fmla="val 5223"/>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FF3C0D68-0532-A50B-ADB9-F4A6703C145B}"/>
              </a:ext>
            </a:extLst>
          </p:cNvPr>
          <p:cNvSpPr/>
          <p:nvPr/>
        </p:nvSpPr>
        <p:spPr>
          <a:xfrm>
            <a:off x="1446706" y="172447"/>
            <a:ext cx="10543139" cy="6453553"/>
          </a:xfrm>
          <a:prstGeom prst="roundRect">
            <a:avLst>
              <a:gd name="adj" fmla="val 0"/>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grpSp>
        <p:nvGrpSpPr>
          <p:cNvPr id="3" name="Group 2">
            <a:extLst>
              <a:ext uri="{FF2B5EF4-FFF2-40B4-BE49-F238E27FC236}">
                <a16:creationId xmlns:a16="http://schemas.microsoft.com/office/drawing/2014/main" id="{FD619634-FAFA-F930-E1C9-F6BCC20E6B9E}"/>
              </a:ext>
            </a:extLst>
          </p:cNvPr>
          <p:cNvGrpSpPr/>
          <p:nvPr/>
        </p:nvGrpSpPr>
        <p:grpSpPr>
          <a:xfrm>
            <a:off x="516193" y="246186"/>
            <a:ext cx="855407" cy="815698"/>
            <a:chOff x="1571740" y="755582"/>
            <a:chExt cx="1118229" cy="1052107"/>
          </a:xfrm>
        </p:grpSpPr>
        <p:grpSp>
          <p:nvGrpSpPr>
            <p:cNvPr id="48" name="Group 47">
              <a:extLst>
                <a:ext uri="{FF2B5EF4-FFF2-40B4-BE49-F238E27FC236}">
                  <a16:creationId xmlns:a16="http://schemas.microsoft.com/office/drawing/2014/main" id="{E4BA21EA-91FB-5FDD-2488-8A3882D033CA}"/>
                </a:ext>
              </a:extLst>
            </p:cNvPr>
            <p:cNvGrpSpPr/>
            <p:nvPr/>
          </p:nvGrpSpPr>
          <p:grpSpPr>
            <a:xfrm>
              <a:off x="1571740" y="755582"/>
              <a:ext cx="1118229" cy="1052107"/>
              <a:chOff x="1238865" y="1443039"/>
              <a:chExt cx="1917290" cy="1985961"/>
            </a:xfrm>
          </p:grpSpPr>
          <p:sp>
            <p:nvSpPr>
              <p:cNvPr id="49" name="Oval 48">
                <a:extLst>
                  <a:ext uri="{FF2B5EF4-FFF2-40B4-BE49-F238E27FC236}">
                    <a16:creationId xmlns:a16="http://schemas.microsoft.com/office/drawing/2014/main" id="{28DE4061-1EAA-F9CF-B145-223DD17D9517}"/>
                  </a:ext>
                </a:extLst>
              </p:cNvPr>
              <p:cNvSpPr/>
              <p:nvPr/>
            </p:nvSpPr>
            <p:spPr>
              <a:xfrm>
                <a:off x="1238865" y="1443039"/>
                <a:ext cx="1917290" cy="1985961"/>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Oval 49">
                <a:extLst>
                  <a:ext uri="{FF2B5EF4-FFF2-40B4-BE49-F238E27FC236}">
                    <a16:creationId xmlns:a16="http://schemas.microsoft.com/office/drawing/2014/main" id="{5F0E62FB-4988-10AC-E8DA-C732DDCB27E9}"/>
                  </a:ext>
                </a:extLst>
              </p:cNvPr>
              <p:cNvSpPr/>
              <p:nvPr/>
            </p:nvSpPr>
            <p:spPr>
              <a:xfrm>
                <a:off x="1333423" y="1545431"/>
                <a:ext cx="1728173" cy="1781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50">
                <a:extLst>
                  <a:ext uri="{FF2B5EF4-FFF2-40B4-BE49-F238E27FC236}">
                    <a16:creationId xmlns:a16="http://schemas.microsoft.com/office/drawing/2014/main" id="{BDDE1B74-1FF7-513D-083A-1B1BAC9525DF}"/>
                  </a:ext>
                </a:extLst>
              </p:cNvPr>
              <p:cNvSpPr/>
              <p:nvPr/>
            </p:nvSpPr>
            <p:spPr>
              <a:xfrm>
                <a:off x="1421184" y="1647283"/>
                <a:ext cx="1552651" cy="1577470"/>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2" name="TextBox 23">
              <a:extLst>
                <a:ext uri="{FF2B5EF4-FFF2-40B4-BE49-F238E27FC236}">
                  <a16:creationId xmlns:a16="http://schemas.microsoft.com/office/drawing/2014/main" id="{E730992B-897C-854D-AE5E-339787583E14}"/>
                </a:ext>
              </a:extLst>
            </p:cNvPr>
            <p:cNvSpPr txBox="1"/>
            <p:nvPr/>
          </p:nvSpPr>
          <p:spPr>
            <a:xfrm>
              <a:off x="1756611" y="957781"/>
              <a:ext cx="748486" cy="50025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2800" b="1" i="0" u="none" strike="noStrike" dirty="0">
                  <a:solidFill>
                    <a:schemeClr val="tx1"/>
                  </a:solidFill>
                  <a:latin typeface="Aptos Narrow"/>
                  <a:ea typeface="+mn-ea"/>
                  <a:cs typeface="+mn-cs"/>
                </a:rPr>
                <a:t>11</a:t>
              </a:r>
            </a:p>
          </p:txBody>
        </p:sp>
      </p:grpSp>
      <p:sp>
        <p:nvSpPr>
          <p:cNvPr id="15" name="Rectangle: Rounded Corners 14">
            <a:extLst>
              <a:ext uri="{FF2B5EF4-FFF2-40B4-BE49-F238E27FC236}">
                <a16:creationId xmlns:a16="http://schemas.microsoft.com/office/drawing/2014/main" id="{904EBF46-0C22-6ADB-1BFB-8A3F6C099E89}"/>
              </a:ext>
            </a:extLst>
          </p:cNvPr>
          <p:cNvSpPr/>
          <p:nvPr/>
        </p:nvSpPr>
        <p:spPr>
          <a:xfrm>
            <a:off x="4402989" y="232000"/>
            <a:ext cx="4636297" cy="42208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2">
                    <a:lumMod val="75000"/>
                    <a:lumOff val="25000"/>
                  </a:schemeClr>
                </a:solidFill>
              </a:rPr>
              <a:t>Why are customers churning ?</a:t>
            </a:r>
          </a:p>
        </p:txBody>
      </p:sp>
      <p:sp>
        <p:nvSpPr>
          <p:cNvPr id="20" name="Partial Circle 19">
            <a:extLst>
              <a:ext uri="{FF2B5EF4-FFF2-40B4-BE49-F238E27FC236}">
                <a16:creationId xmlns:a16="http://schemas.microsoft.com/office/drawing/2014/main" id="{CEA2D66B-B8BD-C776-45DA-97A6B50C4427}"/>
              </a:ext>
            </a:extLst>
          </p:cNvPr>
          <p:cNvSpPr/>
          <p:nvPr/>
        </p:nvSpPr>
        <p:spPr>
          <a:xfrm>
            <a:off x="6002502" y="3227481"/>
            <a:ext cx="3092719" cy="2843432"/>
          </a:xfrm>
          <a:prstGeom prst="pie">
            <a:avLst>
              <a:gd name="adj1" fmla="val 10734986"/>
              <a:gd name="adj2" fmla="val 21588044"/>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6" name="Partial Circle 15">
            <a:extLst>
              <a:ext uri="{FF2B5EF4-FFF2-40B4-BE49-F238E27FC236}">
                <a16:creationId xmlns:a16="http://schemas.microsoft.com/office/drawing/2014/main" id="{B5ACA001-3576-F5E7-E80A-C0D74D4E2258}"/>
              </a:ext>
            </a:extLst>
          </p:cNvPr>
          <p:cNvSpPr/>
          <p:nvPr/>
        </p:nvSpPr>
        <p:spPr>
          <a:xfrm>
            <a:off x="5560685" y="2831432"/>
            <a:ext cx="3976353" cy="3655841"/>
          </a:xfrm>
          <a:prstGeom prst="pie">
            <a:avLst>
              <a:gd name="adj1" fmla="val 10787450"/>
              <a:gd name="adj2" fmla="val 19819159"/>
            </a:avLst>
          </a:pr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Partial Circle 8">
            <a:extLst>
              <a:ext uri="{FF2B5EF4-FFF2-40B4-BE49-F238E27FC236}">
                <a16:creationId xmlns:a16="http://schemas.microsoft.com/office/drawing/2014/main" id="{C35E3C3C-3986-1090-98A3-F6DDFE83E984}"/>
              </a:ext>
            </a:extLst>
          </p:cNvPr>
          <p:cNvSpPr/>
          <p:nvPr/>
        </p:nvSpPr>
        <p:spPr>
          <a:xfrm>
            <a:off x="5043668" y="2433749"/>
            <a:ext cx="4859987" cy="4468250"/>
          </a:xfrm>
          <a:prstGeom prst="pie">
            <a:avLst>
              <a:gd name="adj1" fmla="val 10817306"/>
              <a:gd name="adj2" fmla="val 17019806"/>
            </a:avLst>
          </a:prstGeom>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8" name="Partial Circle 7">
            <a:extLst>
              <a:ext uri="{FF2B5EF4-FFF2-40B4-BE49-F238E27FC236}">
                <a16:creationId xmlns:a16="http://schemas.microsoft.com/office/drawing/2014/main" id="{9D025215-D3C4-35F2-A714-F2B63BBBB166}"/>
              </a:ext>
            </a:extLst>
          </p:cNvPr>
          <p:cNvSpPr/>
          <p:nvPr/>
        </p:nvSpPr>
        <p:spPr>
          <a:xfrm>
            <a:off x="3868615" y="2222125"/>
            <a:ext cx="5301804" cy="4874455"/>
          </a:xfrm>
          <a:prstGeom prst="pie">
            <a:avLst>
              <a:gd name="adj1" fmla="val 10761689"/>
              <a:gd name="adj2" fmla="val 15033922"/>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2" name="TextBox 21">
            <a:extLst>
              <a:ext uri="{FF2B5EF4-FFF2-40B4-BE49-F238E27FC236}">
                <a16:creationId xmlns:a16="http://schemas.microsoft.com/office/drawing/2014/main" id="{33A128FD-D67D-D828-C0CF-85A1BEA16E71}"/>
              </a:ext>
            </a:extLst>
          </p:cNvPr>
          <p:cNvSpPr txBox="1"/>
          <p:nvPr/>
        </p:nvSpPr>
        <p:spPr>
          <a:xfrm>
            <a:off x="4614444" y="3407886"/>
            <a:ext cx="913727" cy="659829"/>
          </a:xfrm>
          <a:prstGeom prst="rect">
            <a:avLst/>
          </a:prstGeom>
          <a:noFill/>
          <a:effectLst/>
        </p:spPr>
        <p:txBody>
          <a:bodyPr wrap="square" rtlCol="0">
            <a:spAutoFit/>
          </a:bodyPr>
          <a:lstStyle>
            <a:defPPr>
              <a:defRPr lang="en-US"/>
            </a:defPPr>
            <a:lvl1pPr>
              <a:defRPr sz="3200" b="1">
                <a:solidFill>
                  <a:schemeClr val="tx2">
                    <a:lumMod val="50000"/>
                    <a:lumOff val="50000"/>
                  </a:schemeClr>
                </a:solidFill>
                <a:effectLst>
                  <a:outerShdw blurRad="50800" dist="38100" dir="18900000" algn="bl" rotWithShape="0">
                    <a:prstClr val="black">
                      <a:alpha val="40000"/>
                    </a:prstClr>
                  </a:outerShdw>
                </a:effectLst>
              </a:defRPr>
            </a:lvl1pPr>
          </a:lstStyle>
          <a:p>
            <a:r>
              <a:rPr lang="en-GB" dirty="0">
                <a:solidFill>
                  <a:schemeClr val="accent1">
                    <a:lumMod val="75000"/>
                  </a:schemeClr>
                </a:solidFill>
                <a:effectLst/>
              </a:rPr>
              <a:t>01</a:t>
            </a:r>
          </a:p>
        </p:txBody>
      </p:sp>
      <p:sp>
        <p:nvSpPr>
          <p:cNvPr id="23" name="TextBox 22">
            <a:extLst>
              <a:ext uri="{FF2B5EF4-FFF2-40B4-BE49-F238E27FC236}">
                <a16:creationId xmlns:a16="http://schemas.microsoft.com/office/drawing/2014/main" id="{431214FB-0972-1CE7-5CA4-A54B3318FCD4}"/>
              </a:ext>
            </a:extLst>
          </p:cNvPr>
          <p:cNvSpPr txBox="1"/>
          <p:nvPr/>
        </p:nvSpPr>
        <p:spPr>
          <a:xfrm>
            <a:off x="6571531" y="2937322"/>
            <a:ext cx="967238" cy="659829"/>
          </a:xfrm>
          <a:prstGeom prst="rect">
            <a:avLst/>
          </a:prstGeom>
          <a:noFill/>
          <a:effectLst/>
        </p:spPr>
        <p:txBody>
          <a:bodyPr wrap="square" rtlCol="0">
            <a:spAutoFit/>
          </a:bodyPr>
          <a:lstStyle>
            <a:defPPr>
              <a:defRPr lang="en-US"/>
            </a:defPPr>
            <a:lvl1pPr>
              <a:defRPr sz="3200" b="1">
                <a:solidFill>
                  <a:schemeClr val="tx2">
                    <a:lumMod val="50000"/>
                    <a:lumOff val="50000"/>
                  </a:schemeClr>
                </a:solidFill>
                <a:effectLst>
                  <a:outerShdw blurRad="50800" dist="38100" dir="18900000" algn="bl" rotWithShape="0">
                    <a:prstClr val="black">
                      <a:alpha val="40000"/>
                    </a:prstClr>
                  </a:outerShdw>
                </a:effectLst>
              </a:defRPr>
            </a:lvl1pPr>
          </a:lstStyle>
          <a:p>
            <a:r>
              <a:rPr lang="en-GB" dirty="0">
                <a:solidFill>
                  <a:schemeClr val="accent1">
                    <a:lumMod val="75000"/>
                  </a:schemeClr>
                </a:solidFill>
                <a:effectLst/>
              </a:rPr>
              <a:t>02</a:t>
            </a:r>
          </a:p>
        </p:txBody>
      </p:sp>
      <p:sp>
        <p:nvSpPr>
          <p:cNvPr id="24" name="TextBox 23">
            <a:extLst>
              <a:ext uri="{FF2B5EF4-FFF2-40B4-BE49-F238E27FC236}">
                <a16:creationId xmlns:a16="http://schemas.microsoft.com/office/drawing/2014/main" id="{7EE0CC0F-843D-341A-13AF-2BE66DFD07E9}"/>
              </a:ext>
            </a:extLst>
          </p:cNvPr>
          <p:cNvSpPr txBox="1"/>
          <p:nvPr/>
        </p:nvSpPr>
        <p:spPr>
          <a:xfrm>
            <a:off x="7930084" y="3247221"/>
            <a:ext cx="818039" cy="590373"/>
          </a:xfrm>
          <a:prstGeom prst="rect">
            <a:avLst/>
          </a:prstGeom>
          <a:noFill/>
          <a:effectLst/>
        </p:spPr>
        <p:txBody>
          <a:bodyPr wrap="square" rtlCol="0">
            <a:spAutoFit/>
          </a:bodyPr>
          <a:lstStyle>
            <a:defPPr>
              <a:defRPr lang="en-US"/>
            </a:defPPr>
            <a:lvl1pPr>
              <a:defRPr sz="3200" b="1">
                <a:solidFill>
                  <a:schemeClr val="tx2">
                    <a:lumMod val="50000"/>
                    <a:lumOff val="50000"/>
                  </a:schemeClr>
                </a:solidFill>
                <a:effectLst>
                  <a:outerShdw blurRad="50800" dist="38100" dir="18900000" algn="bl" rotWithShape="0">
                    <a:prstClr val="black">
                      <a:alpha val="40000"/>
                    </a:prstClr>
                  </a:outerShdw>
                </a:effectLst>
              </a:defRPr>
            </a:lvl1pPr>
          </a:lstStyle>
          <a:p>
            <a:r>
              <a:rPr lang="en-GB" sz="2800" dirty="0">
                <a:solidFill>
                  <a:schemeClr val="accent1">
                    <a:lumMod val="75000"/>
                  </a:schemeClr>
                </a:solidFill>
                <a:effectLst/>
              </a:rPr>
              <a:t>03</a:t>
            </a:r>
          </a:p>
        </p:txBody>
      </p:sp>
      <p:sp>
        <p:nvSpPr>
          <p:cNvPr id="25" name="TextBox 24">
            <a:extLst>
              <a:ext uri="{FF2B5EF4-FFF2-40B4-BE49-F238E27FC236}">
                <a16:creationId xmlns:a16="http://schemas.microsoft.com/office/drawing/2014/main" id="{E56DACDB-009C-31C9-816E-7503F543AB1C}"/>
              </a:ext>
            </a:extLst>
          </p:cNvPr>
          <p:cNvSpPr txBox="1"/>
          <p:nvPr/>
        </p:nvSpPr>
        <p:spPr>
          <a:xfrm>
            <a:off x="8183224" y="4173685"/>
            <a:ext cx="818039" cy="520918"/>
          </a:xfrm>
          <a:prstGeom prst="rect">
            <a:avLst/>
          </a:prstGeom>
          <a:noFill/>
          <a:effectLst/>
        </p:spPr>
        <p:txBody>
          <a:bodyPr wrap="square" rtlCol="0">
            <a:spAutoFit/>
          </a:bodyPr>
          <a:lstStyle>
            <a:defPPr>
              <a:defRPr lang="en-US"/>
            </a:defPPr>
            <a:lvl1pPr>
              <a:defRPr sz="3200" b="1">
                <a:solidFill>
                  <a:schemeClr val="tx2">
                    <a:lumMod val="50000"/>
                    <a:lumOff val="50000"/>
                  </a:schemeClr>
                </a:solidFill>
                <a:effectLst>
                  <a:outerShdw blurRad="50800" dist="38100" dir="18900000" algn="bl" rotWithShape="0">
                    <a:prstClr val="black">
                      <a:alpha val="40000"/>
                    </a:prstClr>
                  </a:outerShdw>
                </a:effectLst>
              </a:defRPr>
            </a:lvl1pPr>
          </a:lstStyle>
          <a:p>
            <a:r>
              <a:rPr lang="en-GB" sz="2400" dirty="0">
                <a:solidFill>
                  <a:schemeClr val="accent1">
                    <a:lumMod val="75000"/>
                  </a:schemeClr>
                </a:solidFill>
                <a:effectLst/>
              </a:rPr>
              <a:t>04</a:t>
            </a:r>
          </a:p>
        </p:txBody>
      </p:sp>
      <p:sp>
        <p:nvSpPr>
          <p:cNvPr id="11" name="Rectangle 10">
            <a:extLst>
              <a:ext uri="{FF2B5EF4-FFF2-40B4-BE49-F238E27FC236}">
                <a16:creationId xmlns:a16="http://schemas.microsoft.com/office/drawing/2014/main" id="{31CCC3EC-7730-1095-DB5A-C951F262EEA9}"/>
              </a:ext>
            </a:extLst>
          </p:cNvPr>
          <p:cNvSpPr/>
          <p:nvPr/>
        </p:nvSpPr>
        <p:spPr>
          <a:xfrm>
            <a:off x="1446706" y="4659353"/>
            <a:ext cx="10543139" cy="1952459"/>
          </a:xfrm>
          <a:prstGeom prst="rect">
            <a:avLst/>
          </a:prstGeom>
          <a:gradFill>
            <a:gsLst>
              <a:gs pos="80000">
                <a:schemeClr val="accent4">
                  <a:lumMod val="89000"/>
                </a:schemeClr>
              </a:gs>
              <a:gs pos="57000">
                <a:schemeClr val="accent4">
                  <a:lumMod val="75000"/>
                </a:schemeClr>
              </a:gs>
              <a:gs pos="28000">
                <a:schemeClr val="accent4">
                  <a:lumMod val="70000"/>
                </a:schemeClr>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9" name="Group 28">
            <a:extLst>
              <a:ext uri="{FF2B5EF4-FFF2-40B4-BE49-F238E27FC236}">
                <a16:creationId xmlns:a16="http://schemas.microsoft.com/office/drawing/2014/main" id="{8EDC95D4-2AFA-2380-2A22-7F49F77ED997}"/>
              </a:ext>
            </a:extLst>
          </p:cNvPr>
          <p:cNvGrpSpPr/>
          <p:nvPr/>
        </p:nvGrpSpPr>
        <p:grpSpPr>
          <a:xfrm>
            <a:off x="1513957" y="2393312"/>
            <a:ext cx="3242843" cy="718755"/>
            <a:chOff x="1880574" y="2112677"/>
            <a:chExt cx="3242843" cy="718755"/>
          </a:xfrm>
        </p:grpSpPr>
        <p:sp>
          <p:nvSpPr>
            <p:cNvPr id="27" name="TextBox 26">
              <a:extLst>
                <a:ext uri="{FF2B5EF4-FFF2-40B4-BE49-F238E27FC236}">
                  <a16:creationId xmlns:a16="http://schemas.microsoft.com/office/drawing/2014/main" id="{AD6F03FA-880C-9A0D-43DE-EAA64A714FF3}"/>
                </a:ext>
              </a:extLst>
            </p:cNvPr>
            <p:cNvSpPr txBox="1"/>
            <p:nvPr/>
          </p:nvSpPr>
          <p:spPr>
            <a:xfrm>
              <a:off x="2330985" y="2112677"/>
              <a:ext cx="2346063" cy="400110"/>
            </a:xfrm>
            <a:prstGeom prst="rect">
              <a:avLst/>
            </a:prstGeom>
            <a:noFill/>
          </p:spPr>
          <p:txBody>
            <a:bodyPr wrap="square" rtlCol="0">
              <a:spAutoFit/>
            </a:bodyPr>
            <a:lstStyle/>
            <a:p>
              <a:r>
                <a:rPr lang="en-GB" sz="2000" b="1" dirty="0">
                  <a:solidFill>
                    <a:schemeClr val="accent1">
                      <a:lumMod val="75000"/>
                    </a:schemeClr>
                  </a:solidFill>
                </a:rPr>
                <a:t>Demands Not Met</a:t>
              </a:r>
            </a:p>
          </p:txBody>
        </p:sp>
        <p:sp>
          <p:nvSpPr>
            <p:cNvPr id="28" name="TextBox 27">
              <a:extLst>
                <a:ext uri="{FF2B5EF4-FFF2-40B4-BE49-F238E27FC236}">
                  <a16:creationId xmlns:a16="http://schemas.microsoft.com/office/drawing/2014/main" id="{2B3B84E5-4DDF-BF46-09CA-8C61E1188180}"/>
                </a:ext>
              </a:extLst>
            </p:cNvPr>
            <p:cNvSpPr txBox="1"/>
            <p:nvPr/>
          </p:nvSpPr>
          <p:spPr>
            <a:xfrm>
              <a:off x="1880574" y="2462100"/>
              <a:ext cx="3242843" cy="369332"/>
            </a:xfrm>
            <a:prstGeom prst="rect">
              <a:avLst/>
            </a:prstGeom>
            <a:noFill/>
          </p:spPr>
          <p:txBody>
            <a:bodyPr wrap="square" rtlCol="0">
              <a:spAutoFit/>
            </a:bodyPr>
            <a:lstStyle/>
            <a:p>
              <a:r>
                <a:rPr lang="en-GB" dirty="0">
                  <a:solidFill>
                    <a:schemeClr val="accent1">
                      <a:lumMod val="75000"/>
                    </a:schemeClr>
                  </a:solidFill>
                </a:rPr>
                <a:t>With over 500 items returned.</a:t>
              </a:r>
            </a:p>
          </p:txBody>
        </p:sp>
      </p:grpSp>
      <p:grpSp>
        <p:nvGrpSpPr>
          <p:cNvPr id="30" name="Group 29">
            <a:extLst>
              <a:ext uri="{FF2B5EF4-FFF2-40B4-BE49-F238E27FC236}">
                <a16:creationId xmlns:a16="http://schemas.microsoft.com/office/drawing/2014/main" id="{E773EFE5-E0F3-2BBB-C26F-F001ADCBA730}"/>
              </a:ext>
            </a:extLst>
          </p:cNvPr>
          <p:cNvGrpSpPr/>
          <p:nvPr/>
        </p:nvGrpSpPr>
        <p:grpSpPr>
          <a:xfrm>
            <a:off x="4261225" y="1526647"/>
            <a:ext cx="5092504" cy="718755"/>
            <a:chOff x="1795935" y="2112677"/>
            <a:chExt cx="3327482" cy="718755"/>
          </a:xfrm>
        </p:grpSpPr>
        <p:sp>
          <p:nvSpPr>
            <p:cNvPr id="31" name="TextBox 30">
              <a:extLst>
                <a:ext uri="{FF2B5EF4-FFF2-40B4-BE49-F238E27FC236}">
                  <a16:creationId xmlns:a16="http://schemas.microsoft.com/office/drawing/2014/main" id="{895EF554-8389-98AB-21F4-72E0C59F90D1}"/>
                </a:ext>
              </a:extLst>
            </p:cNvPr>
            <p:cNvSpPr txBox="1"/>
            <p:nvPr/>
          </p:nvSpPr>
          <p:spPr>
            <a:xfrm>
              <a:off x="2330985" y="2112677"/>
              <a:ext cx="2346063" cy="707886"/>
            </a:xfrm>
            <a:prstGeom prst="rect">
              <a:avLst/>
            </a:prstGeom>
            <a:noFill/>
          </p:spPr>
          <p:txBody>
            <a:bodyPr wrap="square" rtlCol="0">
              <a:spAutoFit/>
            </a:bodyPr>
            <a:lstStyle/>
            <a:p>
              <a:r>
                <a:rPr lang="en-GB" sz="2000" b="1" dirty="0">
                  <a:solidFill>
                    <a:schemeClr val="accent1">
                      <a:lumMod val="75000"/>
                    </a:schemeClr>
                  </a:solidFill>
                </a:rPr>
                <a:t>Loss Of Interest In Products</a:t>
              </a:r>
            </a:p>
          </p:txBody>
        </p:sp>
        <p:sp>
          <p:nvSpPr>
            <p:cNvPr id="32" name="TextBox 31">
              <a:extLst>
                <a:ext uri="{FF2B5EF4-FFF2-40B4-BE49-F238E27FC236}">
                  <a16:creationId xmlns:a16="http://schemas.microsoft.com/office/drawing/2014/main" id="{2DCD5D9B-63FD-B608-373D-FE1AF42BC7E7}"/>
                </a:ext>
              </a:extLst>
            </p:cNvPr>
            <p:cNvSpPr txBox="1"/>
            <p:nvPr/>
          </p:nvSpPr>
          <p:spPr>
            <a:xfrm>
              <a:off x="1795935" y="2462100"/>
              <a:ext cx="3327482" cy="369332"/>
            </a:xfrm>
            <a:prstGeom prst="rect">
              <a:avLst/>
            </a:prstGeom>
            <a:noFill/>
          </p:spPr>
          <p:txBody>
            <a:bodyPr wrap="square" rtlCol="0">
              <a:spAutoFit/>
            </a:bodyPr>
            <a:lstStyle/>
            <a:p>
              <a:pPr algn="ctr"/>
              <a:r>
                <a:rPr lang="en-GB" dirty="0">
                  <a:solidFill>
                    <a:schemeClr val="accent1">
                      <a:lumMod val="75000"/>
                    </a:schemeClr>
                  </a:solidFill>
                </a:rPr>
                <a:t>With over 300 orders cancelled.</a:t>
              </a:r>
            </a:p>
          </p:txBody>
        </p:sp>
      </p:grpSp>
      <p:grpSp>
        <p:nvGrpSpPr>
          <p:cNvPr id="33" name="Group 32">
            <a:extLst>
              <a:ext uri="{FF2B5EF4-FFF2-40B4-BE49-F238E27FC236}">
                <a16:creationId xmlns:a16="http://schemas.microsoft.com/office/drawing/2014/main" id="{085D753E-46CA-2A25-1EBB-81549C28E4CA}"/>
              </a:ext>
            </a:extLst>
          </p:cNvPr>
          <p:cNvGrpSpPr/>
          <p:nvPr/>
        </p:nvGrpSpPr>
        <p:grpSpPr>
          <a:xfrm>
            <a:off x="7414358" y="2296904"/>
            <a:ext cx="5092504" cy="718755"/>
            <a:chOff x="1795935" y="2112677"/>
            <a:chExt cx="3327482" cy="718755"/>
          </a:xfrm>
        </p:grpSpPr>
        <p:sp>
          <p:nvSpPr>
            <p:cNvPr id="34" name="TextBox 33">
              <a:extLst>
                <a:ext uri="{FF2B5EF4-FFF2-40B4-BE49-F238E27FC236}">
                  <a16:creationId xmlns:a16="http://schemas.microsoft.com/office/drawing/2014/main" id="{AF72B92D-6104-5149-C17E-F7101D9D46E0}"/>
                </a:ext>
              </a:extLst>
            </p:cNvPr>
            <p:cNvSpPr txBox="1"/>
            <p:nvPr/>
          </p:nvSpPr>
          <p:spPr>
            <a:xfrm>
              <a:off x="2330985" y="2112677"/>
              <a:ext cx="2346063" cy="400110"/>
            </a:xfrm>
            <a:prstGeom prst="rect">
              <a:avLst/>
            </a:prstGeom>
            <a:noFill/>
          </p:spPr>
          <p:txBody>
            <a:bodyPr wrap="square" rtlCol="0">
              <a:spAutoFit/>
            </a:bodyPr>
            <a:lstStyle/>
            <a:p>
              <a:pPr algn="ctr"/>
              <a:r>
                <a:rPr lang="en-GB" sz="2000" b="1" dirty="0">
                  <a:solidFill>
                    <a:schemeClr val="accent1">
                      <a:lumMod val="75000"/>
                    </a:schemeClr>
                  </a:solidFill>
                </a:rPr>
                <a:t>Dissatisfaction</a:t>
              </a:r>
            </a:p>
          </p:txBody>
        </p:sp>
        <p:sp>
          <p:nvSpPr>
            <p:cNvPr id="35" name="TextBox 34">
              <a:extLst>
                <a:ext uri="{FF2B5EF4-FFF2-40B4-BE49-F238E27FC236}">
                  <a16:creationId xmlns:a16="http://schemas.microsoft.com/office/drawing/2014/main" id="{861AC1E9-C714-2577-36B1-370866C9647C}"/>
                </a:ext>
              </a:extLst>
            </p:cNvPr>
            <p:cNvSpPr txBox="1"/>
            <p:nvPr/>
          </p:nvSpPr>
          <p:spPr>
            <a:xfrm>
              <a:off x="1795935" y="2462100"/>
              <a:ext cx="3327482" cy="369332"/>
            </a:xfrm>
            <a:prstGeom prst="rect">
              <a:avLst/>
            </a:prstGeom>
            <a:noFill/>
          </p:spPr>
          <p:txBody>
            <a:bodyPr wrap="square" rtlCol="0">
              <a:spAutoFit/>
            </a:bodyPr>
            <a:lstStyle/>
            <a:p>
              <a:pPr algn="ctr"/>
              <a:r>
                <a:rPr lang="en-GB" dirty="0">
                  <a:solidFill>
                    <a:schemeClr val="accent1">
                      <a:lumMod val="75000"/>
                    </a:schemeClr>
                  </a:solidFill>
                </a:rPr>
                <a:t>With over 390 complaints made.</a:t>
              </a:r>
            </a:p>
          </p:txBody>
        </p:sp>
      </p:grpSp>
      <p:grpSp>
        <p:nvGrpSpPr>
          <p:cNvPr id="36" name="Group 35">
            <a:extLst>
              <a:ext uri="{FF2B5EF4-FFF2-40B4-BE49-F238E27FC236}">
                <a16:creationId xmlns:a16="http://schemas.microsoft.com/office/drawing/2014/main" id="{E2D0521B-C1A9-5C84-35F6-0CB8D9E15030}"/>
              </a:ext>
            </a:extLst>
          </p:cNvPr>
          <p:cNvGrpSpPr/>
          <p:nvPr/>
        </p:nvGrpSpPr>
        <p:grpSpPr>
          <a:xfrm>
            <a:off x="8023803" y="3765780"/>
            <a:ext cx="5092504" cy="715916"/>
            <a:chOff x="1857172" y="2112677"/>
            <a:chExt cx="3327482" cy="715916"/>
          </a:xfrm>
        </p:grpSpPr>
        <p:sp>
          <p:nvSpPr>
            <p:cNvPr id="37" name="TextBox 36">
              <a:extLst>
                <a:ext uri="{FF2B5EF4-FFF2-40B4-BE49-F238E27FC236}">
                  <a16:creationId xmlns:a16="http://schemas.microsoft.com/office/drawing/2014/main" id="{D9B7283F-0D2F-E711-ACC2-C4DDBE598B8B}"/>
                </a:ext>
              </a:extLst>
            </p:cNvPr>
            <p:cNvSpPr txBox="1"/>
            <p:nvPr/>
          </p:nvSpPr>
          <p:spPr>
            <a:xfrm>
              <a:off x="2330985" y="2112677"/>
              <a:ext cx="2346063" cy="369332"/>
            </a:xfrm>
            <a:prstGeom prst="rect">
              <a:avLst/>
            </a:prstGeom>
            <a:noFill/>
          </p:spPr>
          <p:txBody>
            <a:bodyPr wrap="square" rtlCol="0">
              <a:spAutoFit/>
            </a:bodyPr>
            <a:lstStyle/>
            <a:p>
              <a:pPr algn="ctr"/>
              <a:r>
                <a:rPr lang="en-GB" b="1" dirty="0">
                  <a:solidFill>
                    <a:schemeClr val="accent1">
                      <a:lumMod val="75000"/>
                    </a:schemeClr>
                  </a:solidFill>
                </a:rPr>
                <a:t>Poor Support Experience</a:t>
              </a:r>
            </a:p>
          </p:txBody>
        </p:sp>
        <p:sp>
          <p:nvSpPr>
            <p:cNvPr id="38" name="TextBox 37">
              <a:extLst>
                <a:ext uri="{FF2B5EF4-FFF2-40B4-BE49-F238E27FC236}">
                  <a16:creationId xmlns:a16="http://schemas.microsoft.com/office/drawing/2014/main" id="{55150003-9686-4D92-9C78-37E9999594A1}"/>
                </a:ext>
              </a:extLst>
            </p:cNvPr>
            <p:cNvSpPr txBox="1"/>
            <p:nvPr/>
          </p:nvSpPr>
          <p:spPr>
            <a:xfrm>
              <a:off x="1857172" y="2474650"/>
              <a:ext cx="3327482" cy="353943"/>
            </a:xfrm>
            <a:prstGeom prst="rect">
              <a:avLst/>
            </a:prstGeom>
            <a:noFill/>
          </p:spPr>
          <p:txBody>
            <a:bodyPr wrap="square" rtlCol="0">
              <a:spAutoFit/>
            </a:bodyPr>
            <a:lstStyle/>
            <a:p>
              <a:pPr algn="ctr"/>
              <a:r>
                <a:rPr lang="en-GB" sz="1700" dirty="0">
                  <a:solidFill>
                    <a:schemeClr val="accent1">
                      <a:lumMod val="75000"/>
                    </a:schemeClr>
                  </a:solidFill>
                </a:rPr>
                <a:t>With over 490 tickets raised.</a:t>
              </a:r>
            </a:p>
          </p:txBody>
        </p:sp>
      </p:grpSp>
    </p:spTree>
    <p:extLst>
      <p:ext uri="{BB962C8B-B14F-4D97-AF65-F5344CB8AC3E}">
        <p14:creationId xmlns:p14="http://schemas.microsoft.com/office/powerpoint/2010/main" val="41133300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5D11D7-FA01-52A4-EDFF-DC14B3CDE019}"/>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2497724-FBFF-2390-E7B0-AF8A3894B632}"/>
              </a:ext>
            </a:extLst>
          </p:cNvPr>
          <p:cNvSpPr/>
          <p:nvPr/>
        </p:nvSpPr>
        <p:spPr>
          <a:xfrm>
            <a:off x="269630" y="158261"/>
            <a:ext cx="11723077" cy="6453553"/>
          </a:xfrm>
          <a:prstGeom prst="roundRect">
            <a:avLst>
              <a:gd name="adj" fmla="val 5223"/>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8B0EC83E-4D15-0F89-E6DC-258415939C9F}"/>
              </a:ext>
            </a:extLst>
          </p:cNvPr>
          <p:cNvSpPr/>
          <p:nvPr/>
        </p:nvSpPr>
        <p:spPr>
          <a:xfrm>
            <a:off x="1444044" y="162571"/>
            <a:ext cx="10543139" cy="6449242"/>
          </a:xfrm>
          <a:prstGeom prst="roundRect">
            <a:avLst>
              <a:gd name="adj" fmla="val 0"/>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grpSp>
        <p:nvGrpSpPr>
          <p:cNvPr id="3" name="Group 2">
            <a:extLst>
              <a:ext uri="{FF2B5EF4-FFF2-40B4-BE49-F238E27FC236}">
                <a16:creationId xmlns:a16="http://schemas.microsoft.com/office/drawing/2014/main" id="{4C9EEA90-D9A0-1185-A61D-01DDD0D88E67}"/>
              </a:ext>
            </a:extLst>
          </p:cNvPr>
          <p:cNvGrpSpPr/>
          <p:nvPr/>
        </p:nvGrpSpPr>
        <p:grpSpPr>
          <a:xfrm>
            <a:off x="516193" y="246186"/>
            <a:ext cx="855407" cy="815698"/>
            <a:chOff x="1571740" y="755582"/>
            <a:chExt cx="1118229" cy="1052107"/>
          </a:xfrm>
        </p:grpSpPr>
        <p:grpSp>
          <p:nvGrpSpPr>
            <p:cNvPr id="48" name="Group 47">
              <a:extLst>
                <a:ext uri="{FF2B5EF4-FFF2-40B4-BE49-F238E27FC236}">
                  <a16:creationId xmlns:a16="http://schemas.microsoft.com/office/drawing/2014/main" id="{8B9E6FBE-7B05-C814-3065-F44531F2677A}"/>
                </a:ext>
              </a:extLst>
            </p:cNvPr>
            <p:cNvGrpSpPr/>
            <p:nvPr/>
          </p:nvGrpSpPr>
          <p:grpSpPr>
            <a:xfrm>
              <a:off x="1571740" y="755582"/>
              <a:ext cx="1118229" cy="1052107"/>
              <a:chOff x="1238865" y="1443039"/>
              <a:chExt cx="1917290" cy="1985961"/>
            </a:xfrm>
          </p:grpSpPr>
          <p:sp>
            <p:nvSpPr>
              <p:cNvPr id="49" name="Oval 48">
                <a:extLst>
                  <a:ext uri="{FF2B5EF4-FFF2-40B4-BE49-F238E27FC236}">
                    <a16:creationId xmlns:a16="http://schemas.microsoft.com/office/drawing/2014/main" id="{70DBB819-373D-FAE3-7983-3870FBF04FEC}"/>
                  </a:ext>
                </a:extLst>
              </p:cNvPr>
              <p:cNvSpPr/>
              <p:nvPr/>
            </p:nvSpPr>
            <p:spPr>
              <a:xfrm>
                <a:off x="1238865" y="1443039"/>
                <a:ext cx="1917290" cy="1985961"/>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Oval 49">
                <a:extLst>
                  <a:ext uri="{FF2B5EF4-FFF2-40B4-BE49-F238E27FC236}">
                    <a16:creationId xmlns:a16="http://schemas.microsoft.com/office/drawing/2014/main" id="{E3A3B259-3477-E0BD-F589-041EBFD57903}"/>
                  </a:ext>
                </a:extLst>
              </p:cNvPr>
              <p:cNvSpPr/>
              <p:nvPr/>
            </p:nvSpPr>
            <p:spPr>
              <a:xfrm>
                <a:off x="1333423" y="1545431"/>
                <a:ext cx="1728173" cy="1781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50">
                <a:extLst>
                  <a:ext uri="{FF2B5EF4-FFF2-40B4-BE49-F238E27FC236}">
                    <a16:creationId xmlns:a16="http://schemas.microsoft.com/office/drawing/2014/main" id="{C0D57ECC-B2CF-A5B3-707E-C9864D3C5066}"/>
                  </a:ext>
                </a:extLst>
              </p:cNvPr>
              <p:cNvSpPr/>
              <p:nvPr/>
            </p:nvSpPr>
            <p:spPr>
              <a:xfrm>
                <a:off x="1421184" y="1647283"/>
                <a:ext cx="1552651" cy="1577470"/>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2" name="TextBox 23">
              <a:extLst>
                <a:ext uri="{FF2B5EF4-FFF2-40B4-BE49-F238E27FC236}">
                  <a16:creationId xmlns:a16="http://schemas.microsoft.com/office/drawing/2014/main" id="{73489BA3-3158-D715-2A39-208F788AEA54}"/>
                </a:ext>
              </a:extLst>
            </p:cNvPr>
            <p:cNvSpPr txBox="1"/>
            <p:nvPr/>
          </p:nvSpPr>
          <p:spPr>
            <a:xfrm>
              <a:off x="1756611" y="957781"/>
              <a:ext cx="748486" cy="50025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2800" b="1" i="0" u="none" strike="noStrike" dirty="0">
                  <a:solidFill>
                    <a:schemeClr val="tx1"/>
                  </a:solidFill>
                  <a:latin typeface="Aptos Narrow"/>
                  <a:ea typeface="+mn-ea"/>
                  <a:cs typeface="+mn-cs"/>
                </a:rPr>
                <a:t>12</a:t>
              </a:r>
            </a:p>
          </p:txBody>
        </p:sp>
      </p:grpSp>
      <p:grpSp>
        <p:nvGrpSpPr>
          <p:cNvPr id="53" name="Group 52">
            <a:extLst>
              <a:ext uri="{FF2B5EF4-FFF2-40B4-BE49-F238E27FC236}">
                <a16:creationId xmlns:a16="http://schemas.microsoft.com/office/drawing/2014/main" id="{843D6A4F-09C2-FBDE-281D-5A8B54EF424C}"/>
              </a:ext>
            </a:extLst>
          </p:cNvPr>
          <p:cNvGrpSpPr/>
          <p:nvPr/>
        </p:nvGrpSpPr>
        <p:grpSpPr>
          <a:xfrm>
            <a:off x="4000548" y="402952"/>
            <a:ext cx="5430129" cy="6208862"/>
            <a:chOff x="2757267" y="402951"/>
            <a:chExt cx="4149971" cy="6208862"/>
          </a:xfrm>
        </p:grpSpPr>
        <p:sp>
          <p:nvSpPr>
            <p:cNvPr id="30" name="Rectangle: Top Corners Rounded 29">
              <a:extLst>
                <a:ext uri="{FF2B5EF4-FFF2-40B4-BE49-F238E27FC236}">
                  <a16:creationId xmlns:a16="http://schemas.microsoft.com/office/drawing/2014/main" id="{E51EAF7A-68C6-8BC6-AA39-8F07400F4053}"/>
                </a:ext>
              </a:extLst>
            </p:cNvPr>
            <p:cNvSpPr/>
            <p:nvPr/>
          </p:nvSpPr>
          <p:spPr>
            <a:xfrm rot="16200000">
              <a:off x="2682242" y="3739893"/>
              <a:ext cx="670558" cy="520506"/>
            </a:xfrm>
            <a:prstGeom prst="round2SameRect">
              <a:avLst>
                <a:gd name="adj1" fmla="val 50000"/>
                <a:gd name="adj2" fmla="val 0"/>
              </a:avLst>
            </a:prstGeom>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Top Corners Rounded 33">
              <a:extLst>
                <a:ext uri="{FF2B5EF4-FFF2-40B4-BE49-F238E27FC236}">
                  <a16:creationId xmlns:a16="http://schemas.microsoft.com/office/drawing/2014/main" id="{28960BB4-3EE3-2150-61AB-E949D5360640}"/>
                </a:ext>
              </a:extLst>
            </p:cNvPr>
            <p:cNvSpPr/>
            <p:nvPr/>
          </p:nvSpPr>
          <p:spPr>
            <a:xfrm rot="16200000">
              <a:off x="2682242" y="5009854"/>
              <a:ext cx="670558" cy="520506"/>
            </a:xfrm>
            <a:prstGeom prst="round2SameRect">
              <a:avLst>
                <a:gd name="adj1" fmla="val 50000"/>
                <a:gd name="adj2" fmla="val 0"/>
              </a:avLst>
            </a:pr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Top Corners Rounded 25">
              <a:extLst>
                <a:ext uri="{FF2B5EF4-FFF2-40B4-BE49-F238E27FC236}">
                  <a16:creationId xmlns:a16="http://schemas.microsoft.com/office/drawing/2014/main" id="{C1B089B6-7537-ABD5-26E1-0FC21C73F63B}"/>
                </a:ext>
              </a:extLst>
            </p:cNvPr>
            <p:cNvSpPr/>
            <p:nvPr/>
          </p:nvSpPr>
          <p:spPr>
            <a:xfrm rot="16200000">
              <a:off x="2682242" y="2469932"/>
              <a:ext cx="670558" cy="520506"/>
            </a:xfrm>
            <a:prstGeom prst="round2SameRect">
              <a:avLst>
                <a:gd name="adj1" fmla="val 50000"/>
                <a:gd name="adj2" fmla="val 0"/>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Top Corners Rounded 17">
              <a:extLst>
                <a:ext uri="{FF2B5EF4-FFF2-40B4-BE49-F238E27FC236}">
                  <a16:creationId xmlns:a16="http://schemas.microsoft.com/office/drawing/2014/main" id="{84FB3332-EB8F-CDC2-020D-2847D75B8CAB}"/>
                </a:ext>
              </a:extLst>
            </p:cNvPr>
            <p:cNvSpPr/>
            <p:nvPr/>
          </p:nvSpPr>
          <p:spPr>
            <a:xfrm rot="16200000">
              <a:off x="2720855" y="1215778"/>
              <a:ext cx="593333" cy="520506"/>
            </a:xfrm>
            <a:prstGeom prst="round2SameRect">
              <a:avLst>
                <a:gd name="adj1" fmla="val 50000"/>
                <a:gd name="adj2" fmla="val 0"/>
              </a:avLst>
            </a:prstGeom>
            <a:gradFill>
              <a:gsLst>
                <a:gs pos="0">
                  <a:schemeClr val="accent4">
                    <a:lumMod val="67000"/>
                  </a:schemeClr>
                </a:gs>
                <a:gs pos="48000">
                  <a:schemeClr val="accent4">
                    <a:lumMod val="97000"/>
                    <a:lumOff val="3000"/>
                  </a:schemeClr>
                </a:gs>
                <a:gs pos="100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ectangle: Single Corner Rounded 35">
              <a:extLst>
                <a:ext uri="{FF2B5EF4-FFF2-40B4-BE49-F238E27FC236}">
                  <a16:creationId xmlns:a16="http://schemas.microsoft.com/office/drawing/2014/main" id="{308D1B78-E940-8F3D-8CAD-4A6EADDDE33C}"/>
                </a:ext>
              </a:extLst>
            </p:cNvPr>
            <p:cNvSpPr/>
            <p:nvPr/>
          </p:nvSpPr>
          <p:spPr>
            <a:xfrm>
              <a:off x="3277774" y="402951"/>
              <a:ext cx="3089670" cy="6062727"/>
            </a:xfrm>
            <a:prstGeom prst="round1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Top Corners Rounded 16">
              <a:extLst>
                <a:ext uri="{FF2B5EF4-FFF2-40B4-BE49-F238E27FC236}">
                  <a16:creationId xmlns:a16="http://schemas.microsoft.com/office/drawing/2014/main" id="{10F151F2-E9F7-F072-164F-7049AC10520D}"/>
                </a:ext>
              </a:extLst>
            </p:cNvPr>
            <p:cNvSpPr/>
            <p:nvPr/>
          </p:nvSpPr>
          <p:spPr>
            <a:xfrm rot="5400000">
              <a:off x="6350318" y="2222205"/>
              <a:ext cx="593333" cy="520506"/>
            </a:xfrm>
            <a:prstGeom prst="round2SameRect">
              <a:avLst>
                <a:gd name="adj1" fmla="val 50000"/>
                <a:gd name="adj2" fmla="val 0"/>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Freeform: Shape 13">
              <a:extLst>
                <a:ext uri="{FF2B5EF4-FFF2-40B4-BE49-F238E27FC236}">
                  <a16:creationId xmlns:a16="http://schemas.microsoft.com/office/drawing/2014/main" id="{FFF5C66B-87B7-1119-2D49-A8E64ACC6E92}"/>
                </a:ext>
              </a:extLst>
            </p:cNvPr>
            <p:cNvSpPr/>
            <p:nvPr/>
          </p:nvSpPr>
          <p:spPr>
            <a:xfrm rot="10800000">
              <a:off x="2757267" y="1493343"/>
              <a:ext cx="4149969" cy="950502"/>
            </a:xfrm>
            <a:custGeom>
              <a:avLst/>
              <a:gdLst>
                <a:gd name="connsiteX0" fmla="*/ 4148225 w 4149969"/>
                <a:gd name="connsiteY0" fmla="*/ 1200617 h 1200617"/>
                <a:gd name="connsiteX1" fmla="*/ 4144396 w 4149969"/>
                <a:gd name="connsiteY1" fmla="*/ 1175403 h 1200617"/>
                <a:gd name="connsiteX2" fmla="*/ 3875649 w 4149969"/>
                <a:gd name="connsiteY2" fmla="*/ 1030014 h 1200617"/>
                <a:gd name="connsiteX3" fmla="*/ 3805409 w 4149969"/>
                <a:gd name="connsiteY3" fmla="*/ 1030014 h 1200617"/>
                <a:gd name="connsiteX4" fmla="*/ 3785594 w 4149969"/>
                <a:gd name="connsiteY4" fmla="*/ 1032011 h 1200617"/>
                <a:gd name="connsiteX5" fmla="*/ 364375 w 4149969"/>
                <a:gd name="connsiteY5" fmla="*/ 1032011 h 1200617"/>
                <a:gd name="connsiteX6" fmla="*/ 325688 w 4149969"/>
                <a:gd name="connsiteY6" fmla="*/ 1028111 h 1200617"/>
                <a:gd name="connsiteX7" fmla="*/ 274320 w 4149969"/>
                <a:gd name="connsiteY7" fmla="*/ 1032011 h 1200617"/>
                <a:gd name="connsiteX8" fmla="*/ 0 w 4149969"/>
                <a:gd name="connsiteY8" fmla="*/ 825413 h 1200617"/>
                <a:gd name="connsiteX9" fmla="*/ 0 w 4149969"/>
                <a:gd name="connsiteY9" fmla="*/ 667636 h 1200617"/>
                <a:gd name="connsiteX10" fmla="*/ 0 w 4149969"/>
                <a:gd name="connsiteY10" fmla="*/ 532980 h 1200617"/>
                <a:gd name="connsiteX11" fmla="*/ 0 w 4149969"/>
                <a:gd name="connsiteY11" fmla="*/ 13029 h 1200617"/>
                <a:gd name="connsiteX12" fmla="*/ 1744 w 4149969"/>
                <a:gd name="connsiteY12" fmla="*/ 0 h 1200617"/>
                <a:gd name="connsiteX13" fmla="*/ 5573 w 4149969"/>
                <a:gd name="connsiteY13" fmla="*/ 25213 h 1200617"/>
                <a:gd name="connsiteX14" fmla="*/ 274320 w 4149969"/>
                <a:gd name="connsiteY14" fmla="*/ 170603 h 1200617"/>
                <a:gd name="connsiteX15" fmla="*/ 344552 w 4149969"/>
                <a:gd name="connsiteY15" fmla="*/ 170603 h 1200617"/>
                <a:gd name="connsiteX16" fmla="*/ 364375 w 4149969"/>
                <a:gd name="connsiteY16" fmla="*/ 168605 h 1200617"/>
                <a:gd name="connsiteX17" fmla="*/ 3785594 w 4149969"/>
                <a:gd name="connsiteY17" fmla="*/ 168605 h 1200617"/>
                <a:gd name="connsiteX18" fmla="*/ 3824281 w 4149969"/>
                <a:gd name="connsiteY18" fmla="*/ 172505 h 1200617"/>
                <a:gd name="connsiteX19" fmla="*/ 3875649 w 4149969"/>
                <a:gd name="connsiteY19" fmla="*/ 168605 h 1200617"/>
                <a:gd name="connsiteX20" fmla="*/ 4149969 w 4149969"/>
                <a:gd name="connsiteY20" fmla="*/ 375203 h 1200617"/>
                <a:gd name="connsiteX21" fmla="*/ 4149969 w 4149969"/>
                <a:gd name="connsiteY21" fmla="*/ 532980 h 1200617"/>
                <a:gd name="connsiteX22" fmla="*/ 4149969 w 4149969"/>
                <a:gd name="connsiteY22" fmla="*/ 667636 h 1200617"/>
                <a:gd name="connsiteX23" fmla="*/ 4149969 w 4149969"/>
                <a:gd name="connsiteY23" fmla="*/ 1187588 h 120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49969" h="1200617">
                  <a:moveTo>
                    <a:pt x="4148225" y="1200617"/>
                  </a:moveTo>
                  <a:lnTo>
                    <a:pt x="4144396" y="1175403"/>
                  </a:lnTo>
                  <a:cubicBezTo>
                    <a:pt x="4118817" y="1092430"/>
                    <a:pt x="4008215" y="1030014"/>
                    <a:pt x="3875649" y="1030014"/>
                  </a:cubicBezTo>
                  <a:lnTo>
                    <a:pt x="3805409" y="1030014"/>
                  </a:lnTo>
                  <a:lnTo>
                    <a:pt x="3785594" y="1032011"/>
                  </a:lnTo>
                  <a:lnTo>
                    <a:pt x="364375" y="1032011"/>
                  </a:lnTo>
                  <a:lnTo>
                    <a:pt x="325688" y="1028111"/>
                  </a:lnTo>
                  <a:lnTo>
                    <a:pt x="274320" y="1032011"/>
                  </a:lnTo>
                  <a:cubicBezTo>
                    <a:pt x="122817" y="1032011"/>
                    <a:pt x="0" y="939514"/>
                    <a:pt x="0" y="825413"/>
                  </a:cubicBezTo>
                  <a:lnTo>
                    <a:pt x="0" y="667636"/>
                  </a:lnTo>
                  <a:lnTo>
                    <a:pt x="0" y="532980"/>
                  </a:lnTo>
                  <a:lnTo>
                    <a:pt x="0" y="13029"/>
                  </a:lnTo>
                  <a:lnTo>
                    <a:pt x="1744" y="0"/>
                  </a:lnTo>
                  <a:lnTo>
                    <a:pt x="5573" y="25213"/>
                  </a:lnTo>
                  <a:cubicBezTo>
                    <a:pt x="31152" y="108187"/>
                    <a:pt x="141754" y="170603"/>
                    <a:pt x="274320" y="170603"/>
                  </a:cubicBezTo>
                  <a:lnTo>
                    <a:pt x="344552" y="170603"/>
                  </a:lnTo>
                  <a:lnTo>
                    <a:pt x="364375" y="168605"/>
                  </a:lnTo>
                  <a:lnTo>
                    <a:pt x="3785594" y="168605"/>
                  </a:lnTo>
                  <a:lnTo>
                    <a:pt x="3824281" y="172505"/>
                  </a:lnTo>
                  <a:lnTo>
                    <a:pt x="3875649" y="168605"/>
                  </a:lnTo>
                  <a:cubicBezTo>
                    <a:pt x="4027152" y="168605"/>
                    <a:pt x="4149969" y="261102"/>
                    <a:pt x="4149969" y="375203"/>
                  </a:cubicBezTo>
                  <a:lnTo>
                    <a:pt x="4149969" y="532980"/>
                  </a:lnTo>
                  <a:lnTo>
                    <a:pt x="4149969" y="667636"/>
                  </a:lnTo>
                  <a:lnTo>
                    <a:pt x="4149969" y="1187588"/>
                  </a:ln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5" name="Rectangle: Top Corners Rounded 24">
              <a:extLst>
                <a:ext uri="{FF2B5EF4-FFF2-40B4-BE49-F238E27FC236}">
                  <a16:creationId xmlns:a16="http://schemas.microsoft.com/office/drawing/2014/main" id="{988C8F85-8E54-98EE-0DD9-33A28CC0C5CE}"/>
                </a:ext>
              </a:extLst>
            </p:cNvPr>
            <p:cNvSpPr/>
            <p:nvPr/>
          </p:nvSpPr>
          <p:spPr>
            <a:xfrm rot="5400000">
              <a:off x="6311705" y="3476359"/>
              <a:ext cx="670558" cy="520506"/>
            </a:xfrm>
            <a:prstGeom prst="round2SameRect">
              <a:avLst>
                <a:gd name="adj1" fmla="val 50000"/>
                <a:gd name="adj2" fmla="val 0"/>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Freeform: Shape 26">
              <a:extLst>
                <a:ext uri="{FF2B5EF4-FFF2-40B4-BE49-F238E27FC236}">
                  <a16:creationId xmlns:a16="http://schemas.microsoft.com/office/drawing/2014/main" id="{05A15E75-F17C-DB1A-D62A-6464B8FE60A7}"/>
                </a:ext>
              </a:extLst>
            </p:cNvPr>
            <p:cNvSpPr/>
            <p:nvPr/>
          </p:nvSpPr>
          <p:spPr>
            <a:xfrm rot="10800000">
              <a:off x="2757267" y="2662397"/>
              <a:ext cx="4149969" cy="1074214"/>
            </a:xfrm>
            <a:custGeom>
              <a:avLst/>
              <a:gdLst>
                <a:gd name="connsiteX0" fmla="*/ 4148225 w 4149969"/>
                <a:gd name="connsiteY0" fmla="*/ 1200617 h 1200617"/>
                <a:gd name="connsiteX1" fmla="*/ 4144396 w 4149969"/>
                <a:gd name="connsiteY1" fmla="*/ 1175403 h 1200617"/>
                <a:gd name="connsiteX2" fmla="*/ 3875649 w 4149969"/>
                <a:gd name="connsiteY2" fmla="*/ 1030014 h 1200617"/>
                <a:gd name="connsiteX3" fmla="*/ 3805409 w 4149969"/>
                <a:gd name="connsiteY3" fmla="*/ 1030014 h 1200617"/>
                <a:gd name="connsiteX4" fmla="*/ 3785594 w 4149969"/>
                <a:gd name="connsiteY4" fmla="*/ 1032011 h 1200617"/>
                <a:gd name="connsiteX5" fmla="*/ 364375 w 4149969"/>
                <a:gd name="connsiteY5" fmla="*/ 1032011 h 1200617"/>
                <a:gd name="connsiteX6" fmla="*/ 325688 w 4149969"/>
                <a:gd name="connsiteY6" fmla="*/ 1028111 h 1200617"/>
                <a:gd name="connsiteX7" fmla="*/ 274320 w 4149969"/>
                <a:gd name="connsiteY7" fmla="*/ 1032011 h 1200617"/>
                <a:gd name="connsiteX8" fmla="*/ 0 w 4149969"/>
                <a:gd name="connsiteY8" fmla="*/ 825413 h 1200617"/>
                <a:gd name="connsiteX9" fmla="*/ 0 w 4149969"/>
                <a:gd name="connsiteY9" fmla="*/ 667636 h 1200617"/>
                <a:gd name="connsiteX10" fmla="*/ 0 w 4149969"/>
                <a:gd name="connsiteY10" fmla="*/ 532980 h 1200617"/>
                <a:gd name="connsiteX11" fmla="*/ 0 w 4149969"/>
                <a:gd name="connsiteY11" fmla="*/ 13029 h 1200617"/>
                <a:gd name="connsiteX12" fmla="*/ 1744 w 4149969"/>
                <a:gd name="connsiteY12" fmla="*/ 0 h 1200617"/>
                <a:gd name="connsiteX13" fmla="*/ 5573 w 4149969"/>
                <a:gd name="connsiteY13" fmla="*/ 25213 h 1200617"/>
                <a:gd name="connsiteX14" fmla="*/ 274320 w 4149969"/>
                <a:gd name="connsiteY14" fmla="*/ 170603 h 1200617"/>
                <a:gd name="connsiteX15" fmla="*/ 344552 w 4149969"/>
                <a:gd name="connsiteY15" fmla="*/ 170603 h 1200617"/>
                <a:gd name="connsiteX16" fmla="*/ 364375 w 4149969"/>
                <a:gd name="connsiteY16" fmla="*/ 168605 h 1200617"/>
                <a:gd name="connsiteX17" fmla="*/ 3785594 w 4149969"/>
                <a:gd name="connsiteY17" fmla="*/ 168605 h 1200617"/>
                <a:gd name="connsiteX18" fmla="*/ 3824281 w 4149969"/>
                <a:gd name="connsiteY18" fmla="*/ 172505 h 1200617"/>
                <a:gd name="connsiteX19" fmla="*/ 3875649 w 4149969"/>
                <a:gd name="connsiteY19" fmla="*/ 168605 h 1200617"/>
                <a:gd name="connsiteX20" fmla="*/ 4149969 w 4149969"/>
                <a:gd name="connsiteY20" fmla="*/ 375203 h 1200617"/>
                <a:gd name="connsiteX21" fmla="*/ 4149969 w 4149969"/>
                <a:gd name="connsiteY21" fmla="*/ 532980 h 1200617"/>
                <a:gd name="connsiteX22" fmla="*/ 4149969 w 4149969"/>
                <a:gd name="connsiteY22" fmla="*/ 667636 h 1200617"/>
                <a:gd name="connsiteX23" fmla="*/ 4149969 w 4149969"/>
                <a:gd name="connsiteY23" fmla="*/ 1187588 h 120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49969" h="1200617">
                  <a:moveTo>
                    <a:pt x="4148225" y="1200617"/>
                  </a:moveTo>
                  <a:lnTo>
                    <a:pt x="4144396" y="1175403"/>
                  </a:lnTo>
                  <a:cubicBezTo>
                    <a:pt x="4118817" y="1092430"/>
                    <a:pt x="4008215" y="1030014"/>
                    <a:pt x="3875649" y="1030014"/>
                  </a:cubicBezTo>
                  <a:lnTo>
                    <a:pt x="3805409" y="1030014"/>
                  </a:lnTo>
                  <a:lnTo>
                    <a:pt x="3785594" y="1032011"/>
                  </a:lnTo>
                  <a:lnTo>
                    <a:pt x="364375" y="1032011"/>
                  </a:lnTo>
                  <a:lnTo>
                    <a:pt x="325688" y="1028111"/>
                  </a:lnTo>
                  <a:lnTo>
                    <a:pt x="274320" y="1032011"/>
                  </a:lnTo>
                  <a:cubicBezTo>
                    <a:pt x="122817" y="1032011"/>
                    <a:pt x="0" y="939514"/>
                    <a:pt x="0" y="825413"/>
                  </a:cubicBezTo>
                  <a:lnTo>
                    <a:pt x="0" y="667636"/>
                  </a:lnTo>
                  <a:lnTo>
                    <a:pt x="0" y="532980"/>
                  </a:lnTo>
                  <a:lnTo>
                    <a:pt x="0" y="13029"/>
                  </a:lnTo>
                  <a:lnTo>
                    <a:pt x="1744" y="0"/>
                  </a:lnTo>
                  <a:lnTo>
                    <a:pt x="5573" y="25213"/>
                  </a:lnTo>
                  <a:cubicBezTo>
                    <a:pt x="31152" y="108187"/>
                    <a:pt x="141754" y="170603"/>
                    <a:pt x="274320" y="170603"/>
                  </a:cubicBezTo>
                  <a:lnTo>
                    <a:pt x="344552" y="170603"/>
                  </a:lnTo>
                  <a:lnTo>
                    <a:pt x="364375" y="168605"/>
                  </a:lnTo>
                  <a:lnTo>
                    <a:pt x="3785594" y="168605"/>
                  </a:lnTo>
                  <a:lnTo>
                    <a:pt x="3824281" y="172505"/>
                  </a:lnTo>
                  <a:lnTo>
                    <a:pt x="3875649" y="168605"/>
                  </a:lnTo>
                  <a:cubicBezTo>
                    <a:pt x="4027152" y="168605"/>
                    <a:pt x="4149969" y="261102"/>
                    <a:pt x="4149969" y="375203"/>
                  </a:cubicBezTo>
                  <a:lnTo>
                    <a:pt x="4149969" y="532980"/>
                  </a:lnTo>
                  <a:lnTo>
                    <a:pt x="4149969" y="667636"/>
                  </a:lnTo>
                  <a:lnTo>
                    <a:pt x="4149969" y="1187588"/>
                  </a:lnTo>
                  <a:close/>
                </a:path>
              </a:pathLst>
            </a:cu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9" name="Rectangle: Top Corners Rounded 28">
              <a:extLst>
                <a:ext uri="{FF2B5EF4-FFF2-40B4-BE49-F238E27FC236}">
                  <a16:creationId xmlns:a16="http://schemas.microsoft.com/office/drawing/2014/main" id="{4F4E6AF5-037F-C889-82EF-7DD2458565EB}"/>
                </a:ext>
              </a:extLst>
            </p:cNvPr>
            <p:cNvSpPr/>
            <p:nvPr/>
          </p:nvSpPr>
          <p:spPr>
            <a:xfrm rot="5400000">
              <a:off x="6311705" y="4746320"/>
              <a:ext cx="670558" cy="520506"/>
            </a:xfrm>
            <a:prstGeom prst="round2SameRect">
              <a:avLst>
                <a:gd name="adj1" fmla="val 50000"/>
                <a:gd name="adj2" fmla="val 0"/>
              </a:avLst>
            </a:prstGeom>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1" name="Freeform: Shape 30">
              <a:extLst>
                <a:ext uri="{FF2B5EF4-FFF2-40B4-BE49-F238E27FC236}">
                  <a16:creationId xmlns:a16="http://schemas.microsoft.com/office/drawing/2014/main" id="{EA0C238A-1959-D3E8-E321-0239C267A51D}"/>
                </a:ext>
              </a:extLst>
            </p:cNvPr>
            <p:cNvSpPr/>
            <p:nvPr/>
          </p:nvSpPr>
          <p:spPr>
            <a:xfrm rot="10800000">
              <a:off x="2757267" y="3932358"/>
              <a:ext cx="4149969" cy="1074214"/>
            </a:xfrm>
            <a:custGeom>
              <a:avLst/>
              <a:gdLst>
                <a:gd name="connsiteX0" fmla="*/ 4148225 w 4149969"/>
                <a:gd name="connsiteY0" fmla="*/ 1200617 h 1200617"/>
                <a:gd name="connsiteX1" fmla="*/ 4144396 w 4149969"/>
                <a:gd name="connsiteY1" fmla="*/ 1175403 h 1200617"/>
                <a:gd name="connsiteX2" fmla="*/ 3875649 w 4149969"/>
                <a:gd name="connsiteY2" fmla="*/ 1030014 h 1200617"/>
                <a:gd name="connsiteX3" fmla="*/ 3805409 w 4149969"/>
                <a:gd name="connsiteY3" fmla="*/ 1030014 h 1200617"/>
                <a:gd name="connsiteX4" fmla="*/ 3785594 w 4149969"/>
                <a:gd name="connsiteY4" fmla="*/ 1032011 h 1200617"/>
                <a:gd name="connsiteX5" fmla="*/ 364375 w 4149969"/>
                <a:gd name="connsiteY5" fmla="*/ 1032011 h 1200617"/>
                <a:gd name="connsiteX6" fmla="*/ 325688 w 4149969"/>
                <a:gd name="connsiteY6" fmla="*/ 1028111 h 1200617"/>
                <a:gd name="connsiteX7" fmla="*/ 274320 w 4149969"/>
                <a:gd name="connsiteY7" fmla="*/ 1032011 h 1200617"/>
                <a:gd name="connsiteX8" fmla="*/ 0 w 4149969"/>
                <a:gd name="connsiteY8" fmla="*/ 825413 h 1200617"/>
                <a:gd name="connsiteX9" fmla="*/ 0 w 4149969"/>
                <a:gd name="connsiteY9" fmla="*/ 667636 h 1200617"/>
                <a:gd name="connsiteX10" fmla="*/ 0 w 4149969"/>
                <a:gd name="connsiteY10" fmla="*/ 532980 h 1200617"/>
                <a:gd name="connsiteX11" fmla="*/ 0 w 4149969"/>
                <a:gd name="connsiteY11" fmla="*/ 13029 h 1200617"/>
                <a:gd name="connsiteX12" fmla="*/ 1744 w 4149969"/>
                <a:gd name="connsiteY12" fmla="*/ 0 h 1200617"/>
                <a:gd name="connsiteX13" fmla="*/ 5573 w 4149969"/>
                <a:gd name="connsiteY13" fmla="*/ 25213 h 1200617"/>
                <a:gd name="connsiteX14" fmla="*/ 274320 w 4149969"/>
                <a:gd name="connsiteY14" fmla="*/ 170603 h 1200617"/>
                <a:gd name="connsiteX15" fmla="*/ 344552 w 4149969"/>
                <a:gd name="connsiteY15" fmla="*/ 170603 h 1200617"/>
                <a:gd name="connsiteX16" fmla="*/ 364375 w 4149969"/>
                <a:gd name="connsiteY16" fmla="*/ 168605 h 1200617"/>
                <a:gd name="connsiteX17" fmla="*/ 3785594 w 4149969"/>
                <a:gd name="connsiteY17" fmla="*/ 168605 h 1200617"/>
                <a:gd name="connsiteX18" fmla="*/ 3824281 w 4149969"/>
                <a:gd name="connsiteY18" fmla="*/ 172505 h 1200617"/>
                <a:gd name="connsiteX19" fmla="*/ 3875649 w 4149969"/>
                <a:gd name="connsiteY19" fmla="*/ 168605 h 1200617"/>
                <a:gd name="connsiteX20" fmla="*/ 4149969 w 4149969"/>
                <a:gd name="connsiteY20" fmla="*/ 375203 h 1200617"/>
                <a:gd name="connsiteX21" fmla="*/ 4149969 w 4149969"/>
                <a:gd name="connsiteY21" fmla="*/ 532980 h 1200617"/>
                <a:gd name="connsiteX22" fmla="*/ 4149969 w 4149969"/>
                <a:gd name="connsiteY22" fmla="*/ 667636 h 1200617"/>
                <a:gd name="connsiteX23" fmla="*/ 4149969 w 4149969"/>
                <a:gd name="connsiteY23" fmla="*/ 1187588 h 120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49969" h="1200617">
                  <a:moveTo>
                    <a:pt x="4148225" y="1200617"/>
                  </a:moveTo>
                  <a:lnTo>
                    <a:pt x="4144396" y="1175403"/>
                  </a:lnTo>
                  <a:cubicBezTo>
                    <a:pt x="4118817" y="1092430"/>
                    <a:pt x="4008215" y="1030014"/>
                    <a:pt x="3875649" y="1030014"/>
                  </a:cubicBezTo>
                  <a:lnTo>
                    <a:pt x="3805409" y="1030014"/>
                  </a:lnTo>
                  <a:lnTo>
                    <a:pt x="3785594" y="1032011"/>
                  </a:lnTo>
                  <a:lnTo>
                    <a:pt x="364375" y="1032011"/>
                  </a:lnTo>
                  <a:lnTo>
                    <a:pt x="325688" y="1028111"/>
                  </a:lnTo>
                  <a:lnTo>
                    <a:pt x="274320" y="1032011"/>
                  </a:lnTo>
                  <a:cubicBezTo>
                    <a:pt x="122817" y="1032011"/>
                    <a:pt x="0" y="939514"/>
                    <a:pt x="0" y="825413"/>
                  </a:cubicBezTo>
                  <a:lnTo>
                    <a:pt x="0" y="667636"/>
                  </a:lnTo>
                  <a:lnTo>
                    <a:pt x="0" y="532980"/>
                  </a:lnTo>
                  <a:lnTo>
                    <a:pt x="0" y="13029"/>
                  </a:lnTo>
                  <a:lnTo>
                    <a:pt x="1744" y="0"/>
                  </a:lnTo>
                  <a:lnTo>
                    <a:pt x="5573" y="25213"/>
                  </a:lnTo>
                  <a:cubicBezTo>
                    <a:pt x="31152" y="108187"/>
                    <a:pt x="141754" y="170603"/>
                    <a:pt x="274320" y="170603"/>
                  </a:cubicBezTo>
                  <a:lnTo>
                    <a:pt x="344552" y="170603"/>
                  </a:lnTo>
                  <a:lnTo>
                    <a:pt x="364375" y="168605"/>
                  </a:lnTo>
                  <a:lnTo>
                    <a:pt x="3785594" y="168605"/>
                  </a:lnTo>
                  <a:lnTo>
                    <a:pt x="3824281" y="172505"/>
                  </a:lnTo>
                  <a:lnTo>
                    <a:pt x="3875649" y="168605"/>
                  </a:lnTo>
                  <a:cubicBezTo>
                    <a:pt x="4027152" y="168605"/>
                    <a:pt x="4149969" y="261102"/>
                    <a:pt x="4149969" y="375203"/>
                  </a:cubicBezTo>
                  <a:lnTo>
                    <a:pt x="4149969" y="532980"/>
                  </a:lnTo>
                  <a:lnTo>
                    <a:pt x="4149969" y="667636"/>
                  </a:lnTo>
                  <a:lnTo>
                    <a:pt x="4149969" y="1187588"/>
                  </a:lnTo>
                  <a:close/>
                </a:path>
              </a:pathLst>
            </a:cu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Rectangle: Top Corners Rounded 32">
              <a:extLst>
                <a:ext uri="{FF2B5EF4-FFF2-40B4-BE49-F238E27FC236}">
                  <a16:creationId xmlns:a16="http://schemas.microsoft.com/office/drawing/2014/main" id="{56821AD6-7578-25F5-4DDC-D6CF2BCD72F6}"/>
                </a:ext>
              </a:extLst>
            </p:cNvPr>
            <p:cNvSpPr/>
            <p:nvPr/>
          </p:nvSpPr>
          <p:spPr>
            <a:xfrm rot="5400000">
              <a:off x="6311705" y="6016281"/>
              <a:ext cx="670558" cy="520506"/>
            </a:xfrm>
            <a:prstGeom prst="round2SameRect">
              <a:avLst>
                <a:gd name="adj1" fmla="val 50000"/>
                <a:gd name="adj2" fmla="val 0"/>
              </a:avLst>
            </a:prstGeo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5" name="Freeform: Shape 34">
              <a:extLst>
                <a:ext uri="{FF2B5EF4-FFF2-40B4-BE49-F238E27FC236}">
                  <a16:creationId xmlns:a16="http://schemas.microsoft.com/office/drawing/2014/main" id="{317A139E-05A8-6114-44BA-AA26054D5AE4}"/>
                </a:ext>
              </a:extLst>
            </p:cNvPr>
            <p:cNvSpPr/>
            <p:nvPr/>
          </p:nvSpPr>
          <p:spPr>
            <a:xfrm rot="10800000">
              <a:off x="2757267" y="5202319"/>
              <a:ext cx="4149969" cy="1074214"/>
            </a:xfrm>
            <a:custGeom>
              <a:avLst/>
              <a:gdLst>
                <a:gd name="connsiteX0" fmla="*/ 4148225 w 4149969"/>
                <a:gd name="connsiteY0" fmla="*/ 1200617 h 1200617"/>
                <a:gd name="connsiteX1" fmla="*/ 4144396 w 4149969"/>
                <a:gd name="connsiteY1" fmla="*/ 1175403 h 1200617"/>
                <a:gd name="connsiteX2" fmla="*/ 3875649 w 4149969"/>
                <a:gd name="connsiteY2" fmla="*/ 1030014 h 1200617"/>
                <a:gd name="connsiteX3" fmla="*/ 3805409 w 4149969"/>
                <a:gd name="connsiteY3" fmla="*/ 1030014 h 1200617"/>
                <a:gd name="connsiteX4" fmla="*/ 3785594 w 4149969"/>
                <a:gd name="connsiteY4" fmla="*/ 1032011 h 1200617"/>
                <a:gd name="connsiteX5" fmla="*/ 364375 w 4149969"/>
                <a:gd name="connsiteY5" fmla="*/ 1032011 h 1200617"/>
                <a:gd name="connsiteX6" fmla="*/ 325688 w 4149969"/>
                <a:gd name="connsiteY6" fmla="*/ 1028111 h 1200617"/>
                <a:gd name="connsiteX7" fmla="*/ 274320 w 4149969"/>
                <a:gd name="connsiteY7" fmla="*/ 1032011 h 1200617"/>
                <a:gd name="connsiteX8" fmla="*/ 0 w 4149969"/>
                <a:gd name="connsiteY8" fmla="*/ 825413 h 1200617"/>
                <a:gd name="connsiteX9" fmla="*/ 0 w 4149969"/>
                <a:gd name="connsiteY9" fmla="*/ 667636 h 1200617"/>
                <a:gd name="connsiteX10" fmla="*/ 0 w 4149969"/>
                <a:gd name="connsiteY10" fmla="*/ 532980 h 1200617"/>
                <a:gd name="connsiteX11" fmla="*/ 0 w 4149969"/>
                <a:gd name="connsiteY11" fmla="*/ 13029 h 1200617"/>
                <a:gd name="connsiteX12" fmla="*/ 1744 w 4149969"/>
                <a:gd name="connsiteY12" fmla="*/ 0 h 1200617"/>
                <a:gd name="connsiteX13" fmla="*/ 5573 w 4149969"/>
                <a:gd name="connsiteY13" fmla="*/ 25213 h 1200617"/>
                <a:gd name="connsiteX14" fmla="*/ 274320 w 4149969"/>
                <a:gd name="connsiteY14" fmla="*/ 170603 h 1200617"/>
                <a:gd name="connsiteX15" fmla="*/ 344552 w 4149969"/>
                <a:gd name="connsiteY15" fmla="*/ 170603 h 1200617"/>
                <a:gd name="connsiteX16" fmla="*/ 364375 w 4149969"/>
                <a:gd name="connsiteY16" fmla="*/ 168605 h 1200617"/>
                <a:gd name="connsiteX17" fmla="*/ 3785594 w 4149969"/>
                <a:gd name="connsiteY17" fmla="*/ 168605 h 1200617"/>
                <a:gd name="connsiteX18" fmla="*/ 3824281 w 4149969"/>
                <a:gd name="connsiteY18" fmla="*/ 172505 h 1200617"/>
                <a:gd name="connsiteX19" fmla="*/ 3875649 w 4149969"/>
                <a:gd name="connsiteY19" fmla="*/ 168605 h 1200617"/>
                <a:gd name="connsiteX20" fmla="*/ 4149969 w 4149969"/>
                <a:gd name="connsiteY20" fmla="*/ 375203 h 1200617"/>
                <a:gd name="connsiteX21" fmla="*/ 4149969 w 4149969"/>
                <a:gd name="connsiteY21" fmla="*/ 532980 h 1200617"/>
                <a:gd name="connsiteX22" fmla="*/ 4149969 w 4149969"/>
                <a:gd name="connsiteY22" fmla="*/ 667636 h 1200617"/>
                <a:gd name="connsiteX23" fmla="*/ 4149969 w 4149969"/>
                <a:gd name="connsiteY23" fmla="*/ 1187588 h 120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49969" h="1200617">
                  <a:moveTo>
                    <a:pt x="4148225" y="1200617"/>
                  </a:moveTo>
                  <a:lnTo>
                    <a:pt x="4144396" y="1175403"/>
                  </a:lnTo>
                  <a:cubicBezTo>
                    <a:pt x="4118817" y="1092430"/>
                    <a:pt x="4008215" y="1030014"/>
                    <a:pt x="3875649" y="1030014"/>
                  </a:cubicBezTo>
                  <a:lnTo>
                    <a:pt x="3805409" y="1030014"/>
                  </a:lnTo>
                  <a:lnTo>
                    <a:pt x="3785594" y="1032011"/>
                  </a:lnTo>
                  <a:lnTo>
                    <a:pt x="364375" y="1032011"/>
                  </a:lnTo>
                  <a:lnTo>
                    <a:pt x="325688" y="1028111"/>
                  </a:lnTo>
                  <a:lnTo>
                    <a:pt x="274320" y="1032011"/>
                  </a:lnTo>
                  <a:cubicBezTo>
                    <a:pt x="122817" y="1032011"/>
                    <a:pt x="0" y="939514"/>
                    <a:pt x="0" y="825413"/>
                  </a:cubicBezTo>
                  <a:lnTo>
                    <a:pt x="0" y="667636"/>
                  </a:lnTo>
                  <a:lnTo>
                    <a:pt x="0" y="532980"/>
                  </a:lnTo>
                  <a:lnTo>
                    <a:pt x="0" y="13029"/>
                  </a:lnTo>
                  <a:lnTo>
                    <a:pt x="1744" y="0"/>
                  </a:lnTo>
                  <a:lnTo>
                    <a:pt x="5573" y="25213"/>
                  </a:lnTo>
                  <a:cubicBezTo>
                    <a:pt x="31152" y="108187"/>
                    <a:pt x="141754" y="170603"/>
                    <a:pt x="274320" y="170603"/>
                  </a:cubicBezTo>
                  <a:lnTo>
                    <a:pt x="344552" y="170603"/>
                  </a:lnTo>
                  <a:lnTo>
                    <a:pt x="364375" y="168605"/>
                  </a:lnTo>
                  <a:lnTo>
                    <a:pt x="3785594" y="168605"/>
                  </a:lnTo>
                  <a:lnTo>
                    <a:pt x="3824281" y="172505"/>
                  </a:lnTo>
                  <a:lnTo>
                    <a:pt x="3875649" y="168605"/>
                  </a:lnTo>
                  <a:cubicBezTo>
                    <a:pt x="4027152" y="168605"/>
                    <a:pt x="4149969" y="261102"/>
                    <a:pt x="4149969" y="375203"/>
                  </a:cubicBezTo>
                  <a:lnTo>
                    <a:pt x="4149969" y="532980"/>
                  </a:lnTo>
                  <a:lnTo>
                    <a:pt x="4149969" y="667636"/>
                  </a:lnTo>
                  <a:lnTo>
                    <a:pt x="4149969" y="1187588"/>
                  </a:lnTo>
                  <a:close/>
                </a:path>
              </a:pathLst>
            </a:cu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sp>
        <p:nvSpPr>
          <p:cNvPr id="42" name="TextBox 41">
            <a:extLst>
              <a:ext uri="{FF2B5EF4-FFF2-40B4-BE49-F238E27FC236}">
                <a16:creationId xmlns:a16="http://schemas.microsoft.com/office/drawing/2014/main" id="{CAF6BBF2-E934-F7A9-FE30-57A8859E2281}"/>
              </a:ext>
            </a:extLst>
          </p:cNvPr>
          <p:cNvSpPr txBox="1"/>
          <p:nvPr/>
        </p:nvSpPr>
        <p:spPr>
          <a:xfrm>
            <a:off x="5303025" y="581465"/>
            <a:ext cx="2799938" cy="461665"/>
          </a:xfrm>
          <a:prstGeom prst="rect">
            <a:avLst/>
          </a:prstGeom>
          <a:noFill/>
        </p:spPr>
        <p:txBody>
          <a:bodyPr wrap="square" rtlCol="0">
            <a:spAutoFit/>
          </a:bodyPr>
          <a:lstStyle/>
          <a:p>
            <a:r>
              <a:rPr lang="en-GB" sz="2400" dirty="0">
                <a:solidFill>
                  <a:schemeClr val="bg1">
                    <a:lumMod val="75000"/>
                  </a:schemeClr>
                </a:solidFill>
              </a:rPr>
              <a:t>Recommendations</a:t>
            </a:r>
          </a:p>
        </p:txBody>
      </p:sp>
      <p:sp>
        <p:nvSpPr>
          <p:cNvPr id="54" name="Rectangle 53">
            <a:extLst>
              <a:ext uri="{FF2B5EF4-FFF2-40B4-BE49-F238E27FC236}">
                <a16:creationId xmlns:a16="http://schemas.microsoft.com/office/drawing/2014/main" id="{AEF4D930-2059-49B7-121A-4488439BDA02}"/>
              </a:ext>
            </a:extLst>
          </p:cNvPr>
          <p:cNvSpPr/>
          <p:nvPr/>
        </p:nvSpPr>
        <p:spPr>
          <a:xfrm>
            <a:off x="4935758" y="1718827"/>
            <a:ext cx="45719" cy="499533"/>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Rectangle 54">
            <a:extLst>
              <a:ext uri="{FF2B5EF4-FFF2-40B4-BE49-F238E27FC236}">
                <a16:creationId xmlns:a16="http://schemas.microsoft.com/office/drawing/2014/main" id="{1CB943E9-B630-9F1E-DA0C-00297062109F}"/>
              </a:ext>
            </a:extLst>
          </p:cNvPr>
          <p:cNvSpPr/>
          <p:nvPr/>
        </p:nvSpPr>
        <p:spPr>
          <a:xfrm>
            <a:off x="4935758" y="2968442"/>
            <a:ext cx="45719" cy="499533"/>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ectangle 55">
            <a:extLst>
              <a:ext uri="{FF2B5EF4-FFF2-40B4-BE49-F238E27FC236}">
                <a16:creationId xmlns:a16="http://schemas.microsoft.com/office/drawing/2014/main" id="{C5777750-FD15-3AC5-A586-FBCA614031A9}"/>
              </a:ext>
            </a:extLst>
          </p:cNvPr>
          <p:cNvSpPr/>
          <p:nvPr/>
        </p:nvSpPr>
        <p:spPr>
          <a:xfrm>
            <a:off x="4935758" y="4257275"/>
            <a:ext cx="45719" cy="499533"/>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Rectangle 56">
            <a:extLst>
              <a:ext uri="{FF2B5EF4-FFF2-40B4-BE49-F238E27FC236}">
                <a16:creationId xmlns:a16="http://schemas.microsoft.com/office/drawing/2014/main" id="{9EFFB1E3-19A2-F00B-2E17-3DBE227823FA}"/>
              </a:ext>
            </a:extLst>
          </p:cNvPr>
          <p:cNvSpPr/>
          <p:nvPr/>
        </p:nvSpPr>
        <p:spPr>
          <a:xfrm>
            <a:off x="4935758" y="5533386"/>
            <a:ext cx="45719" cy="499533"/>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TextBox 57">
            <a:extLst>
              <a:ext uri="{FF2B5EF4-FFF2-40B4-BE49-F238E27FC236}">
                <a16:creationId xmlns:a16="http://schemas.microsoft.com/office/drawing/2014/main" id="{79CFCED3-C8B3-11D0-6FED-8897462423D7}"/>
              </a:ext>
            </a:extLst>
          </p:cNvPr>
          <p:cNvSpPr txBox="1"/>
          <p:nvPr/>
        </p:nvSpPr>
        <p:spPr>
          <a:xfrm>
            <a:off x="4449891" y="1737495"/>
            <a:ext cx="412979" cy="461665"/>
          </a:xfrm>
          <a:prstGeom prst="rect">
            <a:avLst/>
          </a:prstGeom>
          <a:noFill/>
        </p:spPr>
        <p:txBody>
          <a:bodyPr wrap="square" rtlCol="0">
            <a:spAutoFit/>
          </a:bodyPr>
          <a:lstStyle/>
          <a:p>
            <a:r>
              <a:rPr lang="en-GB" sz="2400" b="1" dirty="0">
                <a:solidFill>
                  <a:schemeClr val="accent1">
                    <a:lumMod val="75000"/>
                  </a:schemeClr>
                </a:solidFill>
              </a:rPr>
              <a:t>A</a:t>
            </a:r>
          </a:p>
        </p:txBody>
      </p:sp>
      <p:sp>
        <p:nvSpPr>
          <p:cNvPr id="59" name="TextBox 58">
            <a:extLst>
              <a:ext uri="{FF2B5EF4-FFF2-40B4-BE49-F238E27FC236}">
                <a16:creationId xmlns:a16="http://schemas.microsoft.com/office/drawing/2014/main" id="{3BDCAF43-ECEF-B860-5D0E-3F2F2C330B6D}"/>
              </a:ext>
            </a:extLst>
          </p:cNvPr>
          <p:cNvSpPr txBox="1"/>
          <p:nvPr/>
        </p:nvSpPr>
        <p:spPr>
          <a:xfrm>
            <a:off x="4449891" y="5469128"/>
            <a:ext cx="412979" cy="461665"/>
          </a:xfrm>
          <a:prstGeom prst="rect">
            <a:avLst/>
          </a:prstGeom>
          <a:noFill/>
        </p:spPr>
        <p:txBody>
          <a:bodyPr wrap="square" rtlCol="0">
            <a:spAutoFit/>
          </a:bodyPr>
          <a:lstStyle/>
          <a:p>
            <a:r>
              <a:rPr lang="en-GB" sz="2400" b="1" dirty="0">
                <a:solidFill>
                  <a:schemeClr val="accent1">
                    <a:lumMod val="75000"/>
                  </a:schemeClr>
                </a:solidFill>
              </a:rPr>
              <a:t>D</a:t>
            </a:r>
          </a:p>
        </p:txBody>
      </p:sp>
      <p:sp>
        <p:nvSpPr>
          <p:cNvPr id="60" name="TextBox 59">
            <a:extLst>
              <a:ext uri="{FF2B5EF4-FFF2-40B4-BE49-F238E27FC236}">
                <a16:creationId xmlns:a16="http://schemas.microsoft.com/office/drawing/2014/main" id="{21AEC5B4-21A3-1930-5B48-7F7AFC06761C}"/>
              </a:ext>
            </a:extLst>
          </p:cNvPr>
          <p:cNvSpPr txBox="1"/>
          <p:nvPr/>
        </p:nvSpPr>
        <p:spPr>
          <a:xfrm>
            <a:off x="4449891" y="4238633"/>
            <a:ext cx="412979" cy="461665"/>
          </a:xfrm>
          <a:prstGeom prst="rect">
            <a:avLst/>
          </a:prstGeom>
          <a:noFill/>
        </p:spPr>
        <p:txBody>
          <a:bodyPr wrap="square" rtlCol="0">
            <a:spAutoFit/>
          </a:bodyPr>
          <a:lstStyle/>
          <a:p>
            <a:r>
              <a:rPr lang="en-GB" sz="2400" b="1" dirty="0">
                <a:solidFill>
                  <a:schemeClr val="accent1">
                    <a:lumMod val="75000"/>
                  </a:schemeClr>
                </a:solidFill>
              </a:rPr>
              <a:t>C</a:t>
            </a:r>
          </a:p>
        </p:txBody>
      </p:sp>
      <p:sp>
        <p:nvSpPr>
          <p:cNvPr id="61" name="TextBox 60">
            <a:extLst>
              <a:ext uri="{FF2B5EF4-FFF2-40B4-BE49-F238E27FC236}">
                <a16:creationId xmlns:a16="http://schemas.microsoft.com/office/drawing/2014/main" id="{55E5840F-62A8-58DA-B47E-DAF8959E416F}"/>
              </a:ext>
            </a:extLst>
          </p:cNvPr>
          <p:cNvSpPr txBox="1"/>
          <p:nvPr/>
        </p:nvSpPr>
        <p:spPr>
          <a:xfrm>
            <a:off x="4449891" y="2997184"/>
            <a:ext cx="412979" cy="461665"/>
          </a:xfrm>
          <a:prstGeom prst="rect">
            <a:avLst/>
          </a:prstGeom>
          <a:noFill/>
        </p:spPr>
        <p:txBody>
          <a:bodyPr wrap="square" rtlCol="0">
            <a:spAutoFit/>
          </a:bodyPr>
          <a:lstStyle/>
          <a:p>
            <a:r>
              <a:rPr lang="en-GB" sz="2400" b="1" dirty="0">
                <a:solidFill>
                  <a:schemeClr val="accent1">
                    <a:lumMod val="75000"/>
                  </a:schemeClr>
                </a:solidFill>
              </a:rPr>
              <a:t>B</a:t>
            </a:r>
          </a:p>
        </p:txBody>
      </p:sp>
      <p:sp>
        <p:nvSpPr>
          <p:cNvPr id="62" name="TextBox 61">
            <a:extLst>
              <a:ext uri="{FF2B5EF4-FFF2-40B4-BE49-F238E27FC236}">
                <a16:creationId xmlns:a16="http://schemas.microsoft.com/office/drawing/2014/main" id="{7DF766E2-F857-9E84-C3B3-29C3F47921E2}"/>
              </a:ext>
            </a:extLst>
          </p:cNvPr>
          <p:cNvSpPr txBox="1"/>
          <p:nvPr/>
        </p:nvSpPr>
        <p:spPr>
          <a:xfrm>
            <a:off x="5117010" y="1718827"/>
            <a:ext cx="3207434" cy="369332"/>
          </a:xfrm>
          <a:prstGeom prst="rect">
            <a:avLst/>
          </a:prstGeom>
          <a:noFill/>
        </p:spPr>
        <p:txBody>
          <a:bodyPr wrap="square" rtlCol="0">
            <a:spAutoFit/>
          </a:bodyPr>
          <a:lstStyle/>
          <a:p>
            <a:r>
              <a:rPr lang="en-GB" dirty="0"/>
              <a:t>Product Enhancement</a:t>
            </a:r>
          </a:p>
        </p:txBody>
      </p:sp>
      <p:sp>
        <p:nvSpPr>
          <p:cNvPr id="63" name="TextBox 62">
            <a:extLst>
              <a:ext uri="{FF2B5EF4-FFF2-40B4-BE49-F238E27FC236}">
                <a16:creationId xmlns:a16="http://schemas.microsoft.com/office/drawing/2014/main" id="{131B813D-CA02-A301-5768-D793EBDA635B}"/>
              </a:ext>
            </a:extLst>
          </p:cNvPr>
          <p:cNvSpPr txBox="1"/>
          <p:nvPr/>
        </p:nvSpPr>
        <p:spPr>
          <a:xfrm>
            <a:off x="5117010" y="5533386"/>
            <a:ext cx="3207434" cy="369332"/>
          </a:xfrm>
          <a:prstGeom prst="rect">
            <a:avLst/>
          </a:prstGeom>
          <a:noFill/>
        </p:spPr>
        <p:txBody>
          <a:bodyPr wrap="square" rtlCol="0">
            <a:spAutoFit/>
          </a:bodyPr>
          <a:lstStyle/>
          <a:p>
            <a:r>
              <a:rPr lang="en-GB" dirty="0"/>
              <a:t>Order Review</a:t>
            </a:r>
          </a:p>
        </p:txBody>
      </p:sp>
      <p:sp>
        <p:nvSpPr>
          <p:cNvPr id="64" name="TextBox 63">
            <a:extLst>
              <a:ext uri="{FF2B5EF4-FFF2-40B4-BE49-F238E27FC236}">
                <a16:creationId xmlns:a16="http://schemas.microsoft.com/office/drawing/2014/main" id="{A40BF106-5E55-3AEF-79D0-41EAD4E2B59B}"/>
              </a:ext>
            </a:extLst>
          </p:cNvPr>
          <p:cNvSpPr txBox="1"/>
          <p:nvPr/>
        </p:nvSpPr>
        <p:spPr>
          <a:xfrm>
            <a:off x="5117010" y="4238633"/>
            <a:ext cx="3207434" cy="369332"/>
          </a:xfrm>
          <a:prstGeom prst="rect">
            <a:avLst/>
          </a:prstGeom>
          <a:noFill/>
        </p:spPr>
        <p:txBody>
          <a:bodyPr wrap="square" rtlCol="0">
            <a:spAutoFit/>
          </a:bodyPr>
          <a:lstStyle/>
          <a:p>
            <a:r>
              <a:rPr lang="en-GB" dirty="0"/>
              <a:t>Customer Survey</a:t>
            </a:r>
          </a:p>
        </p:txBody>
      </p:sp>
      <p:sp>
        <p:nvSpPr>
          <p:cNvPr id="65" name="TextBox 64">
            <a:extLst>
              <a:ext uri="{FF2B5EF4-FFF2-40B4-BE49-F238E27FC236}">
                <a16:creationId xmlns:a16="http://schemas.microsoft.com/office/drawing/2014/main" id="{DFB29F0E-F44A-5C56-3E66-49F96FE05868}"/>
              </a:ext>
            </a:extLst>
          </p:cNvPr>
          <p:cNvSpPr txBox="1"/>
          <p:nvPr/>
        </p:nvSpPr>
        <p:spPr>
          <a:xfrm>
            <a:off x="5117010" y="2894059"/>
            <a:ext cx="3207434" cy="369332"/>
          </a:xfrm>
          <a:prstGeom prst="rect">
            <a:avLst/>
          </a:prstGeom>
          <a:noFill/>
        </p:spPr>
        <p:txBody>
          <a:bodyPr wrap="square" rtlCol="0">
            <a:spAutoFit/>
          </a:bodyPr>
          <a:lstStyle/>
          <a:p>
            <a:r>
              <a:rPr lang="en-GB" dirty="0"/>
              <a:t>Complaint Analysis</a:t>
            </a:r>
          </a:p>
        </p:txBody>
      </p:sp>
      <p:sp>
        <p:nvSpPr>
          <p:cNvPr id="66" name="TextBox 65">
            <a:extLst>
              <a:ext uri="{FF2B5EF4-FFF2-40B4-BE49-F238E27FC236}">
                <a16:creationId xmlns:a16="http://schemas.microsoft.com/office/drawing/2014/main" id="{650CBB62-2243-DA1A-25C1-9290C6FDE4DF}"/>
              </a:ext>
            </a:extLst>
          </p:cNvPr>
          <p:cNvSpPr txBox="1"/>
          <p:nvPr/>
        </p:nvSpPr>
        <p:spPr>
          <a:xfrm>
            <a:off x="5117010" y="5821897"/>
            <a:ext cx="4872501" cy="307777"/>
          </a:xfrm>
          <a:prstGeom prst="rect">
            <a:avLst/>
          </a:prstGeom>
          <a:noFill/>
        </p:spPr>
        <p:txBody>
          <a:bodyPr wrap="square" rtlCol="0">
            <a:spAutoFit/>
          </a:bodyPr>
          <a:lstStyle/>
          <a:p>
            <a:r>
              <a:rPr lang="en-GB" sz="1400" dirty="0"/>
              <a:t>Examine reasons behind cancellations.</a:t>
            </a:r>
          </a:p>
        </p:txBody>
      </p:sp>
      <p:sp>
        <p:nvSpPr>
          <p:cNvPr id="67" name="TextBox 66">
            <a:extLst>
              <a:ext uri="{FF2B5EF4-FFF2-40B4-BE49-F238E27FC236}">
                <a16:creationId xmlns:a16="http://schemas.microsoft.com/office/drawing/2014/main" id="{402E4117-E6D4-F4EF-268B-E7677E3E4322}"/>
              </a:ext>
            </a:extLst>
          </p:cNvPr>
          <p:cNvSpPr txBox="1"/>
          <p:nvPr/>
        </p:nvSpPr>
        <p:spPr>
          <a:xfrm>
            <a:off x="5117010" y="3263391"/>
            <a:ext cx="2983435" cy="307777"/>
          </a:xfrm>
          <a:prstGeom prst="rect">
            <a:avLst/>
          </a:prstGeom>
          <a:noFill/>
        </p:spPr>
        <p:txBody>
          <a:bodyPr wrap="square" rtlCol="0">
            <a:spAutoFit/>
          </a:bodyPr>
          <a:lstStyle/>
          <a:p>
            <a:r>
              <a:rPr lang="en-GB" sz="1400" dirty="0"/>
              <a:t>Study issues to identify complaints.</a:t>
            </a:r>
          </a:p>
        </p:txBody>
      </p:sp>
      <p:sp>
        <p:nvSpPr>
          <p:cNvPr id="68" name="TextBox 67">
            <a:extLst>
              <a:ext uri="{FF2B5EF4-FFF2-40B4-BE49-F238E27FC236}">
                <a16:creationId xmlns:a16="http://schemas.microsoft.com/office/drawing/2014/main" id="{D8F7CBCA-5A30-17FD-2583-FBC62BC05CE0}"/>
              </a:ext>
            </a:extLst>
          </p:cNvPr>
          <p:cNvSpPr txBox="1"/>
          <p:nvPr/>
        </p:nvSpPr>
        <p:spPr>
          <a:xfrm>
            <a:off x="5117010" y="2033221"/>
            <a:ext cx="3742894" cy="307777"/>
          </a:xfrm>
          <a:prstGeom prst="rect">
            <a:avLst/>
          </a:prstGeom>
          <a:noFill/>
        </p:spPr>
        <p:txBody>
          <a:bodyPr wrap="square" rtlCol="0">
            <a:spAutoFit/>
          </a:bodyPr>
          <a:lstStyle/>
          <a:p>
            <a:r>
              <a:rPr lang="en-GB" sz="1400" dirty="0"/>
              <a:t>Improve offerings to meet customer demands.</a:t>
            </a:r>
          </a:p>
        </p:txBody>
      </p:sp>
      <p:sp>
        <p:nvSpPr>
          <p:cNvPr id="69" name="TextBox 68">
            <a:extLst>
              <a:ext uri="{FF2B5EF4-FFF2-40B4-BE49-F238E27FC236}">
                <a16:creationId xmlns:a16="http://schemas.microsoft.com/office/drawing/2014/main" id="{579CE66B-CE2A-3580-4B93-49635FFE6730}"/>
              </a:ext>
            </a:extLst>
          </p:cNvPr>
          <p:cNvSpPr txBox="1"/>
          <p:nvPr/>
        </p:nvSpPr>
        <p:spPr>
          <a:xfrm>
            <a:off x="5117010" y="4551935"/>
            <a:ext cx="3753060" cy="307777"/>
          </a:xfrm>
          <a:prstGeom prst="rect">
            <a:avLst/>
          </a:prstGeom>
          <a:noFill/>
        </p:spPr>
        <p:txBody>
          <a:bodyPr wrap="square" rtlCol="0">
            <a:spAutoFit/>
          </a:bodyPr>
          <a:lstStyle/>
          <a:p>
            <a:r>
              <a:rPr lang="en-GB" sz="1400" dirty="0"/>
              <a:t>Gather feedback for focused improvement.</a:t>
            </a:r>
          </a:p>
        </p:txBody>
      </p:sp>
    </p:spTree>
    <p:extLst>
      <p:ext uri="{BB962C8B-B14F-4D97-AF65-F5344CB8AC3E}">
        <p14:creationId xmlns:p14="http://schemas.microsoft.com/office/powerpoint/2010/main" val="283617694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120C72-642A-EA8C-076E-726D8B77F492}"/>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4096FC5-400F-3204-5DFB-56790228467D}"/>
              </a:ext>
            </a:extLst>
          </p:cNvPr>
          <p:cNvSpPr/>
          <p:nvPr/>
        </p:nvSpPr>
        <p:spPr>
          <a:xfrm>
            <a:off x="269630" y="158261"/>
            <a:ext cx="11723077" cy="6453553"/>
          </a:xfrm>
          <a:prstGeom prst="roundRect">
            <a:avLst>
              <a:gd name="adj" fmla="val 5223"/>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FED78F60-DCBF-1B2B-2818-DC14177B987F}"/>
              </a:ext>
            </a:extLst>
          </p:cNvPr>
          <p:cNvSpPr/>
          <p:nvPr/>
        </p:nvSpPr>
        <p:spPr>
          <a:xfrm>
            <a:off x="1444044" y="162571"/>
            <a:ext cx="10543139" cy="6449242"/>
          </a:xfrm>
          <a:prstGeom prst="roundRect">
            <a:avLst>
              <a:gd name="adj" fmla="val 0"/>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grpSp>
        <p:nvGrpSpPr>
          <p:cNvPr id="3" name="Group 2">
            <a:extLst>
              <a:ext uri="{FF2B5EF4-FFF2-40B4-BE49-F238E27FC236}">
                <a16:creationId xmlns:a16="http://schemas.microsoft.com/office/drawing/2014/main" id="{AB2464B4-8EE5-334C-C1FA-124DDDF3DB1F}"/>
              </a:ext>
            </a:extLst>
          </p:cNvPr>
          <p:cNvGrpSpPr/>
          <p:nvPr/>
        </p:nvGrpSpPr>
        <p:grpSpPr>
          <a:xfrm>
            <a:off x="516193" y="246186"/>
            <a:ext cx="855407" cy="815698"/>
            <a:chOff x="1571740" y="755582"/>
            <a:chExt cx="1118229" cy="1052107"/>
          </a:xfrm>
        </p:grpSpPr>
        <p:grpSp>
          <p:nvGrpSpPr>
            <p:cNvPr id="48" name="Group 47">
              <a:extLst>
                <a:ext uri="{FF2B5EF4-FFF2-40B4-BE49-F238E27FC236}">
                  <a16:creationId xmlns:a16="http://schemas.microsoft.com/office/drawing/2014/main" id="{5047B403-8B64-F655-919E-E4C42241FA8C}"/>
                </a:ext>
              </a:extLst>
            </p:cNvPr>
            <p:cNvGrpSpPr/>
            <p:nvPr/>
          </p:nvGrpSpPr>
          <p:grpSpPr>
            <a:xfrm>
              <a:off x="1571740" y="755582"/>
              <a:ext cx="1118229" cy="1052107"/>
              <a:chOff x="1238865" y="1443039"/>
              <a:chExt cx="1917290" cy="1985961"/>
            </a:xfrm>
          </p:grpSpPr>
          <p:sp>
            <p:nvSpPr>
              <p:cNvPr id="49" name="Oval 48">
                <a:extLst>
                  <a:ext uri="{FF2B5EF4-FFF2-40B4-BE49-F238E27FC236}">
                    <a16:creationId xmlns:a16="http://schemas.microsoft.com/office/drawing/2014/main" id="{3AF4FCDE-598A-6137-787A-72FF617D1BBC}"/>
                  </a:ext>
                </a:extLst>
              </p:cNvPr>
              <p:cNvSpPr/>
              <p:nvPr/>
            </p:nvSpPr>
            <p:spPr>
              <a:xfrm>
                <a:off x="1238865" y="1443039"/>
                <a:ext cx="1917290" cy="1985961"/>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Oval 49">
                <a:extLst>
                  <a:ext uri="{FF2B5EF4-FFF2-40B4-BE49-F238E27FC236}">
                    <a16:creationId xmlns:a16="http://schemas.microsoft.com/office/drawing/2014/main" id="{9E302466-7F91-CF5D-AF8A-1B072A15126D}"/>
                  </a:ext>
                </a:extLst>
              </p:cNvPr>
              <p:cNvSpPr/>
              <p:nvPr/>
            </p:nvSpPr>
            <p:spPr>
              <a:xfrm>
                <a:off x="1333423" y="1545431"/>
                <a:ext cx="1728173" cy="1781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50">
                <a:extLst>
                  <a:ext uri="{FF2B5EF4-FFF2-40B4-BE49-F238E27FC236}">
                    <a16:creationId xmlns:a16="http://schemas.microsoft.com/office/drawing/2014/main" id="{3D18AABC-80F6-E29C-A8FB-91B2B750037A}"/>
                  </a:ext>
                </a:extLst>
              </p:cNvPr>
              <p:cNvSpPr/>
              <p:nvPr/>
            </p:nvSpPr>
            <p:spPr>
              <a:xfrm>
                <a:off x="1421184" y="1647283"/>
                <a:ext cx="1552651" cy="1577470"/>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2" name="TextBox 23">
              <a:extLst>
                <a:ext uri="{FF2B5EF4-FFF2-40B4-BE49-F238E27FC236}">
                  <a16:creationId xmlns:a16="http://schemas.microsoft.com/office/drawing/2014/main" id="{8884DF00-F36F-E98B-FC0C-C74A8701622D}"/>
                </a:ext>
              </a:extLst>
            </p:cNvPr>
            <p:cNvSpPr txBox="1"/>
            <p:nvPr/>
          </p:nvSpPr>
          <p:spPr>
            <a:xfrm>
              <a:off x="1756611" y="957781"/>
              <a:ext cx="748486" cy="50025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indent="0"/>
              <a:r>
                <a:rPr lang="en-US" sz="2800" b="1" i="0" u="none" strike="noStrike" dirty="0">
                  <a:solidFill>
                    <a:schemeClr val="tx1"/>
                  </a:solidFill>
                  <a:latin typeface="Aptos Narrow"/>
                  <a:ea typeface="+mn-ea"/>
                  <a:cs typeface="+mn-cs"/>
                </a:rPr>
                <a:t>13</a:t>
              </a:r>
            </a:p>
          </p:txBody>
        </p:sp>
      </p:grpSp>
      <p:sp>
        <p:nvSpPr>
          <p:cNvPr id="2" name="TextBox 1">
            <a:extLst>
              <a:ext uri="{FF2B5EF4-FFF2-40B4-BE49-F238E27FC236}">
                <a16:creationId xmlns:a16="http://schemas.microsoft.com/office/drawing/2014/main" id="{9622F92F-7D0F-E817-FBC7-4EA9F80AF2E7}"/>
              </a:ext>
            </a:extLst>
          </p:cNvPr>
          <p:cNvSpPr txBox="1"/>
          <p:nvPr/>
        </p:nvSpPr>
        <p:spPr>
          <a:xfrm>
            <a:off x="2917336" y="2456168"/>
            <a:ext cx="7596554" cy="1862048"/>
          </a:xfrm>
          <a:prstGeom prst="rect">
            <a:avLst/>
          </a:prstGeom>
          <a:noFill/>
        </p:spPr>
        <p:txBody>
          <a:bodyPr wrap="square" rtlCol="0">
            <a:spAutoFit/>
          </a:bodyPr>
          <a:lstStyle/>
          <a:p>
            <a:pPr algn="ctr"/>
            <a:r>
              <a:rPr lang="en-GB" sz="11500" dirty="0">
                <a:solidFill>
                  <a:schemeClr val="tx2">
                    <a:lumMod val="75000"/>
                    <a:lumOff val="25000"/>
                  </a:schemeClr>
                </a:solidFill>
                <a:effectLst>
                  <a:glow rad="63500">
                    <a:schemeClr val="bg1">
                      <a:lumMod val="95000"/>
                      <a:alpha val="40000"/>
                    </a:schemeClr>
                  </a:glow>
                  <a:outerShdw blurRad="50800" dist="38100" algn="l" rotWithShape="0">
                    <a:schemeClr val="accent1">
                      <a:lumMod val="75000"/>
                      <a:alpha val="40000"/>
                    </a:schemeClr>
                  </a:outerShdw>
                  <a:reflection blurRad="63500" stA="15000" endPos="30000" dir="5400000" sy="-100000" algn="bl" rotWithShape="0"/>
                </a:effectLst>
              </a:rPr>
              <a:t>Thank You.</a:t>
            </a:r>
          </a:p>
        </p:txBody>
      </p:sp>
    </p:spTree>
    <p:extLst>
      <p:ext uri="{BB962C8B-B14F-4D97-AF65-F5344CB8AC3E}">
        <p14:creationId xmlns:p14="http://schemas.microsoft.com/office/powerpoint/2010/main" val="313075716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2.3|0.8|0.8|0.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2088</TotalTime>
  <Words>561</Words>
  <Application>Microsoft Office PowerPoint</Application>
  <PresentationFormat>Widescreen</PresentationFormat>
  <Paragraphs>125</Paragraphs>
  <Slides>13</Slides>
  <Notes>10</Notes>
  <HiddenSlides>0</HiddenSlides>
  <MMClips>0</MMClips>
  <ScaleCrop>false</ScaleCrop>
  <HeadingPairs>
    <vt:vector size="8" baseType="variant">
      <vt:variant>
        <vt:lpstr>Fonts Used</vt:lpstr>
      </vt:variant>
      <vt:variant>
        <vt:i4>4</vt:i4>
      </vt:variant>
      <vt:variant>
        <vt:lpstr>Theme</vt:lpstr>
      </vt:variant>
      <vt:variant>
        <vt:i4>1</vt:i4>
      </vt:variant>
      <vt:variant>
        <vt:lpstr>Slide Titles</vt:lpstr>
      </vt:variant>
      <vt:variant>
        <vt:i4>13</vt:i4>
      </vt:variant>
      <vt:variant>
        <vt:lpstr>Custom Shows</vt:lpstr>
      </vt:variant>
      <vt:variant>
        <vt:i4>1</vt:i4>
      </vt:variant>
    </vt:vector>
  </HeadingPairs>
  <TitlesOfParts>
    <vt:vector size="19" baseType="lpstr">
      <vt:lpstr>Aptos</vt:lpstr>
      <vt:lpstr>Aptos Display</vt:lpstr>
      <vt:lpstr>Aptos Narrow</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Custom Show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TOSHIBA</dc:creator>
  <cp:lastModifiedBy>TOSHIBA</cp:lastModifiedBy>
  <cp:revision>31</cp:revision>
  <dcterms:created xsi:type="dcterms:W3CDTF">2025-10-21T06:50:45Z</dcterms:created>
  <dcterms:modified xsi:type="dcterms:W3CDTF">2025-10-25T01:53:28Z</dcterms:modified>
</cp:coreProperties>
</file>